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0" r:id="rId18"/>
    <p:sldId id="274" r:id="rId19"/>
    <p:sldId id="275" r:id="rId20"/>
    <p:sldId id="276" r:id="rId21"/>
    <p:sldId id="277" r:id="rId22"/>
    <p:sldId id="278" r:id="rId23"/>
    <p:sldId id="746" r:id="rId24"/>
    <p:sldId id="747" r:id="rId25"/>
    <p:sldId id="748" r:id="rId26"/>
    <p:sldId id="749" r:id="rId27"/>
    <p:sldId id="750" r:id="rId28"/>
    <p:sldId id="751" r:id="rId29"/>
    <p:sldId id="284" r:id="rId30"/>
    <p:sldId id="279" r:id="rId31"/>
    <p:sldId id="282" r:id="rId32"/>
    <p:sldId id="280" r:id="rId33"/>
    <p:sldId id="281" r:id="rId34"/>
    <p:sldId id="28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32" autoAdjust="0"/>
    <p:restoredTop sz="86024" autoAdjust="0"/>
  </p:normalViewPr>
  <p:slideViewPr>
    <p:cSldViewPr snapToGrid="0">
      <p:cViewPr varScale="1">
        <p:scale>
          <a:sx n="59" d="100"/>
          <a:sy n="59" d="100"/>
        </p:scale>
        <p:origin x="135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B08115-3E5B-4C39-A147-8C64BD51D55D}" type="datetimeFigureOut">
              <a:rPr lang="en-SG" smtClean="0"/>
              <a:t>24/10/2018</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90EB00-AF00-42EF-9C57-69ACCB12E493}" type="slidenum">
              <a:rPr lang="en-SG" smtClean="0"/>
              <a:t>‹#›</a:t>
            </a:fld>
            <a:endParaRPr lang="en-SG"/>
          </a:p>
        </p:txBody>
      </p:sp>
    </p:spTree>
    <p:extLst>
      <p:ext uri="{BB962C8B-B14F-4D97-AF65-F5344CB8AC3E}">
        <p14:creationId xmlns:p14="http://schemas.microsoft.com/office/powerpoint/2010/main" val="1390638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archsoftwarequality.techtarget.com/definition/authorization"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a:solidFill>
                  <a:schemeClr val="tx1"/>
                </a:solidFill>
                <a:effectLst/>
                <a:latin typeface="+mn-lt"/>
                <a:ea typeface="+mn-ea"/>
                <a:cs typeface="+mn-cs"/>
              </a:rPr>
              <a:t>Following authentication, a user must gain </a:t>
            </a:r>
            <a:r>
              <a:rPr lang="en-SG" sz="1200" b="0" i="0" u="sng" kern="1200" dirty="0">
                <a:solidFill>
                  <a:schemeClr val="tx1"/>
                </a:solidFill>
                <a:effectLst/>
                <a:latin typeface="+mn-lt"/>
                <a:ea typeface="+mn-ea"/>
                <a:cs typeface="+mn-cs"/>
                <a:hlinkClick r:id="rId3"/>
              </a:rPr>
              <a:t>authorization</a:t>
            </a:r>
            <a:r>
              <a:rPr lang="en-SG" sz="1200" b="0" i="0" kern="1200" dirty="0">
                <a:solidFill>
                  <a:schemeClr val="tx1"/>
                </a:solidFill>
                <a:effectLst/>
                <a:latin typeface="+mn-lt"/>
                <a:ea typeface="+mn-ea"/>
                <a:cs typeface="+mn-cs"/>
              </a:rPr>
              <a:t> for doing certain tasks. After logging into a system, for instance, the user may try to issue commands. The authorization process determines whether the user has the authority to issue such commands. Simply put, authorization is the process of enforcing policies: determining what types or qualities of activities, resources, or services a user is permitted. Usually, authorization occurs within the context of authentication. Once you have authenticated a user, they may be authorized for different types of access or activity.</a:t>
            </a:r>
          </a:p>
          <a:p>
            <a:endParaRPr lang="en-SG" sz="1200" b="0" i="0" kern="1200" dirty="0">
              <a:solidFill>
                <a:schemeClr val="tx1"/>
              </a:solidFill>
              <a:effectLst/>
              <a:latin typeface="+mn-lt"/>
              <a:ea typeface="+mn-ea"/>
              <a:cs typeface="+mn-cs"/>
            </a:endParaRPr>
          </a:p>
          <a:p>
            <a:r>
              <a:rPr lang="en-SG" sz="1200" b="0" i="0" kern="1200" dirty="0">
                <a:solidFill>
                  <a:schemeClr val="tx1"/>
                </a:solidFill>
                <a:effectLst/>
                <a:latin typeface="+mn-lt"/>
                <a:ea typeface="+mn-ea"/>
                <a:cs typeface="+mn-cs"/>
              </a:rPr>
              <a:t>The final plank in the AAA framework is accounting, which measures the resources a user consumes during access. This can include the amount of system time or the amount of data a user has sent and/or received during a session. Accounting is carried out by logging of session statistics and usage information and is used for authorization control, billing, trend analysis, resource utilization, and capacity planning activities.</a:t>
            </a:r>
            <a:endParaRPr lang="en-SG" dirty="0"/>
          </a:p>
        </p:txBody>
      </p:sp>
      <p:sp>
        <p:nvSpPr>
          <p:cNvPr id="4" name="Slide Number Placeholder 3"/>
          <p:cNvSpPr>
            <a:spLocks noGrp="1"/>
          </p:cNvSpPr>
          <p:nvPr>
            <p:ph type="sldNum" sz="quarter" idx="10"/>
          </p:nvPr>
        </p:nvSpPr>
        <p:spPr/>
        <p:txBody>
          <a:bodyPr/>
          <a:lstStyle/>
          <a:p>
            <a:fld id="{6490EB00-AF00-42EF-9C57-69ACCB12E493}" type="slidenum">
              <a:rPr lang="en-SG" smtClean="0"/>
              <a:t>14</a:t>
            </a:fld>
            <a:endParaRPr lang="en-SG"/>
          </a:p>
        </p:txBody>
      </p:sp>
    </p:spTree>
    <p:extLst>
      <p:ext uri="{BB962C8B-B14F-4D97-AF65-F5344CB8AC3E}">
        <p14:creationId xmlns:p14="http://schemas.microsoft.com/office/powerpoint/2010/main" val="3657280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6C3B22B8-4064-4F73-BEFD-E6418EFD45C7}" type="slidenum">
              <a:rPr lang="en-US" smtClean="0"/>
              <a:pPr>
                <a:defRPr/>
              </a:pPr>
              <a:t>16</a:t>
            </a:fld>
            <a:endParaRPr lang="en-US"/>
          </a:p>
        </p:txBody>
      </p:sp>
    </p:spTree>
    <p:extLst>
      <p:ext uri="{BB962C8B-B14F-4D97-AF65-F5344CB8AC3E}">
        <p14:creationId xmlns:p14="http://schemas.microsoft.com/office/powerpoint/2010/main" val="3604652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6C3B22B8-4064-4F73-BEFD-E6418EFD45C7}" type="slidenum">
              <a:rPr lang="en-US" smtClean="0"/>
              <a:pPr>
                <a:defRPr/>
              </a:pPr>
              <a:t>18</a:t>
            </a:fld>
            <a:endParaRPr lang="en-US"/>
          </a:p>
        </p:txBody>
      </p:sp>
    </p:spTree>
    <p:extLst>
      <p:ext uri="{BB962C8B-B14F-4D97-AF65-F5344CB8AC3E}">
        <p14:creationId xmlns:p14="http://schemas.microsoft.com/office/powerpoint/2010/main" val="3085461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6C3B22B8-4064-4F73-BEFD-E6418EFD45C7}" type="slidenum">
              <a:rPr lang="en-US" smtClean="0"/>
              <a:pPr>
                <a:defRPr/>
              </a:pPr>
              <a:t>19</a:t>
            </a:fld>
            <a:endParaRPr lang="en-US"/>
          </a:p>
        </p:txBody>
      </p:sp>
    </p:spTree>
    <p:extLst>
      <p:ext uri="{BB962C8B-B14F-4D97-AF65-F5344CB8AC3E}">
        <p14:creationId xmlns:p14="http://schemas.microsoft.com/office/powerpoint/2010/main" val="3998958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b="1">
                <a:solidFill>
                  <a:schemeClr val="tx1"/>
                </a:solidFill>
                <a:latin typeface="Arial" charset="0"/>
                <a:ea typeface="ＭＳ Ｐゴシック" charset="0"/>
              </a:defRPr>
            </a:lvl1pPr>
            <a:lvl2pPr marL="742950" indent="-285750" defTabSz="903288">
              <a:defRPr sz="2400" b="1">
                <a:solidFill>
                  <a:schemeClr val="tx1"/>
                </a:solidFill>
                <a:latin typeface="Arial" charset="0"/>
                <a:ea typeface="ＭＳ Ｐゴシック" charset="0"/>
              </a:defRPr>
            </a:lvl2pPr>
            <a:lvl3pPr marL="1143000" indent="-228600" defTabSz="903288">
              <a:defRPr sz="2400" b="1">
                <a:solidFill>
                  <a:schemeClr val="tx1"/>
                </a:solidFill>
                <a:latin typeface="Arial" charset="0"/>
                <a:ea typeface="ＭＳ Ｐゴシック" charset="0"/>
              </a:defRPr>
            </a:lvl3pPr>
            <a:lvl4pPr marL="1600200" indent="-228600" defTabSz="903288">
              <a:defRPr sz="2400" b="1">
                <a:solidFill>
                  <a:schemeClr val="tx1"/>
                </a:solidFill>
                <a:latin typeface="Arial" charset="0"/>
                <a:ea typeface="ＭＳ Ｐゴシック" charset="0"/>
              </a:defRPr>
            </a:lvl4pPr>
            <a:lvl5pPr marL="2057400" indent="-228600" defTabSz="903288">
              <a:defRPr sz="2400" b="1">
                <a:solidFill>
                  <a:schemeClr val="tx1"/>
                </a:solidFill>
                <a:latin typeface="Arial" charset="0"/>
                <a:ea typeface="ＭＳ Ｐゴシック" charset="0"/>
              </a:defRPr>
            </a:lvl5pPr>
            <a:lvl6pPr marL="25146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718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4290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862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fld id="{E9E07497-78D3-854C-A8FE-1696AD07262A}" type="slidenum">
              <a:rPr lang="en-US" sz="800" b="0"/>
              <a:pPr/>
              <a:t>23</a:t>
            </a:fld>
            <a:endParaRPr lang="en-US" sz="800" b="0"/>
          </a:p>
        </p:txBody>
      </p:sp>
      <p:sp>
        <p:nvSpPr>
          <p:cNvPr id="124931" name="Rectangle 2"/>
          <p:cNvSpPr>
            <a:spLocks noGrp="1" noRot="1" noChangeAspect="1" noChangeArrowheads="1" noTextEdit="1"/>
          </p:cNvSpPr>
          <p:nvPr>
            <p:ph type="sldImg"/>
          </p:nvPr>
        </p:nvSpPr>
        <p:spPr>
          <a:xfrm>
            <a:off x="4763" y="247650"/>
            <a:ext cx="7202487" cy="4052888"/>
          </a:xfrm>
          <a:ln/>
        </p:spPr>
      </p:sp>
      <p:sp>
        <p:nvSpPr>
          <p:cNvPr id="124932" name="Rectangle 3"/>
          <p:cNvSpPr>
            <a:spLocks noGrp="1" noChangeArrowheads="1"/>
          </p:cNvSpPr>
          <p:nvPr>
            <p:ph type="body" idx="1"/>
          </p:nvPr>
        </p:nvSpPr>
        <p:spPr>
          <a:xfrm>
            <a:off x="412750" y="4445000"/>
            <a:ext cx="6248400" cy="43195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Tree>
    <p:extLst>
      <p:ext uri="{BB962C8B-B14F-4D97-AF65-F5344CB8AC3E}">
        <p14:creationId xmlns:p14="http://schemas.microsoft.com/office/powerpoint/2010/main" val="1572494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a:defRPr sz="2400" b="1">
                <a:solidFill>
                  <a:schemeClr val="tx1"/>
                </a:solidFill>
                <a:latin typeface="Arial" charset="0"/>
                <a:ea typeface="ＭＳ Ｐゴシック" charset="0"/>
              </a:defRPr>
            </a:lvl1pPr>
            <a:lvl2pPr marL="742950" indent="-285750" defTabSz="903288">
              <a:defRPr sz="2400" b="1">
                <a:solidFill>
                  <a:schemeClr val="tx1"/>
                </a:solidFill>
                <a:latin typeface="Arial" charset="0"/>
                <a:ea typeface="ＭＳ Ｐゴシック" charset="0"/>
              </a:defRPr>
            </a:lvl2pPr>
            <a:lvl3pPr marL="1143000" indent="-228600" defTabSz="903288">
              <a:defRPr sz="2400" b="1">
                <a:solidFill>
                  <a:schemeClr val="tx1"/>
                </a:solidFill>
                <a:latin typeface="Arial" charset="0"/>
                <a:ea typeface="ＭＳ Ｐゴシック" charset="0"/>
              </a:defRPr>
            </a:lvl3pPr>
            <a:lvl4pPr marL="1600200" indent="-228600" defTabSz="903288">
              <a:defRPr sz="2400" b="1">
                <a:solidFill>
                  <a:schemeClr val="tx1"/>
                </a:solidFill>
                <a:latin typeface="Arial" charset="0"/>
                <a:ea typeface="ＭＳ Ｐゴシック" charset="0"/>
              </a:defRPr>
            </a:lvl4pPr>
            <a:lvl5pPr marL="2057400" indent="-228600" defTabSz="903288">
              <a:defRPr sz="2400" b="1">
                <a:solidFill>
                  <a:schemeClr val="tx1"/>
                </a:solidFill>
                <a:latin typeface="Arial" charset="0"/>
                <a:ea typeface="ＭＳ Ｐゴシック" charset="0"/>
              </a:defRPr>
            </a:lvl5pPr>
            <a:lvl6pPr marL="25146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718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4290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862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pPr algn="r">
              <a:lnSpc>
                <a:spcPct val="100000"/>
              </a:lnSpc>
            </a:pPr>
            <a:fld id="{BC473282-0DBC-4940-AE81-5A184C033805}" type="slidenum">
              <a:rPr lang="en-US" sz="800" b="0"/>
              <a:pPr algn="r">
                <a:lnSpc>
                  <a:spcPct val="100000"/>
                </a:lnSpc>
              </a:pPr>
              <a:t>25</a:t>
            </a:fld>
            <a:endParaRPr lang="en-US" sz="800" b="0"/>
          </a:p>
        </p:txBody>
      </p:sp>
      <p:sp>
        <p:nvSpPr>
          <p:cNvPr id="125955" name="Rectangle 2"/>
          <p:cNvSpPr>
            <a:spLocks noGrp="1" noRot="1" noChangeAspect="1" noChangeArrowheads="1" noTextEdit="1"/>
          </p:cNvSpPr>
          <p:nvPr>
            <p:ph type="sldImg"/>
          </p:nvPr>
        </p:nvSpPr>
        <p:spPr>
          <a:xfrm>
            <a:off x="4763" y="247650"/>
            <a:ext cx="7202487" cy="4052888"/>
          </a:xfrm>
          <a:ln/>
        </p:spPr>
      </p:sp>
      <p:sp>
        <p:nvSpPr>
          <p:cNvPr id="125956" name="Rectangle 3"/>
          <p:cNvSpPr>
            <a:spLocks noGrp="1" noChangeArrowheads="1"/>
          </p:cNvSpPr>
          <p:nvPr>
            <p:ph type="body" idx="1"/>
          </p:nvPr>
        </p:nvSpPr>
        <p:spPr>
          <a:xfrm>
            <a:off x="412750" y="4445000"/>
            <a:ext cx="6248400" cy="43195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Tree>
    <p:extLst>
      <p:ext uri="{BB962C8B-B14F-4D97-AF65-F5344CB8AC3E}">
        <p14:creationId xmlns:p14="http://schemas.microsoft.com/office/powerpoint/2010/main" val="3750825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b="1">
                <a:solidFill>
                  <a:schemeClr val="tx1"/>
                </a:solidFill>
                <a:latin typeface="Arial" charset="0"/>
                <a:ea typeface="ＭＳ Ｐゴシック" charset="0"/>
              </a:defRPr>
            </a:lvl1pPr>
            <a:lvl2pPr marL="742950" indent="-285750" defTabSz="903288">
              <a:defRPr sz="2400" b="1">
                <a:solidFill>
                  <a:schemeClr val="tx1"/>
                </a:solidFill>
                <a:latin typeface="Arial" charset="0"/>
                <a:ea typeface="ＭＳ Ｐゴシック" charset="0"/>
              </a:defRPr>
            </a:lvl2pPr>
            <a:lvl3pPr marL="1143000" indent="-228600" defTabSz="903288">
              <a:defRPr sz="2400" b="1">
                <a:solidFill>
                  <a:schemeClr val="tx1"/>
                </a:solidFill>
                <a:latin typeface="Arial" charset="0"/>
                <a:ea typeface="ＭＳ Ｐゴシック" charset="0"/>
              </a:defRPr>
            </a:lvl3pPr>
            <a:lvl4pPr marL="1600200" indent="-228600" defTabSz="903288">
              <a:defRPr sz="2400" b="1">
                <a:solidFill>
                  <a:schemeClr val="tx1"/>
                </a:solidFill>
                <a:latin typeface="Arial" charset="0"/>
                <a:ea typeface="ＭＳ Ｐゴシック" charset="0"/>
              </a:defRPr>
            </a:lvl4pPr>
            <a:lvl5pPr marL="2057400" indent="-228600" defTabSz="903288">
              <a:defRPr sz="2400" b="1">
                <a:solidFill>
                  <a:schemeClr val="tx1"/>
                </a:solidFill>
                <a:latin typeface="Arial" charset="0"/>
                <a:ea typeface="ＭＳ Ｐゴシック" charset="0"/>
              </a:defRPr>
            </a:lvl5pPr>
            <a:lvl6pPr marL="25146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718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4290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862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fld id="{3BCF9A39-D50B-114A-9139-03F14E0D598F}" type="slidenum">
              <a:rPr lang="en-US" sz="800" b="0"/>
              <a:pPr/>
              <a:t>26</a:t>
            </a:fld>
            <a:endParaRPr lang="en-US" sz="800" b="0"/>
          </a:p>
        </p:txBody>
      </p:sp>
      <p:sp>
        <p:nvSpPr>
          <p:cNvPr id="128003" name="Rectangle 2"/>
          <p:cNvSpPr>
            <a:spLocks noGrp="1" noRot="1" noChangeAspect="1" noChangeArrowheads="1" noTextEdit="1"/>
          </p:cNvSpPr>
          <p:nvPr>
            <p:ph type="sldImg"/>
          </p:nvPr>
        </p:nvSpPr>
        <p:spPr>
          <a:xfrm>
            <a:off x="4763" y="247650"/>
            <a:ext cx="7202487" cy="4052888"/>
          </a:xfrm>
          <a:ln/>
        </p:spPr>
      </p:sp>
      <p:sp>
        <p:nvSpPr>
          <p:cNvPr id="128004" name="Rectangle 3"/>
          <p:cNvSpPr>
            <a:spLocks noGrp="1" noChangeArrowheads="1"/>
          </p:cNvSpPr>
          <p:nvPr>
            <p:ph type="body" idx="1"/>
          </p:nvPr>
        </p:nvSpPr>
        <p:spPr>
          <a:xfrm>
            <a:off x="412750" y="4445000"/>
            <a:ext cx="6248400" cy="43195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Tree>
    <p:extLst>
      <p:ext uri="{BB962C8B-B14F-4D97-AF65-F5344CB8AC3E}">
        <p14:creationId xmlns:p14="http://schemas.microsoft.com/office/powerpoint/2010/main" val="4171262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a:defRPr sz="2400" b="1">
                <a:solidFill>
                  <a:schemeClr val="tx1"/>
                </a:solidFill>
                <a:latin typeface="Arial" charset="0"/>
                <a:ea typeface="ＭＳ Ｐゴシック" charset="0"/>
              </a:defRPr>
            </a:lvl1pPr>
            <a:lvl2pPr marL="742950" indent="-285750" defTabSz="903288">
              <a:defRPr sz="2400" b="1">
                <a:solidFill>
                  <a:schemeClr val="tx1"/>
                </a:solidFill>
                <a:latin typeface="Arial" charset="0"/>
                <a:ea typeface="ＭＳ Ｐゴシック" charset="0"/>
              </a:defRPr>
            </a:lvl2pPr>
            <a:lvl3pPr marL="1143000" indent="-228600" defTabSz="903288">
              <a:defRPr sz="2400" b="1">
                <a:solidFill>
                  <a:schemeClr val="tx1"/>
                </a:solidFill>
                <a:latin typeface="Arial" charset="0"/>
                <a:ea typeface="ＭＳ Ｐゴシック" charset="0"/>
              </a:defRPr>
            </a:lvl3pPr>
            <a:lvl4pPr marL="1600200" indent="-228600" defTabSz="903288">
              <a:defRPr sz="2400" b="1">
                <a:solidFill>
                  <a:schemeClr val="tx1"/>
                </a:solidFill>
                <a:latin typeface="Arial" charset="0"/>
                <a:ea typeface="ＭＳ Ｐゴシック" charset="0"/>
              </a:defRPr>
            </a:lvl4pPr>
            <a:lvl5pPr marL="2057400" indent="-228600" defTabSz="903288">
              <a:defRPr sz="2400" b="1">
                <a:solidFill>
                  <a:schemeClr val="tx1"/>
                </a:solidFill>
                <a:latin typeface="Arial" charset="0"/>
                <a:ea typeface="ＭＳ Ｐゴシック" charset="0"/>
              </a:defRPr>
            </a:lvl5pPr>
            <a:lvl6pPr marL="25146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718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4290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862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pPr algn="r">
              <a:lnSpc>
                <a:spcPct val="100000"/>
              </a:lnSpc>
            </a:pPr>
            <a:fld id="{FA18419C-BA39-8549-8661-DEC100A446B0}" type="slidenum">
              <a:rPr lang="en-US" sz="800" b="0"/>
              <a:pPr algn="r">
                <a:lnSpc>
                  <a:spcPct val="100000"/>
                </a:lnSpc>
              </a:pPr>
              <a:t>28</a:t>
            </a:fld>
            <a:endParaRPr lang="en-US" sz="800" b="0"/>
          </a:p>
        </p:txBody>
      </p:sp>
      <p:sp>
        <p:nvSpPr>
          <p:cNvPr id="129027" name="Rectangle 2"/>
          <p:cNvSpPr>
            <a:spLocks noGrp="1" noRot="1" noChangeAspect="1" noChangeArrowheads="1" noTextEdit="1"/>
          </p:cNvSpPr>
          <p:nvPr>
            <p:ph type="sldImg"/>
          </p:nvPr>
        </p:nvSpPr>
        <p:spPr>
          <a:xfrm>
            <a:off x="4763" y="247650"/>
            <a:ext cx="7202487" cy="4052888"/>
          </a:xfrm>
          <a:ln/>
        </p:spPr>
      </p:sp>
      <p:sp>
        <p:nvSpPr>
          <p:cNvPr id="129028" name="Rectangle 3"/>
          <p:cNvSpPr>
            <a:spLocks noGrp="1" noChangeArrowheads="1"/>
          </p:cNvSpPr>
          <p:nvPr>
            <p:ph type="body" idx="1"/>
          </p:nvPr>
        </p:nvSpPr>
        <p:spPr>
          <a:xfrm>
            <a:off x="412750" y="4445000"/>
            <a:ext cx="6248400" cy="43195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Arial" charset="0"/>
            </a:endParaRPr>
          </a:p>
        </p:txBody>
      </p:sp>
    </p:spTree>
    <p:extLst>
      <p:ext uri="{BB962C8B-B14F-4D97-AF65-F5344CB8AC3E}">
        <p14:creationId xmlns:p14="http://schemas.microsoft.com/office/powerpoint/2010/main" val="25321857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SG" sz="1200" b="0" i="0" kern="1200" dirty="0">
                <a:solidFill>
                  <a:schemeClr val="tx1"/>
                </a:solidFill>
                <a:effectLst/>
                <a:latin typeface="+mn-lt"/>
                <a:ea typeface="+mn-ea"/>
                <a:cs typeface="+mn-cs"/>
              </a:rPr>
              <a:t>Router1(</a:t>
            </a:r>
            <a:r>
              <a:rPr lang="en-SG" sz="1200" b="0" i="0" kern="1200" dirty="0" err="1">
                <a:solidFill>
                  <a:schemeClr val="tx1"/>
                </a:solidFill>
                <a:effectLst/>
                <a:latin typeface="+mn-lt"/>
                <a:ea typeface="+mn-ea"/>
                <a:cs typeface="+mn-cs"/>
              </a:rPr>
              <a:t>config</a:t>
            </a:r>
            <a:r>
              <a:rPr lang="en-SG" sz="1200" b="0" i="0" kern="1200" dirty="0">
                <a:solidFill>
                  <a:schemeClr val="tx1"/>
                </a:solidFill>
                <a:effectLst/>
                <a:latin typeface="+mn-lt"/>
                <a:ea typeface="+mn-ea"/>
                <a:cs typeface="+mn-cs"/>
              </a:rPr>
              <a:t>)#do </a:t>
            </a:r>
            <a:r>
              <a:rPr lang="en-SG" sz="1200" b="0" i="0" kern="1200" dirty="0" err="1">
                <a:solidFill>
                  <a:schemeClr val="tx1"/>
                </a:solidFill>
                <a:effectLst/>
                <a:latin typeface="+mn-lt"/>
                <a:ea typeface="+mn-ea"/>
                <a:cs typeface="+mn-cs"/>
              </a:rPr>
              <a:t>sh</a:t>
            </a:r>
            <a:r>
              <a:rPr lang="en-SG" sz="1200" b="0" i="0" kern="1200" dirty="0">
                <a:solidFill>
                  <a:schemeClr val="tx1"/>
                </a:solidFill>
                <a:effectLst/>
                <a:latin typeface="+mn-lt"/>
                <a:ea typeface="+mn-ea"/>
                <a:cs typeface="+mn-cs"/>
              </a:rPr>
              <a:t> run | in </a:t>
            </a:r>
            <a:r>
              <a:rPr lang="en-SG" sz="1200" b="0" i="0" kern="1200" dirty="0" err="1">
                <a:solidFill>
                  <a:schemeClr val="tx1"/>
                </a:solidFill>
                <a:effectLst/>
                <a:latin typeface="+mn-lt"/>
                <a:ea typeface="+mn-ea"/>
                <a:cs typeface="+mn-cs"/>
              </a:rPr>
              <a:t>hostname|domain</a:t>
            </a:r>
            <a:r>
              <a:rPr lang="en-SG" sz="1200" b="0" i="0" kern="1200" dirty="0">
                <a:solidFill>
                  <a:schemeClr val="tx1"/>
                </a:solidFill>
                <a:effectLst/>
                <a:latin typeface="+mn-lt"/>
                <a:ea typeface="+mn-ea"/>
                <a:cs typeface="+mn-cs"/>
              </a:rPr>
              <a:t> name</a:t>
            </a:r>
          </a:p>
          <a:p>
            <a:pPr fontAlgn="base"/>
            <a:r>
              <a:rPr lang="en-SG" sz="1200" b="0" i="0" kern="1200" dirty="0">
                <a:solidFill>
                  <a:schemeClr val="tx1"/>
                </a:solidFill>
                <a:effectLst/>
                <a:latin typeface="+mn-lt"/>
                <a:ea typeface="+mn-ea"/>
                <a:cs typeface="+mn-cs"/>
              </a:rPr>
              <a:t> </a:t>
            </a:r>
          </a:p>
          <a:p>
            <a:pPr fontAlgn="base"/>
            <a:r>
              <a:rPr lang="en-SG" sz="1200" b="0" i="0" kern="1200" dirty="0">
                <a:solidFill>
                  <a:schemeClr val="tx1"/>
                </a:solidFill>
                <a:effectLst/>
                <a:latin typeface="+mn-lt"/>
                <a:ea typeface="+mn-ea"/>
                <a:cs typeface="+mn-cs"/>
              </a:rPr>
              <a:t>hostname </a:t>
            </a:r>
            <a:r>
              <a:rPr lang="en-SG" sz="1200" b="1" i="0" kern="1200" dirty="0">
                <a:solidFill>
                  <a:schemeClr val="tx1"/>
                </a:solidFill>
                <a:effectLst/>
                <a:latin typeface="+mn-lt"/>
                <a:ea typeface="+mn-ea"/>
                <a:cs typeface="+mn-cs"/>
              </a:rPr>
              <a:t>Router1</a:t>
            </a:r>
            <a:endParaRPr lang="en-SG" sz="1200" b="0" i="0" kern="1200" dirty="0">
              <a:solidFill>
                <a:schemeClr val="tx1"/>
              </a:solidFill>
              <a:effectLst/>
              <a:latin typeface="+mn-lt"/>
              <a:ea typeface="+mn-ea"/>
              <a:cs typeface="+mn-cs"/>
            </a:endParaRPr>
          </a:p>
          <a:p>
            <a:pPr fontAlgn="base"/>
            <a:r>
              <a:rPr lang="en-SG" sz="1200" b="0" i="0" kern="1200" dirty="0" err="1">
                <a:solidFill>
                  <a:schemeClr val="tx1"/>
                </a:solidFill>
                <a:effectLst/>
                <a:latin typeface="+mn-lt"/>
                <a:ea typeface="+mn-ea"/>
                <a:cs typeface="+mn-cs"/>
              </a:rPr>
              <a:t>ip</a:t>
            </a:r>
            <a:r>
              <a:rPr lang="en-SG" sz="1200" b="0" i="0" kern="1200" dirty="0">
                <a:solidFill>
                  <a:schemeClr val="tx1"/>
                </a:solidFill>
                <a:effectLst/>
                <a:latin typeface="+mn-lt"/>
                <a:ea typeface="+mn-ea"/>
                <a:cs typeface="+mn-cs"/>
              </a:rPr>
              <a:t> domain name </a:t>
            </a:r>
            <a:r>
              <a:rPr lang="en-SG" sz="1200" b="1" i="0" kern="1200" dirty="0">
                <a:solidFill>
                  <a:schemeClr val="tx1"/>
                </a:solidFill>
                <a:effectLst/>
                <a:latin typeface="+mn-lt"/>
                <a:ea typeface="+mn-ea"/>
                <a:cs typeface="+mn-cs"/>
              </a:rPr>
              <a:t>lan1.company.com</a:t>
            </a:r>
            <a:endParaRPr lang="en-SG" sz="1200" b="0" i="0" kern="1200" dirty="0">
              <a:solidFill>
                <a:schemeClr val="tx1"/>
              </a:solidFill>
              <a:effectLst/>
              <a:latin typeface="+mn-lt"/>
              <a:ea typeface="+mn-ea"/>
              <a:cs typeface="+mn-cs"/>
            </a:endParaRPr>
          </a:p>
          <a:p>
            <a:pPr fontAlgn="base"/>
            <a:r>
              <a:rPr lang="en-SG" sz="1200" b="0" i="0" kern="1200" dirty="0">
                <a:solidFill>
                  <a:schemeClr val="tx1"/>
                </a:solidFill>
                <a:effectLst/>
                <a:latin typeface="+mn-lt"/>
                <a:ea typeface="+mn-ea"/>
                <a:cs typeface="+mn-cs"/>
              </a:rPr>
              <a:t> </a:t>
            </a:r>
          </a:p>
          <a:p>
            <a:pPr fontAlgn="base"/>
            <a:r>
              <a:rPr lang="en-SG" sz="1200" b="0" i="0" kern="1200" dirty="0">
                <a:solidFill>
                  <a:schemeClr val="tx1"/>
                </a:solidFill>
                <a:effectLst/>
                <a:latin typeface="+mn-lt"/>
                <a:ea typeface="+mn-ea"/>
                <a:cs typeface="+mn-cs"/>
              </a:rPr>
              <a:t>Router1#show crypto key </a:t>
            </a:r>
            <a:r>
              <a:rPr lang="en-SG" sz="1200" b="0" i="0" kern="1200" dirty="0" err="1">
                <a:solidFill>
                  <a:schemeClr val="tx1"/>
                </a:solidFill>
                <a:effectLst/>
                <a:latin typeface="+mn-lt"/>
                <a:ea typeface="+mn-ea"/>
                <a:cs typeface="+mn-cs"/>
              </a:rPr>
              <a:t>mypubkey</a:t>
            </a:r>
            <a:r>
              <a:rPr lang="en-SG" sz="1200" b="0" i="0" kern="1200" dirty="0">
                <a:solidFill>
                  <a:schemeClr val="tx1"/>
                </a:solidFill>
                <a:effectLst/>
                <a:latin typeface="+mn-lt"/>
                <a:ea typeface="+mn-ea"/>
                <a:cs typeface="+mn-cs"/>
              </a:rPr>
              <a:t> </a:t>
            </a:r>
            <a:r>
              <a:rPr lang="en-SG" sz="1200" b="0" i="0" kern="1200" dirty="0" err="1">
                <a:solidFill>
                  <a:schemeClr val="tx1"/>
                </a:solidFill>
                <a:effectLst/>
                <a:latin typeface="+mn-lt"/>
                <a:ea typeface="+mn-ea"/>
                <a:cs typeface="+mn-cs"/>
              </a:rPr>
              <a:t>rsa</a:t>
            </a:r>
            <a:endParaRPr lang="en-SG" sz="1200" b="0" i="0" kern="1200" dirty="0">
              <a:solidFill>
                <a:schemeClr val="tx1"/>
              </a:solidFill>
              <a:effectLst/>
              <a:latin typeface="+mn-lt"/>
              <a:ea typeface="+mn-ea"/>
              <a:cs typeface="+mn-cs"/>
            </a:endParaRPr>
          </a:p>
          <a:p>
            <a:pPr fontAlgn="base"/>
            <a:r>
              <a:rPr lang="en-SG" sz="1200" b="0" i="0" kern="1200" dirty="0">
                <a:solidFill>
                  <a:schemeClr val="tx1"/>
                </a:solidFill>
                <a:effectLst/>
                <a:latin typeface="+mn-lt"/>
                <a:ea typeface="+mn-ea"/>
                <a:cs typeface="+mn-cs"/>
              </a:rPr>
              <a:t> </a:t>
            </a:r>
          </a:p>
          <a:p>
            <a:pPr fontAlgn="base"/>
            <a:r>
              <a:rPr lang="en-SG" sz="1200" b="0" i="0" kern="1200" dirty="0">
                <a:solidFill>
                  <a:schemeClr val="tx1"/>
                </a:solidFill>
                <a:effectLst/>
                <a:latin typeface="+mn-lt"/>
                <a:ea typeface="+mn-ea"/>
                <a:cs typeface="+mn-cs"/>
              </a:rPr>
              <a:t>&lt;output omitted&gt;</a:t>
            </a:r>
          </a:p>
          <a:p>
            <a:pPr fontAlgn="base"/>
            <a:r>
              <a:rPr lang="en-SG" sz="1200" b="0" i="0" kern="1200" dirty="0">
                <a:solidFill>
                  <a:schemeClr val="tx1"/>
                </a:solidFill>
                <a:effectLst/>
                <a:latin typeface="+mn-lt"/>
                <a:ea typeface="+mn-ea"/>
                <a:cs typeface="+mn-cs"/>
              </a:rPr>
              <a:t>Key name: </a:t>
            </a:r>
            <a:r>
              <a:rPr lang="en-SG" sz="1200" b="1" i="0" kern="1200" dirty="0">
                <a:solidFill>
                  <a:schemeClr val="tx1"/>
                </a:solidFill>
                <a:effectLst/>
                <a:latin typeface="+mn-lt"/>
                <a:ea typeface="+mn-ea"/>
                <a:cs typeface="+mn-cs"/>
              </a:rPr>
              <a:t>Router1.lan1.company.com</a:t>
            </a:r>
            <a:endParaRPr lang="en-SG" sz="1200" b="0" i="0" kern="1200" dirty="0">
              <a:solidFill>
                <a:schemeClr val="tx1"/>
              </a:solidFill>
              <a:effectLst/>
              <a:latin typeface="+mn-lt"/>
              <a:ea typeface="+mn-ea"/>
              <a:cs typeface="+mn-cs"/>
            </a:endParaRPr>
          </a:p>
          <a:p>
            <a:pPr fontAlgn="base"/>
            <a:r>
              <a:rPr lang="en-SG" sz="1200" b="0" i="0" kern="1200" dirty="0">
                <a:solidFill>
                  <a:schemeClr val="tx1"/>
                </a:solidFill>
                <a:effectLst/>
                <a:latin typeface="+mn-lt"/>
                <a:ea typeface="+mn-ea"/>
                <a:cs typeface="+mn-cs"/>
              </a:rPr>
              <a:t>&lt;output omitted&gt;</a:t>
            </a:r>
          </a:p>
          <a:p>
            <a:pPr fontAlgn="base"/>
            <a:endParaRPr lang="en-SG" sz="1200" b="0" i="0" kern="1200" dirty="0">
              <a:solidFill>
                <a:schemeClr val="tx1"/>
              </a:solidFill>
              <a:effectLst/>
              <a:latin typeface="+mn-lt"/>
              <a:ea typeface="+mn-ea"/>
              <a:cs typeface="+mn-cs"/>
            </a:endParaRPr>
          </a:p>
          <a:p>
            <a:pPr fontAlgn="base"/>
            <a:r>
              <a:rPr lang="en-SG" sz="1200" b="0" i="0" kern="1200" dirty="0">
                <a:solidFill>
                  <a:schemeClr val="tx1"/>
                </a:solidFill>
                <a:effectLst/>
                <a:latin typeface="+mn-lt"/>
                <a:ea typeface="+mn-ea"/>
                <a:cs typeface="+mn-cs"/>
              </a:rPr>
              <a:t>Finally please keep in mind that you can associate manually a different </a:t>
            </a:r>
            <a:r>
              <a:rPr lang="en-SG" sz="1200" b="0" i="0" kern="1200" dirty="0" err="1">
                <a:solidFill>
                  <a:schemeClr val="tx1"/>
                </a:solidFill>
                <a:effectLst/>
                <a:latin typeface="+mn-lt"/>
                <a:ea typeface="+mn-ea"/>
                <a:cs typeface="+mn-cs"/>
              </a:rPr>
              <a:t>rsa</a:t>
            </a:r>
            <a:r>
              <a:rPr lang="en-SG" sz="1200" b="0" i="0" kern="1200" dirty="0">
                <a:solidFill>
                  <a:schemeClr val="tx1"/>
                </a:solidFill>
                <a:effectLst/>
                <a:latin typeface="+mn-lt"/>
                <a:ea typeface="+mn-ea"/>
                <a:cs typeface="+mn-cs"/>
              </a:rPr>
              <a:t> key to be used with </a:t>
            </a:r>
            <a:r>
              <a:rPr lang="en-SG" sz="1200" b="0" i="0" kern="1200" dirty="0" err="1">
                <a:solidFill>
                  <a:schemeClr val="tx1"/>
                </a:solidFill>
                <a:effectLst/>
                <a:latin typeface="+mn-lt"/>
                <a:ea typeface="+mn-ea"/>
                <a:cs typeface="+mn-cs"/>
              </a:rPr>
              <a:t>ssh</a:t>
            </a:r>
            <a:r>
              <a:rPr lang="en-SG" sz="1200" b="0" i="0" kern="1200" dirty="0">
                <a:solidFill>
                  <a:schemeClr val="tx1"/>
                </a:solidFill>
                <a:effectLst/>
                <a:latin typeface="+mn-lt"/>
                <a:ea typeface="+mn-ea"/>
                <a:cs typeface="+mn-cs"/>
              </a:rPr>
              <a:t> as well, to do so, you would use the command "</a:t>
            </a:r>
            <a:r>
              <a:rPr lang="en-SG" sz="1200" b="0" i="0" kern="1200" dirty="0" err="1">
                <a:solidFill>
                  <a:schemeClr val="tx1"/>
                </a:solidFill>
                <a:effectLst/>
                <a:latin typeface="+mn-lt"/>
                <a:ea typeface="+mn-ea"/>
                <a:cs typeface="+mn-cs"/>
              </a:rPr>
              <a:t>ip</a:t>
            </a:r>
            <a:r>
              <a:rPr lang="en-SG" sz="1200" b="0" i="0" kern="1200" dirty="0">
                <a:solidFill>
                  <a:schemeClr val="tx1"/>
                </a:solidFill>
                <a:effectLst/>
                <a:latin typeface="+mn-lt"/>
                <a:ea typeface="+mn-ea"/>
                <a:cs typeface="+mn-cs"/>
              </a:rPr>
              <a:t> </a:t>
            </a:r>
            <a:r>
              <a:rPr lang="en-SG" sz="1200" b="0" i="0" kern="1200" dirty="0" err="1">
                <a:solidFill>
                  <a:schemeClr val="tx1"/>
                </a:solidFill>
                <a:effectLst/>
                <a:latin typeface="+mn-lt"/>
                <a:ea typeface="+mn-ea"/>
                <a:cs typeface="+mn-cs"/>
              </a:rPr>
              <a:t>ssh</a:t>
            </a:r>
            <a:r>
              <a:rPr lang="en-SG" sz="1200" b="0" i="0" kern="1200" dirty="0">
                <a:solidFill>
                  <a:schemeClr val="tx1"/>
                </a:solidFill>
                <a:effectLst/>
                <a:latin typeface="+mn-lt"/>
                <a:ea typeface="+mn-ea"/>
                <a:cs typeface="+mn-cs"/>
              </a:rPr>
              <a:t> </a:t>
            </a:r>
            <a:r>
              <a:rPr lang="en-SG" sz="1200" b="0" i="0" kern="1200" dirty="0" err="1">
                <a:solidFill>
                  <a:schemeClr val="tx1"/>
                </a:solidFill>
                <a:effectLst/>
                <a:latin typeface="+mn-lt"/>
                <a:ea typeface="+mn-ea"/>
                <a:cs typeface="+mn-cs"/>
              </a:rPr>
              <a:t>rsa</a:t>
            </a:r>
            <a:r>
              <a:rPr lang="en-SG" sz="1200" b="0" i="0" kern="1200" dirty="0">
                <a:solidFill>
                  <a:schemeClr val="tx1"/>
                </a:solidFill>
                <a:effectLst/>
                <a:latin typeface="+mn-lt"/>
                <a:ea typeface="+mn-ea"/>
                <a:cs typeface="+mn-cs"/>
              </a:rPr>
              <a:t> </a:t>
            </a:r>
            <a:r>
              <a:rPr lang="en-SG" sz="1200" b="0" i="0" kern="1200" dirty="0" err="1">
                <a:solidFill>
                  <a:schemeClr val="tx1"/>
                </a:solidFill>
                <a:effectLst/>
                <a:latin typeface="+mn-lt"/>
                <a:ea typeface="+mn-ea"/>
                <a:cs typeface="+mn-cs"/>
              </a:rPr>
              <a:t>keypair</a:t>
            </a:r>
            <a:r>
              <a:rPr lang="en-SG" sz="1200" b="0" i="0" kern="1200" dirty="0">
                <a:solidFill>
                  <a:schemeClr val="tx1"/>
                </a:solidFill>
                <a:effectLst/>
                <a:latin typeface="+mn-lt"/>
                <a:ea typeface="+mn-ea"/>
                <a:cs typeface="+mn-cs"/>
              </a:rPr>
              <a:t>-name", example:</a:t>
            </a:r>
          </a:p>
          <a:p>
            <a:endParaRPr lang="en-SG" dirty="0"/>
          </a:p>
        </p:txBody>
      </p:sp>
      <p:sp>
        <p:nvSpPr>
          <p:cNvPr id="4" name="Slide Number Placeholder 3"/>
          <p:cNvSpPr>
            <a:spLocks noGrp="1"/>
          </p:cNvSpPr>
          <p:nvPr>
            <p:ph type="sldNum" sz="quarter" idx="10"/>
          </p:nvPr>
        </p:nvSpPr>
        <p:spPr/>
        <p:txBody>
          <a:bodyPr/>
          <a:lstStyle/>
          <a:p>
            <a:fld id="{6490EB00-AF00-42EF-9C57-69ACCB12E493}" type="slidenum">
              <a:rPr lang="en-SG" smtClean="0"/>
              <a:t>31</a:t>
            </a:fld>
            <a:endParaRPr lang="en-SG"/>
          </a:p>
        </p:txBody>
      </p:sp>
    </p:spTree>
    <p:extLst>
      <p:ext uri="{BB962C8B-B14F-4D97-AF65-F5344CB8AC3E}">
        <p14:creationId xmlns:p14="http://schemas.microsoft.com/office/powerpoint/2010/main" val="3741605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b="1">
                <a:solidFill>
                  <a:schemeClr val="tx1"/>
                </a:solidFill>
                <a:latin typeface="Arial" charset="0"/>
                <a:ea typeface="ＭＳ Ｐゴシック" charset="0"/>
              </a:defRPr>
            </a:lvl1pPr>
            <a:lvl2pPr marL="742950" indent="-285750" defTabSz="903288">
              <a:defRPr sz="2400" b="1">
                <a:solidFill>
                  <a:schemeClr val="tx1"/>
                </a:solidFill>
                <a:latin typeface="Arial" charset="0"/>
                <a:ea typeface="ＭＳ Ｐゴシック" charset="0"/>
              </a:defRPr>
            </a:lvl2pPr>
            <a:lvl3pPr marL="1143000" indent="-228600" defTabSz="903288">
              <a:defRPr sz="2400" b="1">
                <a:solidFill>
                  <a:schemeClr val="tx1"/>
                </a:solidFill>
                <a:latin typeface="Arial" charset="0"/>
                <a:ea typeface="ＭＳ Ｐゴシック" charset="0"/>
              </a:defRPr>
            </a:lvl3pPr>
            <a:lvl4pPr marL="1600200" indent="-228600" defTabSz="903288">
              <a:defRPr sz="2400" b="1">
                <a:solidFill>
                  <a:schemeClr val="tx1"/>
                </a:solidFill>
                <a:latin typeface="Arial" charset="0"/>
                <a:ea typeface="ＭＳ Ｐゴシック" charset="0"/>
              </a:defRPr>
            </a:lvl4pPr>
            <a:lvl5pPr marL="2057400" indent="-228600" defTabSz="903288">
              <a:defRPr sz="2400" b="1">
                <a:solidFill>
                  <a:schemeClr val="tx1"/>
                </a:solidFill>
                <a:latin typeface="Arial" charset="0"/>
                <a:ea typeface="ＭＳ Ｐゴシック" charset="0"/>
              </a:defRPr>
            </a:lvl5pPr>
            <a:lvl6pPr marL="25146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718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4290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862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fld id="{837D1398-AFCE-CC4D-A5FC-E44E61F597FD}" type="slidenum">
              <a:rPr lang="en-US" sz="800" b="0"/>
              <a:pPr/>
              <a:t>32</a:t>
            </a:fld>
            <a:endParaRPr lang="en-US" sz="800" b="0"/>
          </a:p>
        </p:txBody>
      </p:sp>
      <p:sp>
        <p:nvSpPr>
          <p:cNvPr id="315395" name="Rectangle 7"/>
          <p:cNvSpPr txBox="1">
            <a:spLocks noGrp="1" noChangeArrowheads="1"/>
          </p:cNvSpPr>
          <p:nvPr/>
        </p:nvSpPr>
        <p:spPr bwMode="auto">
          <a:xfrm>
            <a:off x="3884613" y="8847138"/>
            <a:ext cx="2971800"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b="1">
                <a:solidFill>
                  <a:schemeClr val="tx1"/>
                </a:solidFill>
                <a:latin typeface="Arial" charset="0"/>
                <a:ea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718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4290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862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pPr algn="r" eaLnBrk="1" hangingPunct="1">
              <a:lnSpc>
                <a:spcPct val="100000"/>
              </a:lnSpc>
            </a:pPr>
            <a:fld id="{392C253C-79A3-ED46-923D-E55F26E1FF4B}" type="slidenum">
              <a:rPr lang="en-US" sz="1200" b="0"/>
              <a:pPr algn="r" eaLnBrk="1" hangingPunct="1">
                <a:lnSpc>
                  <a:spcPct val="100000"/>
                </a:lnSpc>
              </a:pPr>
              <a:t>32</a:t>
            </a:fld>
            <a:endParaRPr lang="en-US" sz="1200" b="0"/>
          </a:p>
        </p:txBody>
      </p:sp>
      <p:sp>
        <p:nvSpPr>
          <p:cNvPr id="315396" name="Rectangle 2"/>
          <p:cNvSpPr>
            <a:spLocks noGrp="1" noRot="1" noChangeAspect="1" noChangeArrowheads="1" noTextEdit="1"/>
          </p:cNvSpPr>
          <p:nvPr>
            <p:ph type="sldImg"/>
          </p:nvPr>
        </p:nvSpPr>
        <p:spPr>
          <a:xfrm>
            <a:off x="325438" y="698500"/>
            <a:ext cx="6208712" cy="3492500"/>
          </a:xfrm>
          <a:ln/>
        </p:spPr>
      </p:sp>
    </p:spTree>
    <p:extLst>
      <p:ext uri="{BB962C8B-B14F-4D97-AF65-F5344CB8AC3E}">
        <p14:creationId xmlns:p14="http://schemas.microsoft.com/office/powerpoint/2010/main" val="7442274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b="1">
                <a:solidFill>
                  <a:schemeClr val="tx1"/>
                </a:solidFill>
                <a:latin typeface="Arial" charset="0"/>
                <a:ea typeface="ＭＳ Ｐゴシック" charset="0"/>
              </a:defRPr>
            </a:lvl1pPr>
            <a:lvl2pPr marL="742950" indent="-285750" defTabSz="903288">
              <a:defRPr sz="2400" b="1">
                <a:solidFill>
                  <a:schemeClr val="tx1"/>
                </a:solidFill>
                <a:latin typeface="Arial" charset="0"/>
                <a:ea typeface="ＭＳ Ｐゴシック" charset="0"/>
              </a:defRPr>
            </a:lvl2pPr>
            <a:lvl3pPr marL="1143000" indent="-228600" defTabSz="903288">
              <a:defRPr sz="2400" b="1">
                <a:solidFill>
                  <a:schemeClr val="tx1"/>
                </a:solidFill>
                <a:latin typeface="Arial" charset="0"/>
                <a:ea typeface="ＭＳ Ｐゴシック" charset="0"/>
              </a:defRPr>
            </a:lvl3pPr>
            <a:lvl4pPr marL="1600200" indent="-228600" defTabSz="903288">
              <a:defRPr sz="2400" b="1">
                <a:solidFill>
                  <a:schemeClr val="tx1"/>
                </a:solidFill>
                <a:latin typeface="Arial" charset="0"/>
                <a:ea typeface="ＭＳ Ｐゴシック" charset="0"/>
              </a:defRPr>
            </a:lvl4pPr>
            <a:lvl5pPr marL="2057400" indent="-228600" defTabSz="903288">
              <a:defRPr sz="2400" b="1">
                <a:solidFill>
                  <a:schemeClr val="tx1"/>
                </a:solidFill>
                <a:latin typeface="Arial" charset="0"/>
                <a:ea typeface="ＭＳ Ｐゴシック" charset="0"/>
              </a:defRPr>
            </a:lvl5pPr>
            <a:lvl6pPr marL="25146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718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4290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86200" indent="-228600" defTabSz="903288"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fld id="{791C88DB-CA9C-5347-B544-D50D91129B63}" type="slidenum">
              <a:rPr lang="en-US" sz="800" b="0"/>
              <a:pPr/>
              <a:t>33</a:t>
            </a:fld>
            <a:endParaRPr lang="en-US" sz="800" b="0"/>
          </a:p>
        </p:txBody>
      </p:sp>
      <p:sp>
        <p:nvSpPr>
          <p:cNvPr id="318467" name="Rectangle 7"/>
          <p:cNvSpPr txBox="1">
            <a:spLocks noGrp="1" noChangeArrowheads="1"/>
          </p:cNvSpPr>
          <p:nvPr/>
        </p:nvSpPr>
        <p:spPr bwMode="auto">
          <a:xfrm>
            <a:off x="3884613" y="8847138"/>
            <a:ext cx="2971800"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b="1">
                <a:solidFill>
                  <a:schemeClr val="tx1"/>
                </a:solidFill>
                <a:latin typeface="Arial" charset="0"/>
                <a:ea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718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4290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862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pPr algn="r" eaLnBrk="1" hangingPunct="1">
              <a:lnSpc>
                <a:spcPct val="100000"/>
              </a:lnSpc>
            </a:pPr>
            <a:fld id="{A0854B96-31FE-2E47-81E9-444AB8B092FA}" type="slidenum">
              <a:rPr lang="en-US" sz="1200" b="0"/>
              <a:pPr algn="r" eaLnBrk="1" hangingPunct="1">
                <a:lnSpc>
                  <a:spcPct val="100000"/>
                </a:lnSpc>
              </a:pPr>
              <a:t>33</a:t>
            </a:fld>
            <a:endParaRPr lang="en-US" sz="1200" b="0"/>
          </a:p>
        </p:txBody>
      </p:sp>
      <p:sp>
        <p:nvSpPr>
          <p:cNvPr id="318468" name="Rectangle 2"/>
          <p:cNvSpPr>
            <a:spLocks noGrp="1" noRot="1" noChangeAspect="1" noChangeArrowheads="1" noTextEdit="1"/>
          </p:cNvSpPr>
          <p:nvPr>
            <p:ph type="sldImg"/>
          </p:nvPr>
        </p:nvSpPr>
        <p:spPr>
          <a:xfrm>
            <a:off x="325438" y="698500"/>
            <a:ext cx="6208712" cy="3492500"/>
          </a:xfrm>
          <a:ln/>
        </p:spPr>
      </p:sp>
    </p:spTree>
    <p:extLst>
      <p:ext uri="{BB962C8B-B14F-4D97-AF65-F5344CB8AC3E}">
        <p14:creationId xmlns:p14="http://schemas.microsoft.com/office/powerpoint/2010/main" val="3611327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Gill Sans MT" panose="020B0502020104020203" pitchFamily="34" charset="0"/>
              </a:defRPr>
            </a:lvl1pPr>
          </a:lstStyle>
          <a:p>
            <a:r>
              <a:rPr lang="en-US"/>
              <a:t>Click to edit Master title style</a:t>
            </a:r>
            <a:endParaRPr lang="en-SG"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Gill Sans MT" panose="020B05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4A081756-E1EF-45F7-A39F-A7872AA63B15}" type="datetimeFigureOut">
              <a:rPr lang="en-SG" smtClean="0"/>
              <a:t>24/10/2018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8D1F9D6B-D82B-467E-B4AA-7A1387D20204}" type="slidenum">
              <a:rPr lang="en-SG" smtClean="0"/>
              <a:t>‹#›</a:t>
            </a:fld>
            <a:endParaRPr lang="en-SG"/>
          </a:p>
        </p:txBody>
      </p:sp>
    </p:spTree>
    <p:extLst>
      <p:ext uri="{BB962C8B-B14F-4D97-AF65-F5344CB8AC3E}">
        <p14:creationId xmlns:p14="http://schemas.microsoft.com/office/powerpoint/2010/main" val="1947558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MT" panose="020B0502020104020203" pitchFamily="34" charset="0"/>
              </a:defRPr>
            </a:lvl1pPr>
          </a:lstStyle>
          <a:p>
            <a:r>
              <a:rPr lang="en-US"/>
              <a:t>Click to edit Master title style</a:t>
            </a:r>
            <a:endParaRPr lang="en-SG" dirty="0"/>
          </a:p>
        </p:txBody>
      </p:sp>
      <p:sp>
        <p:nvSpPr>
          <p:cNvPr id="3" name="Content Placeholder 2"/>
          <p:cNvSpPr>
            <a:spLocks noGrp="1"/>
          </p:cNvSpPr>
          <p:nvPr>
            <p:ph idx="1"/>
          </p:nvPr>
        </p:nvSpPr>
        <p:spPr/>
        <p:txBody>
          <a:bodyPr>
            <a:normAutofit/>
          </a:bodyPr>
          <a:lstStyle>
            <a:lvl1pPr>
              <a:defRPr sz="2800">
                <a:latin typeface="Gill Sans MT" panose="020B0502020104020203" pitchFamily="34" charset="0"/>
              </a:defRPr>
            </a:lvl1pPr>
            <a:lvl2pPr>
              <a:defRPr sz="2400">
                <a:latin typeface="Gill Sans MT" panose="020B0502020104020203" pitchFamily="34" charset="0"/>
              </a:defRPr>
            </a:lvl2pPr>
            <a:lvl3pPr>
              <a:defRPr sz="2000">
                <a:latin typeface="Gill Sans MT" panose="020B0502020104020203" pitchFamily="34" charset="0"/>
              </a:defRPr>
            </a:lvl3pPr>
            <a:lvl4pPr>
              <a:defRPr sz="1800">
                <a:latin typeface="Gill Sans MT" panose="020B0502020104020203" pitchFamily="34" charset="0"/>
              </a:defRPr>
            </a:lvl4pPr>
            <a:lvl5pPr>
              <a:defRPr sz="1800">
                <a:latin typeface="Gill Sans MT" panose="020B05020201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dirty="0"/>
          </a:p>
        </p:txBody>
      </p:sp>
      <p:sp>
        <p:nvSpPr>
          <p:cNvPr id="4" name="Date Placeholder 3"/>
          <p:cNvSpPr>
            <a:spLocks noGrp="1"/>
          </p:cNvSpPr>
          <p:nvPr>
            <p:ph type="dt" sz="half" idx="10"/>
          </p:nvPr>
        </p:nvSpPr>
        <p:spPr/>
        <p:txBody>
          <a:bodyPr/>
          <a:lstStyle/>
          <a:p>
            <a:fld id="{4A081756-E1EF-45F7-A39F-A7872AA63B15}" type="datetimeFigureOut">
              <a:rPr lang="en-SG" smtClean="0"/>
              <a:t>24/10/2018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8D1F9D6B-D82B-467E-B4AA-7A1387D20204}" type="slidenum">
              <a:rPr lang="en-SG" smtClean="0"/>
              <a:t>‹#›</a:t>
            </a:fld>
            <a:endParaRPr lang="en-SG"/>
          </a:p>
        </p:txBody>
      </p:sp>
    </p:spTree>
    <p:extLst>
      <p:ext uri="{BB962C8B-B14F-4D97-AF65-F5344CB8AC3E}">
        <p14:creationId xmlns:p14="http://schemas.microsoft.com/office/powerpoint/2010/main" val="2435260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A081756-E1EF-45F7-A39F-A7872AA63B15}" type="datetimeFigureOut">
              <a:rPr lang="en-SG" smtClean="0"/>
              <a:t>24/10/2018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8D1F9D6B-D82B-467E-B4AA-7A1387D20204}" type="slidenum">
              <a:rPr lang="en-SG" smtClean="0"/>
              <a:t>‹#›</a:t>
            </a:fld>
            <a:endParaRPr lang="en-SG"/>
          </a:p>
        </p:txBody>
      </p:sp>
    </p:spTree>
    <p:extLst>
      <p:ext uri="{BB962C8B-B14F-4D97-AF65-F5344CB8AC3E}">
        <p14:creationId xmlns:p14="http://schemas.microsoft.com/office/powerpoint/2010/main" val="2150579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4A081756-E1EF-45F7-A39F-A7872AA63B15}" type="datetimeFigureOut">
              <a:rPr lang="en-SG" smtClean="0"/>
              <a:t>24/10/2018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8D1F9D6B-D82B-467E-B4AA-7A1387D20204}" type="slidenum">
              <a:rPr lang="en-SG" smtClean="0"/>
              <a:t>‹#›</a:t>
            </a:fld>
            <a:endParaRPr lang="en-SG"/>
          </a:p>
        </p:txBody>
      </p:sp>
    </p:spTree>
    <p:extLst>
      <p:ext uri="{BB962C8B-B14F-4D97-AF65-F5344CB8AC3E}">
        <p14:creationId xmlns:p14="http://schemas.microsoft.com/office/powerpoint/2010/main" val="56753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4A081756-E1EF-45F7-A39F-A7872AA63B15}" type="datetimeFigureOut">
              <a:rPr lang="en-SG" smtClean="0"/>
              <a:t>24/10/2018</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8D1F9D6B-D82B-467E-B4AA-7A1387D20204}" type="slidenum">
              <a:rPr lang="en-SG" smtClean="0"/>
              <a:t>‹#›</a:t>
            </a:fld>
            <a:endParaRPr lang="en-SG"/>
          </a:p>
        </p:txBody>
      </p:sp>
    </p:spTree>
    <p:extLst>
      <p:ext uri="{BB962C8B-B14F-4D97-AF65-F5344CB8AC3E}">
        <p14:creationId xmlns:p14="http://schemas.microsoft.com/office/powerpoint/2010/main" val="1487995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4A081756-E1EF-45F7-A39F-A7872AA63B15}" type="datetimeFigureOut">
              <a:rPr lang="en-SG" smtClean="0"/>
              <a:t>24/10/2018</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8D1F9D6B-D82B-467E-B4AA-7A1387D20204}" type="slidenum">
              <a:rPr lang="en-SG" smtClean="0"/>
              <a:t>‹#›</a:t>
            </a:fld>
            <a:endParaRPr lang="en-SG"/>
          </a:p>
        </p:txBody>
      </p:sp>
    </p:spTree>
    <p:extLst>
      <p:ext uri="{BB962C8B-B14F-4D97-AF65-F5344CB8AC3E}">
        <p14:creationId xmlns:p14="http://schemas.microsoft.com/office/powerpoint/2010/main" val="1047753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081756-E1EF-45F7-A39F-A7872AA63B15}" type="datetimeFigureOut">
              <a:rPr lang="en-SG" smtClean="0"/>
              <a:t>24/10/2018</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8D1F9D6B-D82B-467E-B4AA-7A1387D20204}" type="slidenum">
              <a:rPr lang="en-SG" smtClean="0"/>
              <a:t>‹#›</a:t>
            </a:fld>
            <a:endParaRPr lang="en-SG"/>
          </a:p>
        </p:txBody>
      </p:sp>
    </p:spTree>
    <p:extLst>
      <p:ext uri="{BB962C8B-B14F-4D97-AF65-F5344CB8AC3E}">
        <p14:creationId xmlns:p14="http://schemas.microsoft.com/office/powerpoint/2010/main" val="2825028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A081756-E1EF-45F7-A39F-A7872AA63B15}" type="datetimeFigureOut">
              <a:rPr lang="en-SG" smtClean="0"/>
              <a:t>24/10/2018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8D1F9D6B-D82B-467E-B4AA-7A1387D20204}" type="slidenum">
              <a:rPr lang="en-SG" smtClean="0"/>
              <a:t>‹#›</a:t>
            </a:fld>
            <a:endParaRPr lang="en-SG"/>
          </a:p>
        </p:txBody>
      </p:sp>
    </p:spTree>
    <p:extLst>
      <p:ext uri="{BB962C8B-B14F-4D97-AF65-F5344CB8AC3E}">
        <p14:creationId xmlns:p14="http://schemas.microsoft.com/office/powerpoint/2010/main" val="3101101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A081756-E1EF-45F7-A39F-A7872AA63B15}" type="datetimeFigureOut">
              <a:rPr lang="en-SG" smtClean="0"/>
              <a:t>24/10/2018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8D1F9D6B-D82B-467E-B4AA-7A1387D20204}" type="slidenum">
              <a:rPr lang="en-SG" smtClean="0"/>
              <a:t>‹#›</a:t>
            </a:fld>
            <a:endParaRPr lang="en-SG"/>
          </a:p>
        </p:txBody>
      </p:sp>
    </p:spTree>
    <p:extLst>
      <p:ext uri="{BB962C8B-B14F-4D97-AF65-F5344CB8AC3E}">
        <p14:creationId xmlns:p14="http://schemas.microsoft.com/office/powerpoint/2010/main" val="2633948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4A081756-E1EF-45F7-A39F-A7872AA63B15}" type="datetimeFigureOut">
              <a:rPr lang="en-SG" smtClean="0"/>
              <a:t>24/10/2018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8D1F9D6B-D82B-467E-B4AA-7A1387D20204}" type="slidenum">
              <a:rPr lang="en-SG" smtClean="0"/>
              <a:t>‹#›</a:t>
            </a:fld>
            <a:endParaRPr lang="en-SG"/>
          </a:p>
        </p:txBody>
      </p:sp>
    </p:spTree>
    <p:extLst>
      <p:ext uri="{BB962C8B-B14F-4D97-AF65-F5344CB8AC3E}">
        <p14:creationId xmlns:p14="http://schemas.microsoft.com/office/powerpoint/2010/main" val="169069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4A081756-E1EF-45F7-A39F-A7872AA63B15}" type="datetimeFigureOut">
              <a:rPr lang="en-SG" smtClean="0"/>
              <a:t>24/10/2018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8D1F9D6B-D82B-467E-B4AA-7A1387D20204}" type="slidenum">
              <a:rPr lang="en-SG" smtClean="0"/>
              <a:t>‹#›</a:t>
            </a:fld>
            <a:endParaRPr lang="en-SG"/>
          </a:p>
        </p:txBody>
      </p:sp>
    </p:spTree>
    <p:extLst>
      <p:ext uri="{BB962C8B-B14F-4D97-AF65-F5344CB8AC3E}">
        <p14:creationId xmlns:p14="http://schemas.microsoft.com/office/powerpoint/2010/main" val="2089833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11379200" cy="838200"/>
          </a:xfrm>
        </p:spPr>
        <p:txBody>
          <a:bodyPr/>
          <a:lstStyle/>
          <a:p>
            <a:r>
              <a:rPr lang="en-US"/>
              <a:t>Click to edit Master title style</a:t>
            </a:r>
          </a:p>
        </p:txBody>
      </p:sp>
      <p:sp>
        <p:nvSpPr>
          <p:cNvPr id="3" name="Content Placeholder 2"/>
          <p:cNvSpPr>
            <a:spLocks noGrp="1"/>
          </p:cNvSpPr>
          <p:nvPr>
            <p:ph sz="half" idx="1"/>
          </p:nvPr>
        </p:nvSpPr>
        <p:spPr>
          <a:xfrm>
            <a:off x="607485" y="1690688"/>
            <a:ext cx="10966449" cy="2049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7485" y="3892550"/>
            <a:ext cx="10966449" cy="2051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3460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11379200" cy="838200"/>
          </a:xfrm>
        </p:spPr>
        <p:txBody>
          <a:bodyPr/>
          <a:lstStyle/>
          <a:p>
            <a:r>
              <a:rPr lang="en-US"/>
              <a:t>Click to edit Master title style</a:t>
            </a:r>
          </a:p>
        </p:txBody>
      </p:sp>
      <p:sp>
        <p:nvSpPr>
          <p:cNvPr id="3" name="Text Placeholder 2"/>
          <p:cNvSpPr>
            <a:spLocks noGrp="1"/>
          </p:cNvSpPr>
          <p:nvPr>
            <p:ph type="body" sz="half" idx="1"/>
          </p:nvPr>
        </p:nvSpPr>
        <p:spPr>
          <a:xfrm>
            <a:off x="607485" y="1690688"/>
            <a:ext cx="10966449" cy="2049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7485" y="3892550"/>
            <a:ext cx="10966449" cy="2051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08445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ullet_Heavy Tex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2"/>
          <p:cNvSpPr>
            <a:spLocks noGrp="1"/>
          </p:cNvSpPr>
          <p:nvPr>
            <p:ph type="body" sz="half" idx="1"/>
          </p:nvPr>
        </p:nvSpPr>
        <p:spPr>
          <a:xfrm>
            <a:off x="304800" y="914400"/>
            <a:ext cx="5628217" cy="5410200"/>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2"/>
          </p:nvPr>
        </p:nvSpPr>
        <p:spPr>
          <a:xfrm>
            <a:off x="6136218" y="914400"/>
            <a:ext cx="5649383" cy="5410200"/>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1843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9946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ulle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19617" y="914400"/>
            <a:ext cx="11438467" cy="5394960"/>
          </a:xfrm>
        </p:spPr>
        <p:txBody>
          <a:bodyPr/>
          <a:lstStyle>
            <a:lvl1pPr>
              <a:lnSpc>
                <a:spcPct val="95000"/>
              </a:lnSpc>
              <a:spcBef>
                <a:spcPts val="1480"/>
              </a:spcBef>
              <a:defRPr sz="2200">
                <a:solidFill>
                  <a:srgbClr val="000000"/>
                </a:solidFill>
                <a:latin typeface="+mj-lt"/>
              </a:defRPr>
            </a:lvl1pPr>
            <a:lvl2pPr>
              <a:lnSpc>
                <a:spcPct val="95000"/>
              </a:lnSpc>
              <a:spcBef>
                <a:spcPts val="600"/>
              </a:spcBef>
              <a:defRPr>
                <a:solidFill>
                  <a:srgbClr val="000000"/>
                </a:solidFill>
                <a:latin typeface="+mj-lt"/>
              </a:defRPr>
            </a:lvl2pPr>
            <a:lvl3pPr>
              <a:defRPr>
                <a:solidFill>
                  <a:srgbClr val="000000"/>
                </a:solidFill>
                <a:latin typeface="+mj-lt"/>
              </a:defRPr>
            </a:lvl3pPr>
            <a:lvl4pPr>
              <a:defRPr>
                <a:solidFill>
                  <a:srgbClr val="000000"/>
                </a:solidFill>
                <a:latin typeface="+mj-lt"/>
              </a:defRPr>
            </a:lvl4pPr>
            <a:lvl5pPr>
              <a:defRPr>
                <a:solidFill>
                  <a:srgbClr val="000000"/>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01694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081756-E1EF-45F7-A39F-A7872AA63B15}" type="datetimeFigureOut">
              <a:rPr lang="en-SG" smtClean="0"/>
              <a:t>24/10/2018</a:t>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1F9D6B-D82B-467E-B4AA-7A1387D20204}" type="slidenum">
              <a:rPr lang="en-SG" smtClean="0"/>
              <a:t>‹#›</a:t>
            </a:fld>
            <a:endParaRPr lang="en-SG"/>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9785445" y="156548"/>
            <a:ext cx="2347642" cy="514020"/>
          </a:xfrm>
          <a:prstGeom prst="rect">
            <a:avLst/>
          </a:prstGeom>
        </p:spPr>
      </p:pic>
    </p:spTree>
    <p:extLst>
      <p:ext uri="{BB962C8B-B14F-4D97-AF65-F5344CB8AC3E}">
        <p14:creationId xmlns:p14="http://schemas.microsoft.com/office/powerpoint/2010/main" val="15829118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914400" rtl="0" eaLnBrk="1" latinLnBrk="0" hangingPunct="1">
        <a:lnSpc>
          <a:spcPct val="90000"/>
        </a:lnSpc>
        <a:spcBef>
          <a:spcPct val="0"/>
        </a:spcBef>
        <a:buNone/>
        <a:defRPr sz="4400" kern="1200">
          <a:solidFill>
            <a:schemeClr val="tx1"/>
          </a:solidFill>
          <a:latin typeface="Gill Sans MT" panose="020B05020201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ccie-or-null.net/2012/05/29/ntp/"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SG" dirty="0"/>
              <a:t>Network Monitoring Tools and Basic Security</a:t>
            </a:r>
          </a:p>
        </p:txBody>
      </p:sp>
      <p:sp>
        <p:nvSpPr>
          <p:cNvPr id="3" name="Subtitle 2"/>
          <p:cNvSpPr>
            <a:spLocks noGrp="1"/>
          </p:cNvSpPr>
          <p:nvPr>
            <p:ph type="subTitle" idx="1"/>
          </p:nvPr>
        </p:nvSpPr>
        <p:spPr/>
        <p:txBody>
          <a:bodyPr/>
          <a:lstStyle/>
          <a:p>
            <a:r>
              <a:rPr lang="en-SG" dirty="0"/>
              <a:t>Chapter 2</a:t>
            </a:r>
          </a:p>
        </p:txBody>
      </p:sp>
    </p:spTree>
    <p:extLst>
      <p:ext uri="{BB962C8B-B14F-4D97-AF65-F5344CB8AC3E}">
        <p14:creationId xmlns:p14="http://schemas.microsoft.com/office/powerpoint/2010/main" val="1888800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Learning Outcomes</a:t>
            </a:r>
          </a:p>
        </p:txBody>
      </p:sp>
      <p:sp>
        <p:nvSpPr>
          <p:cNvPr id="3" name="Content Placeholder 2"/>
          <p:cNvSpPr>
            <a:spLocks noGrp="1"/>
          </p:cNvSpPr>
          <p:nvPr>
            <p:ph idx="1"/>
          </p:nvPr>
        </p:nvSpPr>
        <p:spPr/>
        <p:txBody>
          <a:bodyPr/>
          <a:lstStyle/>
          <a:p>
            <a:r>
              <a:rPr lang="en-SG" dirty="0"/>
              <a:t>Monitor and detect network security breaches by configuring Syslog, NTP.</a:t>
            </a:r>
          </a:p>
          <a:p>
            <a:pPr marL="0" indent="0">
              <a:buNone/>
            </a:pPr>
            <a:endParaRPr lang="en-SG" dirty="0"/>
          </a:p>
          <a:p>
            <a:r>
              <a:rPr lang="en-SG" dirty="0"/>
              <a:t>Implement basic security on routers using AAA and SSH.</a:t>
            </a:r>
          </a:p>
          <a:p>
            <a:endParaRPr lang="en-SG" dirty="0"/>
          </a:p>
        </p:txBody>
      </p:sp>
    </p:spTree>
    <p:extLst>
      <p:ext uri="{BB962C8B-B14F-4D97-AF65-F5344CB8AC3E}">
        <p14:creationId xmlns:p14="http://schemas.microsoft.com/office/powerpoint/2010/main" val="4273706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726180" y="3842740"/>
            <a:ext cx="4552452" cy="3015260"/>
          </a:xfrm>
          <a:prstGeom prst="rect">
            <a:avLst/>
          </a:prstGeom>
        </p:spPr>
      </p:pic>
      <p:sp>
        <p:nvSpPr>
          <p:cNvPr id="2" name="Title 1"/>
          <p:cNvSpPr>
            <a:spLocks noGrp="1"/>
          </p:cNvSpPr>
          <p:nvPr>
            <p:ph type="title"/>
          </p:nvPr>
        </p:nvSpPr>
        <p:spPr/>
        <p:txBody>
          <a:bodyPr/>
          <a:lstStyle/>
          <a:p>
            <a:r>
              <a:rPr lang="en-SG" dirty="0"/>
              <a:t>Why Monitor Network Devices?</a:t>
            </a:r>
          </a:p>
        </p:txBody>
      </p:sp>
      <p:sp>
        <p:nvSpPr>
          <p:cNvPr id="3" name="Content Placeholder 2"/>
          <p:cNvSpPr>
            <a:spLocks noGrp="1"/>
          </p:cNvSpPr>
          <p:nvPr>
            <p:ph idx="1"/>
          </p:nvPr>
        </p:nvSpPr>
        <p:spPr>
          <a:xfrm>
            <a:off x="838200" y="1690688"/>
            <a:ext cx="10515600" cy="4351338"/>
          </a:xfrm>
        </p:spPr>
        <p:txBody>
          <a:bodyPr/>
          <a:lstStyle/>
          <a:p>
            <a:r>
              <a:rPr lang="en-SG" dirty="0"/>
              <a:t>Monitoring network devices will give us an early indication of a threat or vulnerability in the infrastructure.</a:t>
            </a:r>
          </a:p>
          <a:p>
            <a:r>
              <a:rPr lang="en-SG" dirty="0"/>
              <a:t>By doing trend analysis or responding to alerts triggered by the monitoring systems, we will be able to prevent security breaches.</a:t>
            </a:r>
          </a:p>
          <a:p>
            <a:r>
              <a:rPr lang="en-SG" dirty="0"/>
              <a:t>One of the most common network monitoring tool is called Syslog.</a:t>
            </a:r>
          </a:p>
        </p:txBody>
      </p:sp>
    </p:spTree>
    <p:extLst>
      <p:ext uri="{BB962C8B-B14F-4D97-AF65-F5344CB8AC3E}">
        <p14:creationId xmlns:p14="http://schemas.microsoft.com/office/powerpoint/2010/main" val="2001005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Syslog Service	 </a:t>
            </a:r>
          </a:p>
        </p:txBody>
      </p:sp>
      <p:sp>
        <p:nvSpPr>
          <p:cNvPr id="3" name="Content Placeholder 2"/>
          <p:cNvSpPr>
            <a:spLocks noGrp="1"/>
          </p:cNvSpPr>
          <p:nvPr>
            <p:ph idx="1"/>
          </p:nvPr>
        </p:nvSpPr>
        <p:spPr/>
        <p:txBody>
          <a:bodyPr/>
          <a:lstStyle/>
          <a:p>
            <a:r>
              <a:rPr lang="en-SG" dirty="0"/>
              <a:t>Syslog is a tool which logs system messages generated by devices (printers, routers, switches </a:t>
            </a:r>
            <a:r>
              <a:rPr lang="en-SG" dirty="0" err="1"/>
              <a:t>etc</a:t>
            </a:r>
            <a:r>
              <a:rPr lang="en-SG" dirty="0"/>
              <a:t>) into an easily readable format.</a:t>
            </a:r>
          </a:p>
          <a:p>
            <a:r>
              <a:rPr lang="en-SG" dirty="0"/>
              <a:t>IT operations staff will then use these reports for system management and security auditing as well as general information gathering, analysis and debugging.</a:t>
            </a:r>
          </a:p>
          <a:p>
            <a:endParaRPr lang="en-SG" dirty="0"/>
          </a:p>
          <a:p>
            <a:r>
              <a:rPr lang="en-SG" dirty="0"/>
              <a:t>In order to activate the service, a Syslog Server has to be setup and several devices have to be configured to send syslog messages to the server to log activity. How does a syslog message look like?</a:t>
            </a:r>
          </a:p>
          <a:p>
            <a:endParaRPr lang="en-SG" dirty="0"/>
          </a:p>
        </p:txBody>
      </p:sp>
    </p:spTree>
    <p:extLst>
      <p:ext uri="{BB962C8B-B14F-4D97-AF65-F5344CB8AC3E}">
        <p14:creationId xmlns:p14="http://schemas.microsoft.com/office/powerpoint/2010/main" val="1885238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Syslog System Message Format</a:t>
            </a:r>
          </a:p>
        </p:txBody>
      </p:sp>
      <p:sp>
        <p:nvSpPr>
          <p:cNvPr id="3" name="Content Placeholder 2"/>
          <p:cNvSpPr>
            <a:spLocks noGrp="1"/>
          </p:cNvSpPr>
          <p:nvPr>
            <p:ph idx="1"/>
          </p:nvPr>
        </p:nvSpPr>
        <p:spPr>
          <a:xfrm>
            <a:off x="838200" y="3314699"/>
            <a:ext cx="10515600" cy="3154681"/>
          </a:xfrm>
        </p:spPr>
        <p:txBody>
          <a:bodyPr>
            <a:normAutofit/>
          </a:bodyPr>
          <a:lstStyle/>
          <a:p>
            <a:r>
              <a:rPr lang="en-SG" dirty="0"/>
              <a:t>A timestamp: *Dec 18 17:10:15.079</a:t>
            </a:r>
          </a:p>
          <a:p>
            <a:r>
              <a:rPr lang="en-SG" dirty="0"/>
              <a:t>The facility on the router that generated the message: %LINEPROTO</a:t>
            </a:r>
          </a:p>
          <a:p>
            <a:r>
              <a:rPr lang="en-SG" dirty="0"/>
              <a:t>The severity level: 5</a:t>
            </a:r>
          </a:p>
          <a:p>
            <a:r>
              <a:rPr lang="en-SG" dirty="0"/>
              <a:t>A mnemonic for the message: UPDOWN</a:t>
            </a:r>
          </a:p>
          <a:p>
            <a:r>
              <a:rPr lang="en-SG" dirty="0"/>
              <a:t>The description of the message: Line protocol on Interface FastEthernet0/0, changed state to down</a:t>
            </a:r>
          </a:p>
          <a:p>
            <a:endParaRPr lang="en-SG" dirty="0"/>
          </a:p>
        </p:txBody>
      </p:sp>
      <p:pic>
        <p:nvPicPr>
          <p:cNvPr id="4" name="Picture 3"/>
          <p:cNvPicPr>
            <a:picLocks noChangeAspect="1" noChangeArrowheads="1"/>
          </p:cNvPicPr>
          <p:nvPr/>
        </p:nvPicPr>
        <p:blipFill>
          <a:blip r:embed="rId2" cstate="print"/>
          <a:srcRect/>
          <a:stretch>
            <a:fillRect/>
          </a:stretch>
        </p:blipFill>
        <p:spPr bwMode="auto">
          <a:xfrm>
            <a:off x="498989" y="1846390"/>
            <a:ext cx="11194022" cy="1312606"/>
          </a:xfrm>
          <a:prstGeom prst="rect">
            <a:avLst/>
          </a:prstGeom>
          <a:noFill/>
          <a:ln w="9525">
            <a:noFill/>
            <a:miter lim="800000"/>
            <a:headEnd/>
            <a:tailEnd/>
          </a:ln>
        </p:spPr>
      </p:pic>
    </p:spTree>
    <p:extLst>
      <p:ext uri="{BB962C8B-B14F-4D97-AF65-F5344CB8AC3E}">
        <p14:creationId xmlns:p14="http://schemas.microsoft.com/office/powerpoint/2010/main" val="562003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System Message Severity Levels</a:t>
            </a:r>
          </a:p>
        </p:txBody>
      </p:sp>
      <p:pic>
        <p:nvPicPr>
          <p:cNvPr id="4" name="Content Placeholder 3"/>
          <p:cNvPicPr>
            <a:picLocks noGrp="1" noChangeAspect="1"/>
          </p:cNvPicPr>
          <p:nvPr>
            <p:ph idx="1"/>
          </p:nvPr>
        </p:nvPicPr>
        <p:blipFill>
          <a:blip r:embed="rId2" cstate="print"/>
          <a:stretch>
            <a:fillRect/>
          </a:stretch>
        </p:blipFill>
        <p:spPr>
          <a:xfrm>
            <a:off x="728761" y="1851660"/>
            <a:ext cx="10958822" cy="4389120"/>
          </a:xfrm>
          <a:prstGeom prst="rect">
            <a:avLst/>
          </a:prstGeom>
        </p:spPr>
      </p:pic>
    </p:spTree>
    <p:extLst>
      <p:ext uri="{BB962C8B-B14F-4D97-AF65-F5344CB8AC3E}">
        <p14:creationId xmlns:p14="http://schemas.microsoft.com/office/powerpoint/2010/main" val="3815942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Configuring and Verifying Syslog Client</a:t>
            </a:r>
          </a:p>
        </p:txBody>
      </p:sp>
      <p:sp>
        <p:nvSpPr>
          <p:cNvPr id="4" name="Content Placeholder 3"/>
          <p:cNvSpPr>
            <a:spLocks noGrp="1"/>
          </p:cNvSpPr>
          <p:nvPr>
            <p:ph idx="1"/>
          </p:nvPr>
        </p:nvSpPr>
        <p:spPr>
          <a:xfrm>
            <a:off x="838200" y="1825624"/>
            <a:ext cx="10515600" cy="4811149"/>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440"/>
              </a:spcBef>
              <a:buClr>
                <a:schemeClr val="accent6">
                  <a:lumMod val="75000"/>
                </a:schemeClr>
              </a:buClr>
              <a:buSzPct val="90000"/>
              <a:buFont typeface="Arial" pitchFamily="34" charset="0"/>
              <a:buChar char="•"/>
              <a:tabLst/>
              <a:defRPr lang="en-US" sz="2000" kern="1200" dirty="0" smtClean="0">
                <a:solidFill>
                  <a:srgbClr val="000000"/>
                </a:solidFill>
                <a:latin typeface="Arial" pitchFamily="34" charset="0"/>
                <a:ea typeface="+mn-ea"/>
                <a:cs typeface="Arial" pitchFamily="34" charset="0"/>
              </a:defRPr>
            </a:lvl1pPr>
            <a:lvl2pPr marL="396875" indent="-168275" algn="l" defTabSz="914400" rtl="0" eaLnBrk="1" latinLnBrk="0" hangingPunct="1">
              <a:lnSpc>
                <a:spcPct val="100000"/>
              </a:lnSpc>
              <a:spcBef>
                <a:spcPts val="840"/>
              </a:spcBef>
              <a:buClr>
                <a:srgbClr val="0070C0"/>
              </a:buClr>
              <a:buFont typeface="Arial" pitchFamily="34" charset="0"/>
              <a:buChar char="•"/>
              <a:defRPr lang="en-US" sz="1800" kern="1200" dirty="0" smtClean="0">
                <a:solidFill>
                  <a:srgbClr val="000000"/>
                </a:solidFill>
                <a:latin typeface="Arial" pitchFamily="34" charset="0"/>
                <a:ea typeface="+mn-ea"/>
                <a:cs typeface="Arial" pitchFamily="34" charset="0"/>
              </a:defRPr>
            </a:lvl2pPr>
            <a:lvl3pPr marL="576263" indent="-177800" algn="l" defTabSz="914400" rtl="0" eaLnBrk="1" latinLnBrk="0" hangingPunct="1">
              <a:lnSpc>
                <a:spcPct val="100000"/>
              </a:lnSpc>
              <a:spcBef>
                <a:spcPts val="840"/>
              </a:spcBef>
              <a:buClr>
                <a:srgbClr val="00B0F0"/>
              </a:buClr>
              <a:buFont typeface="Arial" pitchFamily="34" charset="0"/>
              <a:buChar char="•"/>
              <a:defRPr lang="en-US" sz="1600" kern="1200" dirty="0" smtClean="0">
                <a:solidFill>
                  <a:srgbClr val="000000"/>
                </a:solidFill>
                <a:latin typeface="Arial" pitchFamily="34" charset="0"/>
                <a:ea typeface="+mn-ea"/>
                <a:cs typeface="Arial" pitchFamily="34" charset="0"/>
              </a:defRPr>
            </a:lvl3pPr>
            <a:lvl4pPr marL="688975" indent="-112713" algn="l" defTabSz="914400" rtl="0" eaLnBrk="1" latinLnBrk="0" hangingPunct="1">
              <a:lnSpc>
                <a:spcPct val="100000"/>
              </a:lnSpc>
              <a:spcBef>
                <a:spcPts val="840"/>
              </a:spcBef>
              <a:buClr>
                <a:srgbClr val="00B0F0"/>
              </a:buClr>
              <a:buFont typeface="Arial" pitchFamily="34" charset="0"/>
              <a:buChar char="•"/>
              <a:defRPr lang="en-US" sz="1400" kern="1200" dirty="0" smtClean="0">
                <a:solidFill>
                  <a:srgbClr val="000000"/>
                </a:solidFill>
                <a:latin typeface="Arial" pitchFamily="34" charset="0"/>
                <a:ea typeface="+mn-ea"/>
                <a:cs typeface="Arial" pitchFamily="34" charset="0"/>
              </a:defRPr>
            </a:lvl4pPr>
            <a:lvl5pPr marL="801688" indent="-115888" algn="l" defTabSz="914400" rtl="0" eaLnBrk="1" latinLnBrk="0" hangingPunct="1">
              <a:lnSpc>
                <a:spcPct val="100000"/>
              </a:lnSpc>
              <a:spcBef>
                <a:spcPts val="840"/>
              </a:spcBef>
              <a:buClr>
                <a:srgbClr val="00B0F0"/>
              </a:buClr>
              <a:buFont typeface="Arial" pitchFamily="34" charset="0"/>
              <a:buChar char="•"/>
              <a:defRPr lang="en-US" sz="1400" kern="1200" dirty="0">
                <a:solidFill>
                  <a:srgbClr val="000000"/>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a:solidFill>
                  <a:srgbClr val="002060"/>
                </a:solidFill>
                <a:latin typeface="Gill Sans MT" panose="020B0502020104020203" pitchFamily="34" charset="0"/>
              </a:rPr>
              <a:t>R1(</a:t>
            </a:r>
            <a:r>
              <a:rPr lang="en-US" sz="2800" dirty="0" err="1">
                <a:solidFill>
                  <a:srgbClr val="002060"/>
                </a:solidFill>
                <a:latin typeface="Gill Sans MT" panose="020B0502020104020203" pitchFamily="34" charset="0"/>
              </a:rPr>
              <a:t>config</a:t>
            </a:r>
            <a:r>
              <a:rPr lang="en-US" sz="2800" dirty="0">
                <a:solidFill>
                  <a:srgbClr val="002060"/>
                </a:solidFill>
                <a:latin typeface="Gill Sans MT" panose="020B0502020104020203" pitchFamily="34" charset="0"/>
              </a:rPr>
              <a:t>)#logging 192.168.1.101</a:t>
            </a:r>
          </a:p>
          <a:p>
            <a:pPr marL="0" indent="0">
              <a:buNone/>
            </a:pPr>
            <a:r>
              <a:rPr lang="en-US" sz="2800" dirty="0">
                <a:latin typeface="Gill Sans MT" panose="020B0502020104020203" pitchFamily="34" charset="0"/>
              </a:rPr>
              <a:t>This command configures R1 to send syslog messages to the syslog server with IP address 192.168.1.101.</a:t>
            </a:r>
          </a:p>
          <a:p>
            <a:pPr marL="0" lvl="0" indent="0">
              <a:lnSpc>
                <a:spcPct val="90000"/>
              </a:lnSpc>
              <a:spcBef>
                <a:spcPts val="1000"/>
              </a:spcBef>
              <a:buClrTx/>
              <a:buSzTx/>
              <a:buNone/>
            </a:pPr>
            <a:r>
              <a:rPr lang="en-US" sz="2800" dirty="0">
                <a:solidFill>
                  <a:srgbClr val="002060"/>
                </a:solidFill>
                <a:latin typeface="Gill Sans MT" panose="020B0502020104020203" pitchFamily="34" charset="0"/>
              </a:rPr>
              <a:t>R1(</a:t>
            </a:r>
            <a:r>
              <a:rPr lang="en-US" sz="2800" dirty="0" err="1">
                <a:solidFill>
                  <a:srgbClr val="002060"/>
                </a:solidFill>
                <a:latin typeface="Gill Sans MT" panose="020B0502020104020203" pitchFamily="34" charset="0"/>
              </a:rPr>
              <a:t>config</a:t>
            </a:r>
            <a:r>
              <a:rPr lang="en-US" sz="2800" dirty="0">
                <a:solidFill>
                  <a:srgbClr val="002060"/>
                </a:solidFill>
                <a:latin typeface="Gill Sans MT" panose="020B0502020104020203" pitchFamily="34" charset="0"/>
              </a:rPr>
              <a:t>)#logging trap 4       </a:t>
            </a:r>
            <a:r>
              <a:rPr lang="en-SG" i="1" dirty="0">
                <a:solidFill>
                  <a:srgbClr val="002060"/>
                </a:solidFill>
                <a:latin typeface="Gill Sans MT" panose="020B0502020104020203" pitchFamily="34" charset="0"/>
                <a:cs typeface="+mn-cs"/>
              </a:rPr>
              <a:t>(non-PT)</a:t>
            </a:r>
            <a:endParaRPr lang="en-US" sz="2800" dirty="0">
              <a:solidFill>
                <a:srgbClr val="002060"/>
              </a:solidFill>
              <a:latin typeface="Gill Sans MT" panose="020B0502020104020203" pitchFamily="34" charset="0"/>
            </a:endParaRPr>
          </a:p>
          <a:p>
            <a:pPr marL="0" indent="0">
              <a:buNone/>
            </a:pPr>
            <a:r>
              <a:rPr lang="en-US" sz="2800" dirty="0">
                <a:latin typeface="Gill Sans MT" panose="020B0502020104020203" pitchFamily="34" charset="0"/>
              </a:rPr>
              <a:t>This command tells the router to send messages which are trap/severity level 4 (warning messages) and below. The default level is 7 (All messages 7 and below)</a:t>
            </a:r>
          </a:p>
          <a:p>
            <a:r>
              <a:rPr lang="en-US" sz="2800" dirty="0">
                <a:solidFill>
                  <a:srgbClr val="002060"/>
                </a:solidFill>
                <a:latin typeface="Gill Sans MT" panose="020B0502020104020203" pitchFamily="34" charset="0"/>
              </a:rPr>
              <a:t>R1#  show logging</a:t>
            </a:r>
          </a:p>
          <a:p>
            <a:pPr marL="0" indent="0">
              <a:buNone/>
            </a:pPr>
            <a:r>
              <a:rPr lang="en-US" sz="2800" dirty="0">
                <a:latin typeface="Gill Sans MT" panose="020B0502020104020203" pitchFamily="34" charset="0"/>
              </a:rPr>
              <a:t>Shows logging parameters configured</a:t>
            </a:r>
          </a:p>
        </p:txBody>
      </p:sp>
    </p:spTree>
    <p:extLst>
      <p:ext uri="{BB962C8B-B14F-4D97-AF65-F5344CB8AC3E}">
        <p14:creationId xmlns:p14="http://schemas.microsoft.com/office/powerpoint/2010/main" val="2353098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Timestamping using NTP</a:t>
            </a:r>
          </a:p>
        </p:txBody>
      </p:sp>
      <p:sp>
        <p:nvSpPr>
          <p:cNvPr id="3" name="Content Placeholder 2"/>
          <p:cNvSpPr>
            <a:spLocks noGrp="1"/>
          </p:cNvSpPr>
          <p:nvPr>
            <p:ph idx="1"/>
          </p:nvPr>
        </p:nvSpPr>
        <p:spPr/>
        <p:txBody>
          <a:bodyPr/>
          <a:lstStyle/>
          <a:p>
            <a:r>
              <a:rPr lang="en-SG" dirty="0"/>
              <a:t>Many features in a computer network depend on time synchronisation, such as accurate time information in syslog messages, certificate-based authentication in VPNs, ACLs with time range configuration, and key rollover in routing protocol authentication (EIGRP and RIP)</a:t>
            </a:r>
          </a:p>
          <a:p>
            <a:r>
              <a:rPr lang="en-SG" dirty="0"/>
              <a:t>Devices such as routers and switches have an internal clock which has to either be manually synchronised or use a Network Time Protocol (NTP) automatically.</a:t>
            </a:r>
          </a:p>
        </p:txBody>
      </p:sp>
    </p:spTree>
    <p:extLst>
      <p:ext uri="{BB962C8B-B14F-4D97-AF65-F5344CB8AC3E}">
        <p14:creationId xmlns:p14="http://schemas.microsoft.com/office/powerpoint/2010/main" val="2937989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Network Time Protocol (NTP)</a:t>
            </a:r>
          </a:p>
        </p:txBody>
      </p:sp>
      <p:sp>
        <p:nvSpPr>
          <p:cNvPr id="3" name="Content Placeholder 2"/>
          <p:cNvSpPr>
            <a:spLocks noGrp="1"/>
          </p:cNvSpPr>
          <p:nvPr>
            <p:ph idx="1"/>
          </p:nvPr>
        </p:nvSpPr>
        <p:spPr>
          <a:xfrm>
            <a:off x="838200" y="1825624"/>
            <a:ext cx="10515600" cy="4666615"/>
          </a:xfrm>
        </p:spPr>
        <p:txBody>
          <a:bodyPr>
            <a:normAutofit lnSpcReduction="10000"/>
          </a:bodyPr>
          <a:lstStyle/>
          <a:p>
            <a:r>
              <a:rPr lang="en-SG" dirty="0"/>
              <a:t>NTP is a protocol designed to time-synchronize a network of machines. NTP runs over UDP, which in turn runs over IP.</a:t>
            </a:r>
          </a:p>
          <a:p>
            <a:pPr>
              <a:lnSpc>
                <a:spcPct val="85000"/>
              </a:lnSpc>
            </a:pPr>
            <a:r>
              <a:rPr lang="en-SG" dirty="0"/>
              <a:t>An NTP network usually obtains the time from an authoritative time source, such as a radio clock or an atomic clock attached to a time server. NTP then distributes this time across the network. NTP is extremely efficient; no more than one packet per minute is necessary to synchronise two machines to within 1msec of one another. </a:t>
            </a:r>
          </a:p>
          <a:p>
            <a:pPr>
              <a:lnSpc>
                <a:spcPct val="85000"/>
              </a:lnSpc>
            </a:pPr>
            <a:r>
              <a:rPr lang="en-US" altLang="en-US" dirty="0"/>
              <a:t>NTP uses the concept of a “stratum” to describe how many NTP “hops” away a machine is from an authoritative time source.</a:t>
            </a:r>
          </a:p>
          <a:p>
            <a:pPr>
              <a:lnSpc>
                <a:spcPct val="85000"/>
              </a:lnSpc>
            </a:pPr>
            <a:r>
              <a:rPr lang="en-US" altLang="en-US" dirty="0"/>
              <a:t>A “stratum 1” time server typically has a radio or atomic clock directly attached to the server; a “stratum 2” time server receives the time via NTP from a “stratum 1” time server.</a:t>
            </a:r>
          </a:p>
          <a:p>
            <a:endParaRPr lang="en-SG" dirty="0"/>
          </a:p>
          <a:p>
            <a:pPr marL="0" indent="0">
              <a:buNone/>
            </a:pPr>
            <a:endParaRPr lang="en-SG" dirty="0"/>
          </a:p>
        </p:txBody>
      </p:sp>
    </p:spTree>
    <p:extLst>
      <p:ext uri="{BB962C8B-B14F-4D97-AF65-F5344CB8AC3E}">
        <p14:creationId xmlns:p14="http://schemas.microsoft.com/office/powerpoint/2010/main" val="3282603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NTP Security</a:t>
            </a:r>
          </a:p>
        </p:txBody>
      </p:sp>
      <p:sp>
        <p:nvSpPr>
          <p:cNvPr id="3" name="Content Placeholder 2"/>
          <p:cNvSpPr>
            <a:spLocks noGrp="1"/>
          </p:cNvSpPr>
          <p:nvPr>
            <p:ph idx="1"/>
          </p:nvPr>
        </p:nvSpPr>
        <p:spPr/>
        <p:txBody>
          <a:bodyPr/>
          <a:lstStyle/>
          <a:p>
            <a:r>
              <a:rPr lang="en-SG" dirty="0"/>
              <a:t>NTP services are enabled on all interfaces by default. </a:t>
            </a:r>
          </a:p>
          <a:p>
            <a:r>
              <a:rPr lang="en-SG" dirty="0"/>
              <a:t>The time that a machine keeps is a critical resource, so the security features of NTP should be used to avoid the accidental or malicious setting of incorrect time</a:t>
            </a:r>
          </a:p>
          <a:p>
            <a:r>
              <a:rPr lang="en-SG" dirty="0"/>
              <a:t>To authenticate the associations with other systems for security purposes, use the commands in the “NTP Authentication Commands” table </a:t>
            </a:r>
          </a:p>
          <a:p>
            <a:endParaRPr lang="en-SG" dirty="0"/>
          </a:p>
          <a:p>
            <a:pPr marL="0" indent="0">
              <a:buNone/>
            </a:pPr>
            <a:r>
              <a:rPr lang="en-SG" dirty="0"/>
              <a:t>Good Reads: </a:t>
            </a:r>
            <a:r>
              <a:rPr lang="en-SG" dirty="0">
                <a:hlinkClick r:id="rId2"/>
              </a:rPr>
              <a:t>https://ccie-or-null.net/2012/05/29/ntp/</a:t>
            </a:r>
            <a:endParaRPr lang="en-SG" dirty="0"/>
          </a:p>
          <a:p>
            <a:pPr marL="0" indent="0">
              <a:buNone/>
            </a:pPr>
            <a:endParaRPr lang="en-SG" dirty="0"/>
          </a:p>
        </p:txBody>
      </p:sp>
    </p:spTree>
    <p:extLst>
      <p:ext uri="{BB962C8B-B14F-4D97-AF65-F5344CB8AC3E}">
        <p14:creationId xmlns:p14="http://schemas.microsoft.com/office/powerpoint/2010/main" val="410303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10746846" y="3486150"/>
            <a:ext cx="0" cy="190955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SG" dirty="0"/>
              <a:t>Configuring NTP</a:t>
            </a:r>
          </a:p>
        </p:txBody>
      </p:sp>
      <p:sp>
        <p:nvSpPr>
          <p:cNvPr id="3" name="Content Placeholder 2"/>
          <p:cNvSpPr>
            <a:spLocks noGrp="1"/>
          </p:cNvSpPr>
          <p:nvPr>
            <p:ph idx="1"/>
          </p:nvPr>
        </p:nvSpPr>
        <p:spPr>
          <a:xfrm>
            <a:off x="838200" y="1825624"/>
            <a:ext cx="9766110" cy="5032375"/>
          </a:xfrm>
        </p:spPr>
        <p:txBody>
          <a:bodyPr>
            <a:normAutofit lnSpcReduction="10000"/>
          </a:bodyPr>
          <a:lstStyle/>
          <a:p>
            <a:pPr marL="0" indent="0">
              <a:buNone/>
            </a:pPr>
            <a:r>
              <a:rPr lang="en-SG" dirty="0"/>
              <a:t>NTP is automatically enabled on all Cisco devices. To disable NTP on a specific interface, use the </a:t>
            </a:r>
            <a:r>
              <a:rPr lang="en-SG" dirty="0" err="1"/>
              <a:t>ntp</a:t>
            </a:r>
            <a:r>
              <a:rPr lang="en-SG" dirty="0"/>
              <a:t> disable command in the interface configuration mode. </a:t>
            </a:r>
          </a:p>
          <a:p>
            <a:pPr marL="0" indent="0">
              <a:buNone/>
            </a:pPr>
            <a:r>
              <a:rPr lang="en-SG" dirty="0">
                <a:solidFill>
                  <a:srgbClr val="002060"/>
                </a:solidFill>
              </a:rPr>
              <a:t>R1# show </a:t>
            </a:r>
            <a:r>
              <a:rPr lang="en-SG" dirty="0" err="1">
                <a:solidFill>
                  <a:srgbClr val="002060"/>
                </a:solidFill>
              </a:rPr>
              <a:t>ntp</a:t>
            </a:r>
            <a:r>
              <a:rPr lang="en-SG" dirty="0">
                <a:solidFill>
                  <a:srgbClr val="002060"/>
                </a:solidFill>
              </a:rPr>
              <a:t> status</a:t>
            </a:r>
          </a:p>
          <a:p>
            <a:pPr marL="0" indent="0">
              <a:buNone/>
            </a:pPr>
            <a:r>
              <a:rPr lang="en-SG" dirty="0"/>
              <a:t>Check NTP </a:t>
            </a:r>
            <a:r>
              <a:rPr lang="en-SG" dirty="0" err="1"/>
              <a:t>config</a:t>
            </a:r>
            <a:r>
              <a:rPr lang="en-SG" dirty="0"/>
              <a:t> on router</a:t>
            </a:r>
          </a:p>
          <a:p>
            <a:pPr marL="0" indent="0">
              <a:buNone/>
            </a:pPr>
            <a:r>
              <a:rPr lang="en-SG" dirty="0">
                <a:solidFill>
                  <a:srgbClr val="002060"/>
                </a:solidFill>
              </a:rPr>
              <a:t>R1(config)#clock </a:t>
            </a:r>
            <a:r>
              <a:rPr lang="en-SG" dirty="0" err="1">
                <a:solidFill>
                  <a:srgbClr val="002060"/>
                </a:solidFill>
              </a:rPr>
              <a:t>timezone</a:t>
            </a:r>
            <a:r>
              <a:rPr lang="en-SG" dirty="0">
                <a:solidFill>
                  <a:srgbClr val="002060"/>
                </a:solidFill>
              </a:rPr>
              <a:t> GMT +8</a:t>
            </a:r>
          </a:p>
          <a:p>
            <a:pPr marL="0" indent="0">
              <a:buNone/>
            </a:pPr>
            <a:r>
              <a:rPr lang="en-SG" dirty="0">
                <a:solidFill>
                  <a:srgbClr val="002060"/>
                </a:solidFill>
              </a:rPr>
              <a:t>R1(config)#</a:t>
            </a:r>
            <a:r>
              <a:rPr lang="en-SG" dirty="0" err="1">
                <a:solidFill>
                  <a:srgbClr val="002060"/>
                </a:solidFill>
              </a:rPr>
              <a:t>ntp</a:t>
            </a:r>
            <a:r>
              <a:rPr lang="en-SG" dirty="0">
                <a:solidFill>
                  <a:srgbClr val="002060"/>
                </a:solidFill>
              </a:rPr>
              <a:t> update-calendar</a:t>
            </a:r>
          </a:p>
          <a:p>
            <a:pPr marL="0" indent="0">
              <a:buNone/>
            </a:pPr>
            <a:r>
              <a:rPr lang="en-SG" dirty="0" err="1"/>
              <a:t>Config</a:t>
            </a:r>
            <a:r>
              <a:rPr lang="en-SG" dirty="0"/>
              <a:t> clock to be SG time</a:t>
            </a:r>
          </a:p>
          <a:p>
            <a:pPr marL="0" indent="0">
              <a:buNone/>
            </a:pPr>
            <a:r>
              <a:rPr lang="en-SG" dirty="0">
                <a:solidFill>
                  <a:srgbClr val="002060"/>
                </a:solidFill>
              </a:rPr>
              <a:t>R1(</a:t>
            </a:r>
            <a:r>
              <a:rPr lang="en-SG" dirty="0" err="1">
                <a:solidFill>
                  <a:srgbClr val="002060"/>
                </a:solidFill>
              </a:rPr>
              <a:t>config</a:t>
            </a:r>
            <a:r>
              <a:rPr lang="en-SG" dirty="0">
                <a:solidFill>
                  <a:srgbClr val="002060"/>
                </a:solidFill>
              </a:rPr>
              <a:t>)#</a:t>
            </a:r>
            <a:r>
              <a:rPr lang="en-SG" dirty="0" err="1">
                <a:solidFill>
                  <a:srgbClr val="002060"/>
                </a:solidFill>
              </a:rPr>
              <a:t>ntp</a:t>
            </a:r>
            <a:r>
              <a:rPr lang="en-SG" dirty="0">
                <a:solidFill>
                  <a:srgbClr val="002060"/>
                </a:solidFill>
              </a:rPr>
              <a:t> logging 	</a:t>
            </a:r>
            <a:r>
              <a:rPr lang="en-SG" sz="2000" i="1" dirty="0">
                <a:solidFill>
                  <a:srgbClr val="002060"/>
                </a:solidFill>
              </a:rPr>
              <a:t>(non-PT)</a:t>
            </a:r>
          </a:p>
          <a:p>
            <a:pPr marL="0" indent="0">
              <a:buNone/>
            </a:pPr>
            <a:r>
              <a:rPr lang="en-SG" dirty="0">
                <a:solidFill>
                  <a:srgbClr val="002060"/>
                </a:solidFill>
              </a:rPr>
              <a:t>R1(</a:t>
            </a:r>
            <a:r>
              <a:rPr lang="en-SG" dirty="0" err="1">
                <a:solidFill>
                  <a:srgbClr val="002060"/>
                </a:solidFill>
              </a:rPr>
              <a:t>config</a:t>
            </a:r>
            <a:r>
              <a:rPr lang="en-SG" dirty="0">
                <a:solidFill>
                  <a:srgbClr val="002060"/>
                </a:solidFill>
              </a:rPr>
              <a:t>)#</a:t>
            </a:r>
            <a:r>
              <a:rPr lang="en-SG" dirty="0" err="1">
                <a:solidFill>
                  <a:srgbClr val="002060"/>
                </a:solidFill>
              </a:rPr>
              <a:t>ntp</a:t>
            </a:r>
            <a:r>
              <a:rPr lang="en-SG" dirty="0">
                <a:solidFill>
                  <a:srgbClr val="002060"/>
                </a:solidFill>
              </a:rPr>
              <a:t> server 10.1.1.1</a:t>
            </a:r>
          </a:p>
          <a:p>
            <a:pPr marL="0" indent="0">
              <a:buNone/>
            </a:pPr>
            <a:r>
              <a:rPr lang="en-SG" dirty="0"/>
              <a:t>Send the router logs to the NTP Server</a:t>
            </a:r>
          </a:p>
          <a:p>
            <a:pPr marL="0" indent="0">
              <a:buNone/>
            </a:pPr>
            <a:endParaRPr lang="en-SG" dirty="0">
              <a:solidFill>
                <a:srgbClr val="002060"/>
              </a:solidFill>
            </a:endParaRPr>
          </a:p>
          <a:p>
            <a:pPr marL="0" indent="0">
              <a:buNone/>
            </a:pPr>
            <a:endParaRPr lang="en-SG" dirty="0"/>
          </a:p>
        </p:txBody>
      </p:sp>
      <p:pic>
        <p:nvPicPr>
          <p:cNvPr id="4" name="Picture 3"/>
          <p:cNvPicPr>
            <a:picLocks noChangeAspect="1"/>
          </p:cNvPicPr>
          <p:nvPr/>
        </p:nvPicPr>
        <p:blipFill>
          <a:blip r:embed="rId2"/>
          <a:stretch>
            <a:fillRect/>
          </a:stretch>
        </p:blipFill>
        <p:spPr>
          <a:xfrm>
            <a:off x="10268693" y="2355247"/>
            <a:ext cx="956306" cy="1482274"/>
          </a:xfrm>
          <a:prstGeom prst="rect">
            <a:avLst/>
          </a:prstGeom>
        </p:spPr>
      </p:pic>
      <p:pic>
        <p:nvPicPr>
          <p:cNvPr id="5" name="Picture 4"/>
          <p:cNvPicPr>
            <a:picLocks noChangeAspect="1"/>
          </p:cNvPicPr>
          <p:nvPr/>
        </p:nvPicPr>
        <p:blipFill>
          <a:blip r:embed="rId3"/>
          <a:stretch>
            <a:fillRect/>
          </a:stretch>
        </p:blipFill>
        <p:spPr>
          <a:xfrm>
            <a:off x="10245914" y="5312480"/>
            <a:ext cx="1182308" cy="786772"/>
          </a:xfrm>
          <a:prstGeom prst="rect">
            <a:avLst/>
          </a:prstGeom>
        </p:spPr>
      </p:pic>
      <p:sp>
        <p:nvSpPr>
          <p:cNvPr id="11" name="TextBox 10"/>
          <p:cNvSpPr txBox="1"/>
          <p:nvPr/>
        </p:nvSpPr>
        <p:spPr>
          <a:xfrm>
            <a:off x="9675947" y="3844494"/>
            <a:ext cx="2128126" cy="646331"/>
          </a:xfrm>
          <a:prstGeom prst="rect">
            <a:avLst/>
          </a:prstGeom>
          <a:noFill/>
        </p:spPr>
        <p:txBody>
          <a:bodyPr wrap="square" rtlCol="0">
            <a:spAutoFit/>
          </a:bodyPr>
          <a:lstStyle/>
          <a:p>
            <a:r>
              <a:rPr lang="en-SG" dirty="0"/>
              <a:t>NTP Server 10.1.1.1</a:t>
            </a:r>
          </a:p>
          <a:p>
            <a:r>
              <a:rPr lang="en-SG" dirty="0"/>
              <a:t>Stratum 1</a:t>
            </a:r>
          </a:p>
        </p:txBody>
      </p:sp>
      <p:sp>
        <p:nvSpPr>
          <p:cNvPr id="12" name="AutoShape 2" descr="Image result for switch cisco icon"/>
          <p:cNvSpPr>
            <a:spLocks noChangeAspect="1" noChangeArrowheads="1"/>
          </p:cNvSpPr>
          <p:nvPr/>
        </p:nvSpPr>
        <p:spPr bwMode="auto">
          <a:xfrm>
            <a:off x="10268693" y="4989749"/>
            <a:ext cx="1535380" cy="40595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SG" dirty="0"/>
              <a:t>R1: Stratum 2</a:t>
            </a:r>
          </a:p>
        </p:txBody>
      </p:sp>
    </p:spTree>
    <p:extLst>
      <p:ext uri="{BB962C8B-B14F-4D97-AF65-F5344CB8AC3E}">
        <p14:creationId xmlns:p14="http://schemas.microsoft.com/office/powerpoint/2010/main" val="2950825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p:cNvCxnSpPr/>
          <p:nvPr/>
        </p:nvCxnSpPr>
        <p:spPr>
          <a:xfrm>
            <a:off x="10762646" y="2630157"/>
            <a:ext cx="0" cy="179637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SG" dirty="0"/>
              <a:t>Securing NTP</a:t>
            </a: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0" lvl="0" indent="0">
              <a:buNone/>
            </a:pPr>
            <a:r>
              <a:rPr lang="en-SG" dirty="0">
                <a:solidFill>
                  <a:srgbClr val="002060"/>
                </a:solidFill>
              </a:rPr>
              <a:t>R1(</a:t>
            </a:r>
            <a:r>
              <a:rPr lang="en-SG" dirty="0" err="1">
                <a:solidFill>
                  <a:srgbClr val="002060"/>
                </a:solidFill>
              </a:rPr>
              <a:t>config</a:t>
            </a:r>
            <a:r>
              <a:rPr lang="en-SG" dirty="0">
                <a:solidFill>
                  <a:srgbClr val="002060"/>
                </a:solidFill>
              </a:rPr>
              <a:t>)#</a:t>
            </a:r>
            <a:r>
              <a:rPr lang="en-SG" dirty="0" err="1">
                <a:solidFill>
                  <a:srgbClr val="002060"/>
                </a:solidFill>
              </a:rPr>
              <a:t>ntp</a:t>
            </a:r>
            <a:r>
              <a:rPr lang="en-SG" dirty="0">
                <a:solidFill>
                  <a:srgbClr val="002060"/>
                </a:solidFill>
              </a:rPr>
              <a:t> master 2    </a:t>
            </a:r>
            <a:r>
              <a:rPr lang="en-SG" sz="2000" i="1" dirty="0">
                <a:solidFill>
                  <a:srgbClr val="002060"/>
                </a:solidFill>
              </a:rPr>
              <a:t>(non-PT)</a:t>
            </a:r>
          </a:p>
          <a:p>
            <a:pPr marL="0" indent="0">
              <a:buNone/>
            </a:pPr>
            <a:r>
              <a:rPr lang="en-SG" dirty="0"/>
              <a:t>Since R1 was at stratum 2 we configure it as master 2.</a:t>
            </a:r>
          </a:p>
          <a:p>
            <a:pPr marL="0" indent="0">
              <a:buNone/>
            </a:pPr>
            <a:r>
              <a:rPr lang="en-SG" dirty="0">
                <a:solidFill>
                  <a:srgbClr val="002060"/>
                </a:solidFill>
              </a:rPr>
              <a:t>R1(</a:t>
            </a:r>
            <a:r>
              <a:rPr lang="en-SG" dirty="0" err="1">
                <a:solidFill>
                  <a:srgbClr val="002060"/>
                </a:solidFill>
              </a:rPr>
              <a:t>config</a:t>
            </a:r>
            <a:r>
              <a:rPr lang="en-SG" dirty="0">
                <a:solidFill>
                  <a:srgbClr val="002060"/>
                </a:solidFill>
              </a:rPr>
              <a:t>)#</a:t>
            </a:r>
            <a:r>
              <a:rPr lang="en-SG" dirty="0" err="1">
                <a:solidFill>
                  <a:srgbClr val="002060"/>
                </a:solidFill>
              </a:rPr>
              <a:t>ntp</a:t>
            </a:r>
            <a:r>
              <a:rPr lang="en-SG" dirty="0">
                <a:solidFill>
                  <a:srgbClr val="002060"/>
                </a:solidFill>
              </a:rPr>
              <a:t> authenticate</a:t>
            </a:r>
          </a:p>
          <a:p>
            <a:pPr marL="0" indent="0">
              <a:buNone/>
            </a:pPr>
            <a:r>
              <a:rPr lang="en-SG" dirty="0"/>
              <a:t>Activate the NTP Authentication.</a:t>
            </a:r>
          </a:p>
          <a:p>
            <a:pPr marL="0" indent="0">
              <a:buNone/>
            </a:pPr>
            <a:r>
              <a:rPr lang="en-SG" dirty="0">
                <a:solidFill>
                  <a:srgbClr val="002060"/>
                </a:solidFill>
              </a:rPr>
              <a:t>R1(</a:t>
            </a:r>
            <a:r>
              <a:rPr lang="en-SG" dirty="0" err="1">
                <a:solidFill>
                  <a:srgbClr val="002060"/>
                </a:solidFill>
              </a:rPr>
              <a:t>config</a:t>
            </a:r>
            <a:r>
              <a:rPr lang="en-SG" dirty="0">
                <a:solidFill>
                  <a:srgbClr val="002060"/>
                </a:solidFill>
              </a:rPr>
              <a:t>)#</a:t>
            </a:r>
            <a:r>
              <a:rPr lang="en-SG" dirty="0" err="1">
                <a:solidFill>
                  <a:srgbClr val="002060"/>
                </a:solidFill>
              </a:rPr>
              <a:t>ntp</a:t>
            </a:r>
            <a:r>
              <a:rPr lang="en-SG" dirty="0">
                <a:solidFill>
                  <a:srgbClr val="002060"/>
                </a:solidFill>
              </a:rPr>
              <a:t> authentication-key 1 md5 </a:t>
            </a:r>
            <a:r>
              <a:rPr lang="en-SG" dirty="0" err="1">
                <a:solidFill>
                  <a:srgbClr val="002060"/>
                </a:solidFill>
              </a:rPr>
              <a:t>nypsec</a:t>
            </a:r>
            <a:endParaRPr lang="en-SG" dirty="0">
              <a:solidFill>
                <a:srgbClr val="002060"/>
              </a:solidFill>
            </a:endParaRPr>
          </a:p>
          <a:p>
            <a:pPr marL="0" indent="0">
              <a:buNone/>
            </a:pPr>
            <a:r>
              <a:rPr lang="en-SG" dirty="0"/>
              <a:t>Router uses MD5 hash and authentication key “</a:t>
            </a:r>
            <a:r>
              <a:rPr lang="en-SG" dirty="0" err="1"/>
              <a:t>nypsec</a:t>
            </a:r>
            <a:r>
              <a:rPr lang="en-SG" dirty="0"/>
              <a:t>”. A client should have the same key in order for R1 server to send the time to it.</a:t>
            </a:r>
          </a:p>
          <a:p>
            <a:pPr marL="0" indent="0">
              <a:buNone/>
            </a:pPr>
            <a:r>
              <a:rPr lang="en-SG" dirty="0">
                <a:solidFill>
                  <a:srgbClr val="002060"/>
                </a:solidFill>
              </a:rPr>
              <a:t>R1(</a:t>
            </a:r>
            <a:r>
              <a:rPr lang="en-SG" dirty="0" err="1">
                <a:solidFill>
                  <a:srgbClr val="002060"/>
                </a:solidFill>
              </a:rPr>
              <a:t>config</a:t>
            </a:r>
            <a:r>
              <a:rPr lang="en-SG" dirty="0">
                <a:solidFill>
                  <a:srgbClr val="002060"/>
                </a:solidFill>
              </a:rPr>
              <a:t>)#</a:t>
            </a:r>
            <a:r>
              <a:rPr lang="en-SG" dirty="0" err="1">
                <a:solidFill>
                  <a:srgbClr val="002060"/>
                </a:solidFill>
              </a:rPr>
              <a:t>ntp</a:t>
            </a:r>
            <a:r>
              <a:rPr lang="en-SG" dirty="0">
                <a:solidFill>
                  <a:srgbClr val="002060"/>
                </a:solidFill>
              </a:rPr>
              <a:t> trusted-key 1</a:t>
            </a:r>
          </a:p>
          <a:p>
            <a:pPr marL="0" indent="0">
              <a:buNone/>
            </a:pPr>
            <a:r>
              <a:rPr lang="en-SG" dirty="0"/>
              <a:t>A Router’s default trusted key is 0, i.e. no NTP authentication. So in order to change this, you need to define the above to take key 1.</a:t>
            </a:r>
          </a:p>
          <a:p>
            <a:pPr marL="0" indent="0">
              <a:buNone/>
            </a:pPr>
            <a:endParaRPr lang="en-SG" dirty="0"/>
          </a:p>
        </p:txBody>
      </p:sp>
      <p:pic>
        <p:nvPicPr>
          <p:cNvPr id="5" name="Picture 4"/>
          <p:cNvPicPr>
            <a:picLocks noChangeAspect="1"/>
          </p:cNvPicPr>
          <p:nvPr/>
        </p:nvPicPr>
        <p:blipFill>
          <a:blip r:embed="rId2"/>
          <a:stretch>
            <a:fillRect/>
          </a:stretch>
        </p:blipFill>
        <p:spPr>
          <a:xfrm>
            <a:off x="10171492" y="2236771"/>
            <a:ext cx="1182308" cy="786772"/>
          </a:xfrm>
          <a:prstGeom prst="rect">
            <a:avLst/>
          </a:prstGeom>
        </p:spPr>
      </p:pic>
      <p:pic>
        <p:nvPicPr>
          <p:cNvPr id="6" name="Picture 5"/>
          <p:cNvPicPr>
            <a:picLocks noChangeAspect="1"/>
          </p:cNvPicPr>
          <p:nvPr/>
        </p:nvPicPr>
        <p:blipFill>
          <a:blip r:embed="rId3"/>
          <a:stretch>
            <a:fillRect/>
          </a:stretch>
        </p:blipFill>
        <p:spPr>
          <a:xfrm>
            <a:off x="10001945" y="4426527"/>
            <a:ext cx="1521402" cy="760701"/>
          </a:xfrm>
          <a:prstGeom prst="rect">
            <a:avLst/>
          </a:prstGeom>
        </p:spPr>
      </p:pic>
      <p:sp>
        <p:nvSpPr>
          <p:cNvPr id="7" name="AutoShape 2" descr="Image result for switch cisco icon"/>
          <p:cNvSpPr>
            <a:spLocks noChangeAspect="1" noChangeArrowheads="1"/>
          </p:cNvSpPr>
          <p:nvPr/>
        </p:nvSpPr>
        <p:spPr bwMode="auto">
          <a:xfrm>
            <a:off x="9849422" y="2880014"/>
            <a:ext cx="1535380" cy="40595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SG" dirty="0"/>
              <a:t>R1: Stratum 2</a:t>
            </a:r>
          </a:p>
        </p:txBody>
      </p:sp>
    </p:spTree>
    <p:extLst>
      <p:ext uri="{BB962C8B-B14F-4D97-AF65-F5344CB8AC3E}">
        <p14:creationId xmlns:p14="http://schemas.microsoft.com/office/powerpoint/2010/main" val="3089602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SG" dirty="0">
                <a:solidFill>
                  <a:srgbClr val="002060"/>
                </a:solidFill>
              </a:rPr>
              <a:t>Sw1(</a:t>
            </a:r>
            <a:r>
              <a:rPr lang="en-SG" dirty="0" err="1">
                <a:solidFill>
                  <a:srgbClr val="002060"/>
                </a:solidFill>
              </a:rPr>
              <a:t>config</a:t>
            </a:r>
            <a:r>
              <a:rPr lang="en-SG" dirty="0">
                <a:solidFill>
                  <a:srgbClr val="002060"/>
                </a:solidFill>
              </a:rPr>
              <a:t>)#</a:t>
            </a:r>
            <a:r>
              <a:rPr lang="en-SG" dirty="0" err="1">
                <a:solidFill>
                  <a:srgbClr val="002060"/>
                </a:solidFill>
              </a:rPr>
              <a:t>ntp</a:t>
            </a:r>
            <a:r>
              <a:rPr lang="en-SG" dirty="0">
                <a:solidFill>
                  <a:srgbClr val="002060"/>
                </a:solidFill>
              </a:rPr>
              <a:t> logging</a:t>
            </a:r>
          </a:p>
          <a:p>
            <a:pPr marL="0" indent="0">
              <a:buNone/>
            </a:pPr>
            <a:r>
              <a:rPr lang="en-SG" dirty="0">
                <a:solidFill>
                  <a:srgbClr val="002060"/>
                </a:solidFill>
              </a:rPr>
              <a:t>Sw1(</a:t>
            </a:r>
            <a:r>
              <a:rPr lang="en-SG" dirty="0" err="1">
                <a:solidFill>
                  <a:srgbClr val="002060"/>
                </a:solidFill>
              </a:rPr>
              <a:t>config</a:t>
            </a:r>
            <a:r>
              <a:rPr lang="en-SG" dirty="0">
                <a:solidFill>
                  <a:srgbClr val="002060"/>
                </a:solidFill>
              </a:rPr>
              <a:t>)#</a:t>
            </a:r>
            <a:r>
              <a:rPr lang="en-SG" dirty="0" err="1">
                <a:solidFill>
                  <a:srgbClr val="002060"/>
                </a:solidFill>
              </a:rPr>
              <a:t>ntp</a:t>
            </a:r>
            <a:r>
              <a:rPr lang="en-SG" dirty="0">
                <a:solidFill>
                  <a:srgbClr val="002060"/>
                </a:solidFill>
              </a:rPr>
              <a:t> server 10.1.1.1</a:t>
            </a:r>
          </a:p>
          <a:p>
            <a:pPr marL="0" indent="0">
              <a:buNone/>
            </a:pPr>
            <a:r>
              <a:rPr lang="en-SG" dirty="0">
                <a:solidFill>
                  <a:srgbClr val="002060"/>
                </a:solidFill>
              </a:rPr>
              <a:t>Sw1(</a:t>
            </a:r>
            <a:r>
              <a:rPr lang="en-SG" dirty="0" err="1">
                <a:solidFill>
                  <a:srgbClr val="002060"/>
                </a:solidFill>
              </a:rPr>
              <a:t>config</a:t>
            </a:r>
            <a:r>
              <a:rPr lang="en-SG" dirty="0">
                <a:solidFill>
                  <a:srgbClr val="002060"/>
                </a:solidFill>
              </a:rPr>
              <a:t>)#</a:t>
            </a:r>
            <a:r>
              <a:rPr lang="en-SG" dirty="0" err="1">
                <a:solidFill>
                  <a:srgbClr val="002060"/>
                </a:solidFill>
              </a:rPr>
              <a:t>ntp</a:t>
            </a:r>
            <a:r>
              <a:rPr lang="en-SG" dirty="0">
                <a:solidFill>
                  <a:srgbClr val="002060"/>
                </a:solidFill>
              </a:rPr>
              <a:t> authenticate</a:t>
            </a:r>
          </a:p>
          <a:p>
            <a:pPr marL="0" indent="0">
              <a:buNone/>
            </a:pPr>
            <a:r>
              <a:rPr lang="en-SG" dirty="0">
                <a:solidFill>
                  <a:srgbClr val="002060"/>
                </a:solidFill>
              </a:rPr>
              <a:t>Sw1(</a:t>
            </a:r>
            <a:r>
              <a:rPr lang="en-SG" dirty="0" err="1">
                <a:solidFill>
                  <a:srgbClr val="002060"/>
                </a:solidFill>
              </a:rPr>
              <a:t>config</a:t>
            </a:r>
            <a:r>
              <a:rPr lang="en-SG" dirty="0">
                <a:solidFill>
                  <a:srgbClr val="002060"/>
                </a:solidFill>
              </a:rPr>
              <a:t>)#</a:t>
            </a:r>
            <a:r>
              <a:rPr lang="en-SG" dirty="0" err="1">
                <a:solidFill>
                  <a:srgbClr val="002060"/>
                </a:solidFill>
              </a:rPr>
              <a:t>ntp</a:t>
            </a:r>
            <a:r>
              <a:rPr lang="en-SG" dirty="0">
                <a:solidFill>
                  <a:srgbClr val="002060"/>
                </a:solidFill>
              </a:rPr>
              <a:t> authentication-key 1 md5 </a:t>
            </a:r>
            <a:r>
              <a:rPr lang="en-SG" dirty="0" err="1">
                <a:solidFill>
                  <a:srgbClr val="002060"/>
                </a:solidFill>
              </a:rPr>
              <a:t>nypsec</a:t>
            </a:r>
            <a:endParaRPr lang="en-SG" dirty="0">
              <a:solidFill>
                <a:srgbClr val="002060"/>
              </a:solidFill>
            </a:endParaRPr>
          </a:p>
          <a:p>
            <a:pPr marL="0" indent="0">
              <a:buNone/>
            </a:pPr>
            <a:r>
              <a:rPr lang="en-SG" dirty="0">
                <a:solidFill>
                  <a:srgbClr val="002060"/>
                </a:solidFill>
              </a:rPr>
              <a:t>Sw1(</a:t>
            </a:r>
            <a:r>
              <a:rPr lang="en-SG" dirty="0" err="1">
                <a:solidFill>
                  <a:srgbClr val="002060"/>
                </a:solidFill>
              </a:rPr>
              <a:t>config</a:t>
            </a:r>
            <a:r>
              <a:rPr lang="en-SG" dirty="0">
                <a:solidFill>
                  <a:srgbClr val="002060"/>
                </a:solidFill>
              </a:rPr>
              <a:t>)#</a:t>
            </a:r>
            <a:r>
              <a:rPr lang="en-SG" dirty="0" err="1">
                <a:solidFill>
                  <a:srgbClr val="002060"/>
                </a:solidFill>
              </a:rPr>
              <a:t>ntp</a:t>
            </a:r>
            <a:r>
              <a:rPr lang="en-SG" dirty="0">
                <a:solidFill>
                  <a:srgbClr val="002060"/>
                </a:solidFill>
              </a:rPr>
              <a:t> trusted-key 1</a:t>
            </a:r>
          </a:p>
          <a:p>
            <a:pPr marL="0" indent="0">
              <a:buNone/>
            </a:pPr>
            <a:r>
              <a:rPr lang="en-SG" dirty="0"/>
              <a:t>The client switch configuration is as shown above.</a:t>
            </a:r>
          </a:p>
          <a:p>
            <a:pPr marL="0" indent="0">
              <a:buNone/>
            </a:pPr>
            <a:r>
              <a:rPr lang="en-SG" dirty="0"/>
              <a:t>Verify using the “</a:t>
            </a:r>
            <a:r>
              <a:rPr lang="en-SG" dirty="0" err="1"/>
              <a:t>sh</a:t>
            </a:r>
            <a:r>
              <a:rPr lang="en-SG" dirty="0"/>
              <a:t> </a:t>
            </a:r>
            <a:r>
              <a:rPr lang="en-SG" dirty="0" err="1"/>
              <a:t>ntp</a:t>
            </a:r>
            <a:r>
              <a:rPr lang="en-SG" dirty="0"/>
              <a:t> status” commands. </a:t>
            </a:r>
          </a:p>
          <a:p>
            <a:pPr marL="0" indent="0">
              <a:buNone/>
            </a:pPr>
            <a:r>
              <a:rPr lang="en-SG" dirty="0"/>
              <a:t>Note: PT doesn’t support NTP on Switches.</a:t>
            </a:r>
          </a:p>
        </p:txBody>
      </p:sp>
      <p:sp>
        <p:nvSpPr>
          <p:cNvPr id="4" name="Title 1"/>
          <p:cNvSpPr>
            <a:spLocks noGrp="1"/>
          </p:cNvSpPr>
          <p:nvPr>
            <p:ph type="title"/>
          </p:nvPr>
        </p:nvSpPr>
        <p:spPr>
          <a:xfrm>
            <a:off x="838200" y="365125"/>
            <a:ext cx="10515600" cy="1325563"/>
          </a:xfrm>
        </p:spPr>
        <p:txBody>
          <a:bodyPr/>
          <a:lstStyle/>
          <a:p>
            <a:r>
              <a:rPr lang="en-SG" dirty="0"/>
              <a:t>Securing NTP Continued…</a:t>
            </a:r>
          </a:p>
        </p:txBody>
      </p:sp>
      <p:cxnSp>
        <p:nvCxnSpPr>
          <p:cNvPr id="5" name="Straight Connector 4"/>
          <p:cNvCxnSpPr/>
          <p:nvPr/>
        </p:nvCxnSpPr>
        <p:spPr>
          <a:xfrm>
            <a:off x="10762646" y="2630157"/>
            <a:ext cx="0" cy="179637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stretch>
            <a:fillRect/>
          </a:stretch>
        </p:blipFill>
        <p:spPr>
          <a:xfrm>
            <a:off x="10171492" y="2236771"/>
            <a:ext cx="1182308" cy="786772"/>
          </a:xfrm>
          <a:prstGeom prst="rect">
            <a:avLst/>
          </a:prstGeom>
        </p:spPr>
      </p:pic>
      <p:pic>
        <p:nvPicPr>
          <p:cNvPr id="7" name="Picture 6"/>
          <p:cNvPicPr>
            <a:picLocks noChangeAspect="1"/>
          </p:cNvPicPr>
          <p:nvPr/>
        </p:nvPicPr>
        <p:blipFill>
          <a:blip r:embed="rId3"/>
          <a:stretch>
            <a:fillRect/>
          </a:stretch>
        </p:blipFill>
        <p:spPr>
          <a:xfrm>
            <a:off x="10001945" y="4426527"/>
            <a:ext cx="1521402" cy="760701"/>
          </a:xfrm>
          <a:prstGeom prst="rect">
            <a:avLst/>
          </a:prstGeom>
        </p:spPr>
      </p:pic>
      <p:sp>
        <p:nvSpPr>
          <p:cNvPr id="8" name="AutoShape 2" descr="Image result for switch cisco icon"/>
          <p:cNvSpPr>
            <a:spLocks noChangeAspect="1" noChangeArrowheads="1"/>
          </p:cNvSpPr>
          <p:nvPr/>
        </p:nvSpPr>
        <p:spPr bwMode="auto">
          <a:xfrm>
            <a:off x="9849422" y="2880014"/>
            <a:ext cx="1535380" cy="40595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SG" dirty="0"/>
              <a:t>R1: Stratum 2</a:t>
            </a:r>
          </a:p>
        </p:txBody>
      </p:sp>
    </p:spTree>
    <p:extLst>
      <p:ext uri="{BB962C8B-B14F-4D97-AF65-F5344CB8AC3E}">
        <p14:creationId xmlns:p14="http://schemas.microsoft.com/office/powerpoint/2010/main" val="3296849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Authentication, Authorization, Accounting</a:t>
            </a:r>
          </a:p>
        </p:txBody>
      </p:sp>
      <p:sp>
        <p:nvSpPr>
          <p:cNvPr id="3" name="Content Placeholder 2"/>
          <p:cNvSpPr>
            <a:spLocks noGrp="1"/>
          </p:cNvSpPr>
          <p:nvPr>
            <p:ph idx="1"/>
          </p:nvPr>
        </p:nvSpPr>
        <p:spPr>
          <a:xfrm>
            <a:off x="838200" y="1463040"/>
            <a:ext cx="10515600" cy="5074920"/>
          </a:xfrm>
        </p:spPr>
        <p:txBody>
          <a:bodyPr>
            <a:normAutofit lnSpcReduction="10000"/>
          </a:bodyPr>
          <a:lstStyle/>
          <a:p>
            <a:r>
              <a:rPr lang="en-SG" dirty="0"/>
              <a:t>AAA is a framework for controlling access to IT equipment, enforcing rights of access and providing info necessary for billing of services.</a:t>
            </a:r>
          </a:p>
          <a:p>
            <a:r>
              <a:rPr lang="en-SG" dirty="0"/>
              <a:t>AAA is considered very important in network management and security.</a:t>
            </a:r>
          </a:p>
          <a:p>
            <a:r>
              <a:rPr lang="en-SG" dirty="0"/>
              <a:t>Authentication: Provides a way to identify a user. If credentials match (username/password), user is given access.</a:t>
            </a:r>
          </a:p>
          <a:p>
            <a:r>
              <a:rPr lang="en-SG" dirty="0"/>
              <a:t>Authorization: After gaining access, user must have rights to do certain tasks, like accessing database, issuing ‘del’ commands. Usually, this step is combined with the authentication process where user is only given certain access based on their credentials</a:t>
            </a:r>
          </a:p>
          <a:p>
            <a:r>
              <a:rPr lang="en-SG" dirty="0"/>
              <a:t>Accounting: Measures the resources the user consumes during access for billing , trend analysis and capacity planning.</a:t>
            </a:r>
          </a:p>
          <a:p>
            <a:pPr marL="0" indent="0">
              <a:buNone/>
            </a:pPr>
            <a:endParaRPr lang="en-SG" dirty="0"/>
          </a:p>
        </p:txBody>
      </p:sp>
    </p:spTree>
    <p:extLst>
      <p:ext uri="{BB962C8B-B14F-4D97-AF65-F5344CB8AC3E}">
        <p14:creationId xmlns:p14="http://schemas.microsoft.com/office/powerpoint/2010/main" val="2610309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AAA security</a:t>
            </a:r>
          </a:p>
        </p:txBody>
      </p:sp>
      <p:pic>
        <p:nvPicPr>
          <p:cNvPr id="4" name="Picture 6" descr="Credit-cards"/>
          <p:cNvPicPr>
            <a:picLocks noChangeAspect="1" noChangeArrowheads="1"/>
          </p:cNvPicPr>
          <p:nvPr/>
        </p:nvPicPr>
        <p:blipFill>
          <a:blip r:embed="rId2" cstate="print"/>
          <a:srcRect/>
          <a:stretch>
            <a:fillRect/>
          </a:stretch>
        </p:blipFill>
        <p:spPr bwMode="auto">
          <a:xfrm>
            <a:off x="2522561" y="1998260"/>
            <a:ext cx="3352800" cy="2514600"/>
          </a:xfrm>
          <a:prstGeom prst="rect">
            <a:avLst/>
          </a:prstGeom>
          <a:noFill/>
          <a:ln w="9525">
            <a:noFill/>
            <a:miter lim="800000"/>
            <a:headEnd/>
            <a:tailEnd/>
          </a:ln>
        </p:spPr>
      </p:pic>
      <p:pic>
        <p:nvPicPr>
          <p:cNvPr id="5" name="Picture 7"/>
          <p:cNvPicPr>
            <a:picLocks noChangeAspect="1" noChangeArrowheads="1"/>
          </p:cNvPicPr>
          <p:nvPr/>
        </p:nvPicPr>
        <p:blipFill>
          <a:blip r:embed="rId3" cstate="print">
            <a:lum bright="-14000" contrast="-32000"/>
            <a:grayscl/>
          </a:blip>
          <a:srcRect/>
          <a:stretch>
            <a:fillRect/>
          </a:stretch>
        </p:blipFill>
        <p:spPr bwMode="auto">
          <a:xfrm>
            <a:off x="6126186" y="1922060"/>
            <a:ext cx="3632200" cy="4422775"/>
          </a:xfrm>
          <a:prstGeom prst="rect">
            <a:avLst/>
          </a:prstGeom>
          <a:solidFill>
            <a:schemeClr val="bg1"/>
          </a:solidFill>
          <a:ln w="9525">
            <a:noFill/>
            <a:miter lim="800000"/>
            <a:headEnd/>
            <a:tailEnd/>
          </a:ln>
        </p:spPr>
      </p:pic>
      <p:sp>
        <p:nvSpPr>
          <p:cNvPr id="6" name="Oval 8"/>
          <p:cNvSpPr>
            <a:spLocks noChangeArrowheads="1"/>
          </p:cNvSpPr>
          <p:nvPr/>
        </p:nvSpPr>
        <p:spPr bwMode="auto">
          <a:xfrm rot="20358273">
            <a:off x="3365524" y="2839635"/>
            <a:ext cx="1690687" cy="504825"/>
          </a:xfrm>
          <a:prstGeom prst="ellipse">
            <a:avLst/>
          </a:prstGeom>
          <a:solidFill>
            <a:schemeClr val="bg1">
              <a:alpha val="34901"/>
            </a:schemeClr>
          </a:solidFill>
          <a:ln w="9525">
            <a:solidFill>
              <a:schemeClr val="tx1"/>
            </a:solidFill>
            <a:round/>
            <a:headEnd/>
            <a:tailEnd/>
          </a:ln>
        </p:spPr>
        <p:txBody>
          <a:bodyPr wrap="none" anchor="ctr"/>
          <a:lstStyle/>
          <a:p>
            <a:endParaRPr lang="en-US"/>
          </a:p>
        </p:txBody>
      </p:sp>
      <p:sp>
        <p:nvSpPr>
          <p:cNvPr id="7" name="Oval 9"/>
          <p:cNvSpPr>
            <a:spLocks noChangeArrowheads="1"/>
          </p:cNvSpPr>
          <p:nvPr/>
        </p:nvSpPr>
        <p:spPr bwMode="auto">
          <a:xfrm>
            <a:off x="6027761" y="4741460"/>
            <a:ext cx="3886200" cy="1981200"/>
          </a:xfrm>
          <a:prstGeom prst="ellipse">
            <a:avLst/>
          </a:prstGeom>
          <a:solidFill>
            <a:schemeClr val="bg1">
              <a:alpha val="32941"/>
            </a:schemeClr>
          </a:solidFill>
          <a:ln w="9525">
            <a:solidFill>
              <a:schemeClr val="tx1"/>
            </a:solidFill>
            <a:round/>
            <a:headEnd/>
            <a:tailEnd/>
          </a:ln>
        </p:spPr>
        <p:txBody>
          <a:bodyPr wrap="none" anchor="ctr"/>
          <a:lstStyle/>
          <a:p>
            <a:endParaRPr lang="en-US"/>
          </a:p>
        </p:txBody>
      </p:sp>
      <p:sp>
        <p:nvSpPr>
          <p:cNvPr id="8" name="Oval 10"/>
          <p:cNvSpPr>
            <a:spLocks noChangeArrowheads="1"/>
          </p:cNvSpPr>
          <p:nvPr/>
        </p:nvSpPr>
        <p:spPr bwMode="auto">
          <a:xfrm>
            <a:off x="6103961" y="2226860"/>
            <a:ext cx="3657600" cy="533400"/>
          </a:xfrm>
          <a:prstGeom prst="ellipse">
            <a:avLst/>
          </a:prstGeom>
          <a:solidFill>
            <a:schemeClr val="bg1">
              <a:alpha val="41176"/>
            </a:schemeClr>
          </a:solidFill>
          <a:ln w="9525">
            <a:solidFill>
              <a:schemeClr val="tx1"/>
            </a:solidFill>
            <a:round/>
            <a:headEnd/>
            <a:tailEnd/>
          </a:ln>
        </p:spPr>
        <p:txBody>
          <a:bodyPr wrap="none" anchor="ctr"/>
          <a:lstStyle/>
          <a:p>
            <a:endParaRPr lang="en-US"/>
          </a:p>
        </p:txBody>
      </p:sp>
      <p:sp>
        <p:nvSpPr>
          <p:cNvPr id="9" name="Line 11"/>
          <p:cNvSpPr>
            <a:spLocks noChangeShapeType="1"/>
          </p:cNvSpPr>
          <p:nvPr/>
        </p:nvSpPr>
        <p:spPr bwMode="auto">
          <a:xfrm>
            <a:off x="4732361" y="5670148"/>
            <a:ext cx="1295400" cy="0"/>
          </a:xfrm>
          <a:prstGeom prst="line">
            <a:avLst/>
          </a:prstGeom>
          <a:noFill/>
          <a:ln w="38100">
            <a:solidFill>
              <a:schemeClr val="tx2">
                <a:lumMod val="50000"/>
              </a:schemeClr>
            </a:solidFill>
            <a:round/>
            <a:headEnd/>
            <a:tailEnd type="triangle" w="med" len="med"/>
          </a:ln>
        </p:spPr>
        <p:txBody>
          <a:bodyPr/>
          <a:lstStyle/>
          <a:p>
            <a:endParaRPr lang="en-US"/>
          </a:p>
        </p:txBody>
      </p:sp>
      <p:sp>
        <p:nvSpPr>
          <p:cNvPr id="10" name="Rectangle 12"/>
          <p:cNvSpPr>
            <a:spLocks noChangeArrowheads="1"/>
          </p:cNvSpPr>
          <p:nvPr/>
        </p:nvSpPr>
        <p:spPr bwMode="auto">
          <a:xfrm>
            <a:off x="2970236" y="5365348"/>
            <a:ext cx="1970088" cy="614362"/>
          </a:xfrm>
          <a:prstGeom prst="rect">
            <a:avLst/>
          </a:prstGeom>
          <a:noFill/>
          <a:ln w="28575" algn="ctr">
            <a:noFill/>
            <a:miter lim="800000"/>
            <a:headEnd/>
            <a:tailEnd/>
          </a:ln>
          <a:effectLst>
            <a:outerShdw dist="35921" dir="2700000" algn="ctr" rotWithShape="0">
              <a:schemeClr val="bg2"/>
            </a:outerShdw>
          </a:effectLst>
        </p:spPr>
        <p:txBody>
          <a:bodyPr wrap="none">
            <a:spAutoFit/>
          </a:bodyPr>
          <a:lstStyle/>
          <a:p>
            <a:pPr algn="ctr">
              <a:lnSpc>
                <a:spcPct val="100000"/>
              </a:lnSpc>
              <a:spcBef>
                <a:spcPct val="20000"/>
              </a:spcBef>
              <a:defRPr/>
            </a:pPr>
            <a:r>
              <a:rPr lang="en-US" sz="1800"/>
              <a:t>Accounting</a:t>
            </a:r>
          </a:p>
          <a:p>
            <a:pPr algn="ctr">
              <a:lnSpc>
                <a:spcPct val="100000"/>
              </a:lnSpc>
              <a:spcBef>
                <a:spcPct val="20000"/>
              </a:spcBef>
              <a:defRPr/>
            </a:pPr>
            <a:r>
              <a:rPr lang="en-US" sz="1200"/>
              <a:t>What did you spend it on?</a:t>
            </a:r>
          </a:p>
        </p:txBody>
      </p:sp>
      <p:sp>
        <p:nvSpPr>
          <p:cNvPr id="11" name="Line 13"/>
          <p:cNvSpPr>
            <a:spLocks noChangeShapeType="1"/>
          </p:cNvSpPr>
          <p:nvPr/>
        </p:nvSpPr>
        <p:spPr bwMode="auto">
          <a:xfrm>
            <a:off x="4170386" y="2226860"/>
            <a:ext cx="0" cy="762000"/>
          </a:xfrm>
          <a:prstGeom prst="line">
            <a:avLst/>
          </a:prstGeom>
          <a:noFill/>
          <a:ln w="38100">
            <a:solidFill>
              <a:schemeClr val="tx2">
                <a:lumMod val="50000"/>
              </a:schemeClr>
            </a:solidFill>
            <a:round/>
            <a:headEnd/>
            <a:tailEnd type="triangle" w="med" len="med"/>
          </a:ln>
        </p:spPr>
        <p:txBody>
          <a:bodyPr/>
          <a:lstStyle/>
          <a:p>
            <a:endParaRPr lang="en-US"/>
          </a:p>
        </p:txBody>
      </p:sp>
      <p:sp>
        <p:nvSpPr>
          <p:cNvPr id="12" name="Rectangle 14"/>
          <p:cNvSpPr>
            <a:spLocks noChangeArrowheads="1"/>
          </p:cNvSpPr>
          <p:nvPr/>
        </p:nvSpPr>
        <p:spPr bwMode="auto">
          <a:xfrm>
            <a:off x="3338536" y="1693460"/>
            <a:ext cx="1660525" cy="614363"/>
          </a:xfrm>
          <a:prstGeom prst="rect">
            <a:avLst/>
          </a:prstGeom>
          <a:noFill/>
          <a:ln w="28575">
            <a:noFill/>
            <a:miter lim="800000"/>
            <a:headEnd/>
            <a:tailEnd/>
          </a:ln>
          <a:effectLst>
            <a:outerShdw dist="35921" dir="2700000" algn="ctr" rotWithShape="0">
              <a:schemeClr val="bg2"/>
            </a:outerShdw>
          </a:effectLst>
        </p:spPr>
        <p:txBody>
          <a:bodyPr wrap="none">
            <a:spAutoFit/>
          </a:bodyPr>
          <a:lstStyle/>
          <a:p>
            <a:pPr algn="ctr">
              <a:lnSpc>
                <a:spcPct val="100000"/>
              </a:lnSpc>
              <a:spcBef>
                <a:spcPct val="20000"/>
              </a:spcBef>
              <a:defRPr/>
            </a:pPr>
            <a:r>
              <a:rPr lang="en-US" sz="1800" dirty="0"/>
              <a:t>Authentication</a:t>
            </a:r>
          </a:p>
          <a:p>
            <a:pPr algn="ctr">
              <a:lnSpc>
                <a:spcPct val="100000"/>
              </a:lnSpc>
              <a:spcBef>
                <a:spcPct val="20000"/>
              </a:spcBef>
              <a:defRPr/>
            </a:pPr>
            <a:r>
              <a:rPr lang="en-US" sz="1200" dirty="0"/>
              <a:t>Who are you?</a:t>
            </a:r>
          </a:p>
        </p:txBody>
      </p:sp>
      <p:sp>
        <p:nvSpPr>
          <p:cNvPr id="13" name="Line 15"/>
          <p:cNvSpPr>
            <a:spLocks noChangeShapeType="1"/>
          </p:cNvSpPr>
          <p:nvPr/>
        </p:nvSpPr>
        <p:spPr bwMode="auto">
          <a:xfrm>
            <a:off x="7551761" y="1388660"/>
            <a:ext cx="0" cy="1143000"/>
          </a:xfrm>
          <a:prstGeom prst="line">
            <a:avLst/>
          </a:prstGeom>
          <a:noFill/>
          <a:ln w="38100">
            <a:solidFill>
              <a:schemeClr val="tx2">
                <a:lumMod val="50000"/>
              </a:schemeClr>
            </a:solidFill>
            <a:round/>
            <a:headEnd/>
            <a:tailEnd type="triangle" w="med" len="med"/>
          </a:ln>
        </p:spPr>
        <p:txBody>
          <a:bodyPr/>
          <a:lstStyle/>
          <a:p>
            <a:endParaRPr lang="en-US"/>
          </a:p>
        </p:txBody>
      </p:sp>
      <p:sp>
        <p:nvSpPr>
          <p:cNvPr id="14" name="Rectangle 16"/>
          <p:cNvSpPr>
            <a:spLocks noChangeArrowheads="1"/>
          </p:cNvSpPr>
          <p:nvPr/>
        </p:nvSpPr>
        <p:spPr bwMode="auto">
          <a:xfrm>
            <a:off x="6103961" y="541492"/>
            <a:ext cx="4073525" cy="812800"/>
          </a:xfrm>
          <a:prstGeom prst="rect">
            <a:avLst/>
          </a:prstGeom>
          <a:noFill/>
          <a:ln w="28575" algn="ctr">
            <a:noFill/>
            <a:miter lim="800000"/>
            <a:headEnd/>
            <a:tailEnd/>
          </a:ln>
          <a:effectLst>
            <a:outerShdw dist="35921" dir="2700000" algn="ctr" rotWithShape="0">
              <a:schemeClr val="bg2"/>
            </a:outerShdw>
          </a:effectLst>
        </p:spPr>
        <p:txBody>
          <a:bodyPr wrap="none">
            <a:spAutoFit/>
          </a:bodyPr>
          <a:lstStyle/>
          <a:p>
            <a:pPr algn="ctr">
              <a:lnSpc>
                <a:spcPct val="100000"/>
              </a:lnSpc>
              <a:spcBef>
                <a:spcPct val="20000"/>
              </a:spcBef>
              <a:defRPr/>
            </a:pPr>
            <a:r>
              <a:rPr lang="en-US" sz="1800" dirty="0"/>
              <a:t>Authorization</a:t>
            </a:r>
          </a:p>
          <a:p>
            <a:pPr algn="ctr">
              <a:lnSpc>
                <a:spcPct val="100000"/>
              </a:lnSpc>
              <a:spcBef>
                <a:spcPct val="20000"/>
              </a:spcBef>
              <a:defRPr/>
            </a:pPr>
            <a:r>
              <a:rPr lang="en-US" sz="1200" dirty="0"/>
              <a:t>which resources the user is allowed to access and which </a:t>
            </a:r>
          </a:p>
          <a:p>
            <a:pPr algn="ctr">
              <a:lnSpc>
                <a:spcPct val="100000"/>
              </a:lnSpc>
              <a:spcBef>
                <a:spcPct val="20000"/>
              </a:spcBef>
              <a:defRPr/>
            </a:pPr>
            <a:r>
              <a:rPr lang="en-US" sz="1200" dirty="0"/>
              <a:t>operations the user is allowed to perform?</a:t>
            </a:r>
          </a:p>
        </p:txBody>
      </p:sp>
    </p:spTree>
    <p:extLst>
      <p:ext uri="{BB962C8B-B14F-4D97-AF65-F5344CB8AC3E}">
        <p14:creationId xmlns:p14="http://schemas.microsoft.com/office/powerpoint/2010/main" val="2996436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840818" y="608748"/>
            <a:ext cx="9363634" cy="838200"/>
          </a:xfrm>
        </p:spPr>
        <p:txBody>
          <a:bodyPr>
            <a:noAutofit/>
          </a:bodyPr>
          <a:lstStyle/>
          <a:p>
            <a:r>
              <a:rPr lang="en-US" dirty="0"/>
              <a:t>AAA Authentication – Line Passwords</a:t>
            </a:r>
          </a:p>
        </p:txBody>
      </p:sp>
      <p:sp>
        <p:nvSpPr>
          <p:cNvPr id="10243" name="Rectangle 41"/>
          <p:cNvSpPr>
            <a:spLocks noGrp="1" noChangeArrowheads="1"/>
          </p:cNvSpPr>
          <p:nvPr>
            <p:ph type="body" sz="half" idx="2"/>
          </p:nvPr>
        </p:nvSpPr>
        <p:spPr>
          <a:xfrm>
            <a:off x="1064526" y="4354880"/>
            <a:ext cx="9139926" cy="1902619"/>
          </a:xfrm>
        </p:spPr>
        <p:txBody>
          <a:bodyPr>
            <a:normAutofit/>
          </a:bodyPr>
          <a:lstStyle/>
          <a:p>
            <a:r>
              <a:rPr lang="en-US" dirty="0"/>
              <a:t>Uses a login and password combination on access lines</a:t>
            </a:r>
          </a:p>
          <a:p>
            <a:r>
              <a:rPr lang="en-US" dirty="0"/>
              <a:t>Easiest to implement, but most unsecure method</a:t>
            </a:r>
          </a:p>
          <a:p>
            <a:r>
              <a:rPr lang="en-US" dirty="0"/>
              <a:t>Vulnerable to brute-force attacks</a:t>
            </a:r>
          </a:p>
        </p:txBody>
      </p:sp>
      <p:sp>
        <p:nvSpPr>
          <p:cNvPr id="10244" name="Line 6"/>
          <p:cNvSpPr>
            <a:spLocks noChangeShapeType="1"/>
          </p:cNvSpPr>
          <p:nvPr/>
        </p:nvSpPr>
        <p:spPr bwMode="auto">
          <a:xfrm>
            <a:off x="3886200" y="2714993"/>
            <a:ext cx="1087438" cy="0"/>
          </a:xfrm>
          <a:prstGeom prst="line">
            <a:avLst/>
          </a:prstGeom>
          <a:noFill/>
          <a:ln w="28575">
            <a:solidFill>
              <a:srgbClr val="CC0000"/>
            </a:solidFill>
            <a:round/>
            <a:headEnd/>
            <a:tailEnd/>
          </a:ln>
        </p:spPr>
        <p:txBody>
          <a:bodyPr/>
          <a:lstStyle/>
          <a:p>
            <a:endParaRPr lang="en-US"/>
          </a:p>
        </p:txBody>
      </p:sp>
      <p:pic>
        <p:nvPicPr>
          <p:cNvPr id="10245" name="Picture 7" descr="hacker_ii1"/>
          <p:cNvPicPr>
            <a:picLocks noChangeAspect="1" noChangeArrowheads="1"/>
          </p:cNvPicPr>
          <p:nvPr/>
        </p:nvPicPr>
        <p:blipFill>
          <a:blip r:embed="rId3" cstate="print"/>
          <a:srcRect/>
          <a:stretch>
            <a:fillRect/>
          </a:stretch>
        </p:blipFill>
        <p:spPr bwMode="auto">
          <a:xfrm>
            <a:off x="4572001" y="1648193"/>
            <a:ext cx="2428875" cy="2027238"/>
          </a:xfrm>
          <a:prstGeom prst="rect">
            <a:avLst/>
          </a:prstGeom>
          <a:noFill/>
          <a:ln w="9525">
            <a:noFill/>
            <a:miter lim="800000"/>
            <a:headEnd/>
            <a:tailEnd/>
          </a:ln>
        </p:spPr>
      </p:pic>
      <p:pic>
        <p:nvPicPr>
          <p:cNvPr id="10246" name="Picture 8"/>
          <p:cNvPicPr>
            <a:picLocks noChangeAspect="1" noChangeArrowheads="1"/>
          </p:cNvPicPr>
          <p:nvPr/>
        </p:nvPicPr>
        <p:blipFill>
          <a:blip r:embed="rId4" cstate="print"/>
          <a:srcRect/>
          <a:stretch>
            <a:fillRect/>
          </a:stretch>
        </p:blipFill>
        <p:spPr bwMode="auto">
          <a:xfrm>
            <a:off x="5251450" y="2338756"/>
            <a:ext cx="920750" cy="654050"/>
          </a:xfrm>
          <a:prstGeom prst="rect">
            <a:avLst/>
          </a:prstGeom>
          <a:noFill/>
          <a:ln w="9525">
            <a:noFill/>
            <a:miter lim="800000"/>
            <a:headEnd/>
            <a:tailEnd/>
          </a:ln>
        </p:spPr>
      </p:pic>
      <p:pic>
        <p:nvPicPr>
          <p:cNvPr id="10247" name="Picture 9"/>
          <p:cNvPicPr>
            <a:picLocks noChangeAspect="1" noChangeArrowheads="1"/>
          </p:cNvPicPr>
          <p:nvPr/>
        </p:nvPicPr>
        <p:blipFill>
          <a:blip r:embed="rId5" cstate="print"/>
          <a:srcRect/>
          <a:stretch>
            <a:fillRect/>
          </a:stretch>
        </p:blipFill>
        <p:spPr bwMode="auto">
          <a:xfrm>
            <a:off x="2514601" y="2562593"/>
            <a:ext cx="1393825" cy="1106488"/>
          </a:xfrm>
          <a:prstGeom prst="rect">
            <a:avLst/>
          </a:prstGeom>
          <a:noFill/>
          <a:ln w="9525">
            <a:noFill/>
            <a:miter lim="800000"/>
            <a:headEnd/>
            <a:tailEnd/>
          </a:ln>
        </p:spPr>
      </p:pic>
      <p:sp>
        <p:nvSpPr>
          <p:cNvPr id="10248" name="Text Box 10"/>
          <p:cNvSpPr txBox="1">
            <a:spLocks noChangeArrowheads="1"/>
          </p:cNvSpPr>
          <p:nvPr/>
        </p:nvSpPr>
        <p:spPr bwMode="auto">
          <a:xfrm>
            <a:off x="7162799" y="3095993"/>
            <a:ext cx="4205785" cy="830997"/>
          </a:xfrm>
          <a:prstGeom prst="rect">
            <a:avLst/>
          </a:prstGeom>
          <a:solidFill>
            <a:srgbClr val="DDDDDD"/>
          </a:solidFill>
          <a:ln w="28575" algn="ctr">
            <a:solidFill>
              <a:schemeClr val="tx1"/>
            </a:solidFill>
            <a:miter lim="800000"/>
            <a:headEnd/>
            <a:tailEnd/>
          </a:ln>
        </p:spPr>
        <p:txBody>
          <a:bodyPr wrap="square">
            <a:spAutoFit/>
          </a:bodyPr>
          <a:lstStyle/>
          <a:p>
            <a:pPr eaLnBrk="1" hangingPunct="1">
              <a:lnSpc>
                <a:spcPct val="100000"/>
              </a:lnSpc>
            </a:pPr>
            <a:r>
              <a:rPr lang="en-US" altLang="zh-CN" sz="1600" dirty="0">
                <a:solidFill>
                  <a:srgbClr val="002060"/>
                </a:solidFill>
                <a:latin typeface="Courier New" pitchFamily="49" charset="0"/>
                <a:ea typeface="SimSun" pitchFamily="2" charset="-122"/>
              </a:rPr>
              <a:t>R1(</a:t>
            </a:r>
            <a:r>
              <a:rPr lang="en-US" altLang="zh-CN" sz="1600" dirty="0" err="1">
                <a:solidFill>
                  <a:srgbClr val="002060"/>
                </a:solidFill>
                <a:latin typeface="Courier New" pitchFamily="49" charset="0"/>
                <a:ea typeface="SimSun" pitchFamily="2" charset="-122"/>
              </a:rPr>
              <a:t>config</a:t>
            </a:r>
            <a:r>
              <a:rPr lang="en-US" altLang="zh-CN" sz="1600" dirty="0">
                <a:solidFill>
                  <a:srgbClr val="002060"/>
                </a:solidFill>
                <a:latin typeface="Courier New" pitchFamily="49" charset="0"/>
                <a:ea typeface="SimSun" pitchFamily="2" charset="-122"/>
              </a:rPr>
              <a:t>)# </a:t>
            </a:r>
            <a:r>
              <a:rPr lang="en-US" altLang="zh-CN" sz="1600" b="1" dirty="0">
                <a:solidFill>
                  <a:srgbClr val="002060"/>
                </a:solidFill>
                <a:latin typeface="Courier New" pitchFamily="49" charset="0"/>
                <a:ea typeface="SimSun" pitchFamily="2" charset="-122"/>
              </a:rPr>
              <a:t>line </a:t>
            </a:r>
            <a:r>
              <a:rPr lang="en-US" altLang="zh-CN" sz="1600" b="1" dirty="0" err="1">
                <a:solidFill>
                  <a:srgbClr val="002060"/>
                </a:solidFill>
                <a:latin typeface="Courier New" pitchFamily="49" charset="0"/>
                <a:ea typeface="SimSun" pitchFamily="2" charset="-122"/>
              </a:rPr>
              <a:t>vty</a:t>
            </a:r>
            <a:r>
              <a:rPr lang="en-US" altLang="zh-CN" sz="1600" b="1" dirty="0">
                <a:solidFill>
                  <a:srgbClr val="002060"/>
                </a:solidFill>
                <a:latin typeface="Courier New" pitchFamily="49" charset="0"/>
                <a:ea typeface="SimSun" pitchFamily="2" charset="-122"/>
              </a:rPr>
              <a:t> 0 4</a:t>
            </a:r>
          </a:p>
          <a:p>
            <a:pPr eaLnBrk="1" hangingPunct="1">
              <a:lnSpc>
                <a:spcPct val="100000"/>
              </a:lnSpc>
            </a:pPr>
            <a:r>
              <a:rPr lang="en-US" altLang="zh-CN" sz="1600" dirty="0">
                <a:solidFill>
                  <a:srgbClr val="002060"/>
                </a:solidFill>
                <a:latin typeface="Courier New" pitchFamily="49" charset="0"/>
                <a:ea typeface="SimSun" pitchFamily="2" charset="-122"/>
              </a:rPr>
              <a:t>R1(</a:t>
            </a:r>
            <a:r>
              <a:rPr lang="en-US" altLang="zh-CN" sz="1600" dirty="0" err="1">
                <a:solidFill>
                  <a:srgbClr val="002060"/>
                </a:solidFill>
                <a:latin typeface="Courier New" pitchFamily="49" charset="0"/>
                <a:ea typeface="SimSun" pitchFamily="2" charset="-122"/>
              </a:rPr>
              <a:t>config</a:t>
            </a:r>
            <a:r>
              <a:rPr lang="en-US" altLang="zh-CN" sz="1600" dirty="0">
                <a:solidFill>
                  <a:srgbClr val="002060"/>
                </a:solidFill>
                <a:latin typeface="Courier New" pitchFamily="49" charset="0"/>
                <a:ea typeface="SimSun" pitchFamily="2" charset="-122"/>
              </a:rPr>
              <a:t>-line)# </a:t>
            </a:r>
            <a:r>
              <a:rPr lang="en-US" altLang="zh-CN" sz="1600" b="1" dirty="0">
                <a:solidFill>
                  <a:srgbClr val="002060"/>
                </a:solidFill>
                <a:latin typeface="Courier New" pitchFamily="49" charset="0"/>
                <a:ea typeface="SimSun" pitchFamily="2" charset="-122"/>
              </a:rPr>
              <a:t>password cisco</a:t>
            </a:r>
          </a:p>
          <a:p>
            <a:pPr eaLnBrk="1" hangingPunct="1">
              <a:lnSpc>
                <a:spcPct val="100000"/>
              </a:lnSpc>
            </a:pPr>
            <a:r>
              <a:rPr lang="en-US" altLang="zh-CN" sz="1600" dirty="0">
                <a:solidFill>
                  <a:srgbClr val="002060"/>
                </a:solidFill>
                <a:latin typeface="Courier New" pitchFamily="49" charset="0"/>
                <a:ea typeface="SimSun" pitchFamily="2" charset="-122"/>
              </a:rPr>
              <a:t>R1(</a:t>
            </a:r>
            <a:r>
              <a:rPr lang="en-US" altLang="zh-CN" sz="1600" dirty="0" err="1">
                <a:solidFill>
                  <a:srgbClr val="002060"/>
                </a:solidFill>
                <a:latin typeface="Courier New" pitchFamily="49" charset="0"/>
                <a:ea typeface="SimSun" pitchFamily="2" charset="-122"/>
              </a:rPr>
              <a:t>config</a:t>
            </a:r>
            <a:r>
              <a:rPr lang="en-US" altLang="zh-CN" sz="1600" dirty="0">
                <a:solidFill>
                  <a:srgbClr val="002060"/>
                </a:solidFill>
                <a:latin typeface="Courier New" pitchFamily="49" charset="0"/>
                <a:ea typeface="SimSun" pitchFamily="2" charset="-122"/>
              </a:rPr>
              <a:t>-line)# </a:t>
            </a:r>
            <a:r>
              <a:rPr lang="en-US" altLang="zh-CN" sz="1600" b="1" dirty="0">
                <a:solidFill>
                  <a:srgbClr val="002060"/>
                </a:solidFill>
                <a:latin typeface="Courier New" pitchFamily="49" charset="0"/>
                <a:ea typeface="SimSun" pitchFamily="2" charset="-122"/>
              </a:rPr>
              <a:t>login</a:t>
            </a:r>
          </a:p>
        </p:txBody>
      </p:sp>
      <p:pic>
        <p:nvPicPr>
          <p:cNvPr id="10249" name="Picture 11" descr="cloud"/>
          <p:cNvPicPr>
            <a:picLocks noChangeAspect="1" noChangeArrowheads="1"/>
          </p:cNvPicPr>
          <p:nvPr/>
        </p:nvPicPr>
        <p:blipFill>
          <a:blip r:embed="rId6" cstate="print"/>
          <a:srcRect/>
          <a:stretch>
            <a:fillRect/>
          </a:stretch>
        </p:blipFill>
        <p:spPr bwMode="auto">
          <a:xfrm>
            <a:off x="3200400" y="2333994"/>
            <a:ext cx="920750" cy="614363"/>
          </a:xfrm>
          <a:prstGeom prst="rect">
            <a:avLst/>
          </a:prstGeom>
          <a:noFill/>
          <a:ln w="9525">
            <a:noFill/>
            <a:miter lim="800000"/>
            <a:headEnd/>
            <a:tailEnd/>
          </a:ln>
        </p:spPr>
      </p:pic>
      <p:sp>
        <p:nvSpPr>
          <p:cNvPr id="10250" name="Text Box 12"/>
          <p:cNvSpPr txBox="1">
            <a:spLocks noChangeArrowheads="1"/>
          </p:cNvSpPr>
          <p:nvPr/>
        </p:nvSpPr>
        <p:spPr bwMode="auto">
          <a:xfrm>
            <a:off x="3276601" y="2486394"/>
            <a:ext cx="702949" cy="276999"/>
          </a:xfrm>
          <a:prstGeom prst="rect">
            <a:avLst/>
          </a:prstGeom>
          <a:noFill/>
          <a:ln w="9525">
            <a:noFill/>
            <a:miter lim="800000"/>
            <a:headEnd/>
            <a:tailEnd/>
          </a:ln>
        </p:spPr>
        <p:txBody>
          <a:bodyPr wrap="none">
            <a:spAutoFit/>
          </a:bodyPr>
          <a:lstStyle/>
          <a:p>
            <a:pPr eaLnBrk="1" hangingPunct="1">
              <a:lnSpc>
                <a:spcPct val="100000"/>
              </a:lnSpc>
            </a:pPr>
            <a:r>
              <a:rPr lang="en-US" sz="1200" b="1"/>
              <a:t>Internet</a:t>
            </a:r>
          </a:p>
        </p:txBody>
      </p:sp>
      <p:sp>
        <p:nvSpPr>
          <p:cNvPr id="10251" name="Rectangle 14"/>
          <p:cNvSpPr>
            <a:spLocks noChangeArrowheads="1"/>
          </p:cNvSpPr>
          <p:nvPr/>
        </p:nvSpPr>
        <p:spPr bwMode="auto">
          <a:xfrm>
            <a:off x="2819400" y="3242043"/>
            <a:ext cx="293688" cy="82550"/>
          </a:xfrm>
          <a:prstGeom prst="rect">
            <a:avLst/>
          </a:prstGeom>
          <a:solidFill>
            <a:schemeClr val="bg1"/>
          </a:solidFill>
          <a:ln w="9525">
            <a:noFill/>
            <a:miter lim="800000"/>
            <a:headEnd/>
            <a:tailEnd/>
          </a:ln>
        </p:spPr>
        <p:txBody>
          <a:bodyPr wrap="none" anchor="ctr"/>
          <a:lstStyle/>
          <a:p>
            <a:endParaRPr lang="en-US"/>
          </a:p>
        </p:txBody>
      </p:sp>
      <p:sp>
        <p:nvSpPr>
          <p:cNvPr id="10252" name="Rectangle 33"/>
          <p:cNvSpPr>
            <a:spLocks noChangeArrowheads="1"/>
          </p:cNvSpPr>
          <p:nvPr/>
        </p:nvSpPr>
        <p:spPr bwMode="auto">
          <a:xfrm>
            <a:off x="7086600" y="1660893"/>
            <a:ext cx="2726140" cy="1375586"/>
          </a:xfrm>
          <a:prstGeom prst="rect">
            <a:avLst/>
          </a:prstGeom>
          <a:noFill/>
          <a:ln w="38100" algn="ctr">
            <a:noFill/>
            <a:miter lim="800000"/>
            <a:headEnd/>
            <a:tailEnd/>
          </a:ln>
        </p:spPr>
        <p:txBody>
          <a:bodyPr wrap="square" lIns="82124" tIns="41061" rIns="82124" bIns="41061">
            <a:spAutoFit/>
          </a:bodyPr>
          <a:lstStyle/>
          <a:p>
            <a:pPr defTabSz="814388"/>
            <a:r>
              <a:rPr lang="en-US" sz="1400" b="1" dirty="0">
                <a:solidFill>
                  <a:srgbClr val="002060"/>
                </a:solidFill>
              </a:rPr>
              <a:t>User Access Verification</a:t>
            </a:r>
          </a:p>
          <a:p>
            <a:pPr defTabSz="814388"/>
            <a:endParaRPr lang="en-US" sz="1400" b="1" dirty="0">
              <a:solidFill>
                <a:srgbClr val="002060"/>
              </a:solidFill>
            </a:endParaRPr>
          </a:p>
          <a:p>
            <a:pPr defTabSz="814388"/>
            <a:r>
              <a:rPr lang="en-US" sz="1400" b="1" dirty="0">
                <a:solidFill>
                  <a:srgbClr val="002060"/>
                </a:solidFill>
              </a:rPr>
              <a:t>Password: </a:t>
            </a:r>
            <a:r>
              <a:rPr lang="en-US" sz="1400" i="1" dirty="0">
                <a:solidFill>
                  <a:srgbClr val="002060"/>
                </a:solidFill>
              </a:rPr>
              <a:t>cisco</a:t>
            </a:r>
            <a:endParaRPr lang="en-US" sz="1400" dirty="0">
              <a:solidFill>
                <a:srgbClr val="002060"/>
              </a:solidFill>
            </a:endParaRPr>
          </a:p>
          <a:p>
            <a:pPr defTabSz="814388"/>
            <a:r>
              <a:rPr lang="en-US" sz="1400" b="1" dirty="0">
                <a:solidFill>
                  <a:srgbClr val="002060"/>
                </a:solidFill>
              </a:rPr>
              <a:t>Password: </a:t>
            </a:r>
            <a:r>
              <a:rPr lang="en-US" sz="1400" i="1" dirty="0">
                <a:solidFill>
                  <a:srgbClr val="002060"/>
                </a:solidFill>
              </a:rPr>
              <a:t>cisco1</a:t>
            </a:r>
          </a:p>
          <a:p>
            <a:pPr defTabSz="814388"/>
            <a:r>
              <a:rPr lang="en-US" sz="1400" b="1" dirty="0">
                <a:solidFill>
                  <a:srgbClr val="002060"/>
                </a:solidFill>
              </a:rPr>
              <a:t>Password: </a:t>
            </a:r>
            <a:r>
              <a:rPr lang="en-US" sz="1400" i="1" dirty="0">
                <a:solidFill>
                  <a:srgbClr val="002060"/>
                </a:solidFill>
              </a:rPr>
              <a:t>cisco12</a:t>
            </a:r>
          </a:p>
          <a:p>
            <a:pPr defTabSz="814388"/>
            <a:r>
              <a:rPr lang="en-US" sz="1400" dirty="0">
                <a:solidFill>
                  <a:srgbClr val="002060"/>
                </a:solidFill>
              </a:rPr>
              <a:t>% Bad passwords</a:t>
            </a:r>
          </a:p>
        </p:txBody>
      </p:sp>
      <p:sp>
        <p:nvSpPr>
          <p:cNvPr id="10253" name="Line 36"/>
          <p:cNvSpPr>
            <a:spLocks noChangeShapeType="1"/>
          </p:cNvSpPr>
          <p:nvPr/>
        </p:nvSpPr>
        <p:spPr bwMode="auto">
          <a:xfrm flipV="1">
            <a:off x="5410200" y="1724393"/>
            <a:ext cx="1676400" cy="914400"/>
          </a:xfrm>
          <a:prstGeom prst="line">
            <a:avLst/>
          </a:prstGeom>
          <a:noFill/>
          <a:ln w="19050">
            <a:solidFill>
              <a:srgbClr val="0000FF"/>
            </a:solidFill>
            <a:round/>
            <a:headEnd/>
            <a:tailEnd/>
          </a:ln>
        </p:spPr>
        <p:txBody>
          <a:bodyPr lIns="82124" tIns="41061" rIns="82124" bIns="41061"/>
          <a:lstStyle/>
          <a:p>
            <a:endParaRPr lang="en-US"/>
          </a:p>
        </p:txBody>
      </p:sp>
      <p:sp>
        <p:nvSpPr>
          <p:cNvPr id="10254" name="Line 37"/>
          <p:cNvSpPr>
            <a:spLocks noChangeShapeType="1"/>
          </p:cNvSpPr>
          <p:nvPr/>
        </p:nvSpPr>
        <p:spPr bwMode="auto">
          <a:xfrm flipV="1">
            <a:off x="5410200" y="2562593"/>
            <a:ext cx="1676400" cy="76200"/>
          </a:xfrm>
          <a:prstGeom prst="line">
            <a:avLst/>
          </a:prstGeom>
          <a:noFill/>
          <a:ln w="19050">
            <a:solidFill>
              <a:srgbClr val="0000FF"/>
            </a:solidFill>
            <a:round/>
            <a:headEnd/>
            <a:tailEnd/>
          </a:ln>
        </p:spPr>
        <p:txBody>
          <a:bodyPr lIns="82124" tIns="41061" rIns="82124" bIns="41061"/>
          <a:lstStyle/>
          <a:p>
            <a:endParaRPr lang="en-US"/>
          </a:p>
        </p:txBody>
      </p:sp>
    </p:spTree>
    <p:extLst>
      <p:ext uri="{BB962C8B-B14F-4D97-AF65-F5344CB8AC3E}">
        <p14:creationId xmlns:p14="http://schemas.microsoft.com/office/powerpoint/2010/main" val="30343903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AAA Authentication: Line &amp; Enable </a:t>
            </a:r>
            <a:r>
              <a:rPr lang="en-SG" dirty="0" err="1"/>
              <a:t>pwds</a:t>
            </a:r>
            <a:endParaRPr lang="en-SG" dirty="0"/>
          </a:p>
        </p:txBody>
      </p:sp>
      <p:pic>
        <p:nvPicPr>
          <p:cNvPr id="11" name="Picture 5" descr="getfile?item=Nzg1OTUzN2c1cmEwN2RhcmkvcC8vOXN0MWNnOGVtdC5nZmlwXzVpL2VjczIzMGxoNWMwY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194050"/>
            <a:ext cx="8229600" cy="313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6"/>
          <p:cNvSpPr txBox="1">
            <a:spLocks noChangeArrowheads="1"/>
          </p:cNvSpPr>
          <p:nvPr/>
        </p:nvSpPr>
        <p:spPr bwMode="auto">
          <a:xfrm>
            <a:off x="4213225" y="3613150"/>
            <a:ext cx="914400" cy="276999"/>
          </a:xfrm>
          <a:prstGeom prst="rect">
            <a:avLst/>
          </a:prstGeom>
          <a:solidFill>
            <a:sysClr val="window" lastClr="FFFFFF">
              <a:lumMod val="85000"/>
            </a:sysClr>
          </a:solidFill>
          <a:ln w="12700" cmpd="sng">
            <a:solidFill>
              <a:sysClr val="windowText" lastClr="000000"/>
            </a:solidFill>
            <a:miter lim="800000"/>
            <a:headEnd type="none" w="sm" len="sm"/>
            <a:tailEnd type="none" w="sm" len="sm"/>
          </a:ln>
          <a:extLst/>
        </p:spPr>
        <p:txBody>
          <a:bodyPr bIns="45720">
            <a:spAutoFit/>
          </a:bodyPr>
          <a:lstStyle>
            <a:defPPr>
              <a:defRPr lang="en-US"/>
            </a:defPPr>
            <a:lvl1pPr marL="238125" indent="-238125">
              <a:lnSpc>
                <a:spcPct val="100000"/>
              </a:lnSpc>
              <a:spcBef>
                <a:spcPct val="50000"/>
              </a:spcBef>
              <a:defRPr sz="1200">
                <a:solidFill>
                  <a:srgbClr val="000000"/>
                </a:solidFill>
                <a:latin typeface="Courier New" charset="0"/>
              </a:defRPr>
            </a:lvl1pPr>
            <a:lvl2pPr marL="742950" indent="-285750"/>
            <a:lvl3pPr marL="1143000" indent="-228600"/>
            <a:lvl4pPr marL="1600200" indent="-228600"/>
            <a:lvl5pPr marL="2057400" indent="-228600"/>
            <a:lvl6pPr marL="2514600" indent="-228600" eaLnBrk="0" fontAlgn="base" hangingPunct="0">
              <a:lnSpc>
                <a:spcPct val="90000"/>
              </a:lnSpc>
              <a:spcBef>
                <a:spcPct val="0"/>
              </a:spcBef>
              <a:spcAft>
                <a:spcPct val="0"/>
              </a:spcAft>
            </a:lvl6pPr>
            <a:lvl7pPr marL="2971800" indent="-228600" eaLnBrk="0" fontAlgn="base" hangingPunct="0">
              <a:lnSpc>
                <a:spcPct val="90000"/>
              </a:lnSpc>
              <a:spcBef>
                <a:spcPct val="0"/>
              </a:spcBef>
              <a:spcAft>
                <a:spcPct val="0"/>
              </a:spcAft>
            </a:lvl7pPr>
            <a:lvl8pPr marL="3429000" indent="-228600" eaLnBrk="0" fontAlgn="base" hangingPunct="0">
              <a:lnSpc>
                <a:spcPct val="90000"/>
              </a:lnSpc>
              <a:spcBef>
                <a:spcPct val="0"/>
              </a:spcBef>
              <a:spcAft>
                <a:spcPct val="0"/>
              </a:spcAft>
            </a:lvl8pPr>
            <a:lvl9pPr marL="3886200" indent="-228600" eaLnBrk="0" fontAlgn="base" hangingPunct="0">
              <a:lnSpc>
                <a:spcPct val="90000"/>
              </a:lnSpc>
              <a:spcBef>
                <a:spcPct val="0"/>
              </a:spcBef>
              <a:spcAft>
                <a:spcPct val="0"/>
              </a:spcAft>
            </a:lvl9pPr>
          </a:lstStyle>
          <a:p>
            <a:pPr marL="238125" marR="0" lvl="0" indent="-238125" algn="ctr" defTabSz="914400" eaLnBrk="1" fontAlgn="base" latinLnBrk="0" hangingPunct="1">
              <a:lnSpc>
                <a:spcPct val="100000"/>
              </a:lnSpc>
              <a:spcBef>
                <a:spcPct val="50000"/>
              </a:spcBef>
              <a:spcAft>
                <a:spcPct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ourier New" charset="0"/>
                <a:cs typeface="Arial" panose="020B0604020202020204" pitchFamily="34" charset="0"/>
              </a:rPr>
              <a:t>R1</a:t>
            </a:r>
          </a:p>
        </p:txBody>
      </p:sp>
      <p:sp>
        <p:nvSpPr>
          <p:cNvPr id="13" name="Text Box 7"/>
          <p:cNvSpPr txBox="1">
            <a:spLocks noChangeArrowheads="1"/>
          </p:cNvSpPr>
          <p:nvPr/>
        </p:nvSpPr>
        <p:spPr bwMode="auto">
          <a:xfrm>
            <a:off x="631825" y="5239622"/>
            <a:ext cx="3581400" cy="307777"/>
          </a:xfrm>
          <a:prstGeom prst="rect">
            <a:avLst/>
          </a:prstGeom>
          <a:solidFill>
            <a:sysClr val="window" lastClr="FFFFFF">
              <a:lumMod val="85000"/>
            </a:sysClr>
          </a:solidFill>
          <a:ln w="12700" cmpd="sng">
            <a:solidFill>
              <a:sysClr val="windowText" lastClr="000000"/>
            </a:solidFill>
            <a:miter lim="800000"/>
            <a:headEnd type="none" w="sm" len="sm"/>
            <a:tailEnd type="none" w="sm" len="sm"/>
          </a:ln>
        </p:spPr>
        <p:txBody>
          <a:bodyPr bIns="45720">
            <a:spAutoFit/>
          </a:bodyPr>
          <a:lstStyle>
            <a:defPPr>
              <a:defRPr lang="en-US"/>
            </a:defPPr>
            <a:lvl1pPr marL="238125" indent="-238125">
              <a:lnSpc>
                <a:spcPct val="100000"/>
              </a:lnSpc>
              <a:spcBef>
                <a:spcPct val="50000"/>
              </a:spcBef>
              <a:defRPr sz="1200">
                <a:solidFill>
                  <a:srgbClr val="000000"/>
                </a:solidFill>
                <a:latin typeface="Courier New" charset="0"/>
              </a:defRPr>
            </a:lvl1pPr>
            <a:lvl2pPr marL="742950" indent="-285750"/>
            <a:lvl3pPr marL="1143000" indent="-228600"/>
            <a:lvl4pPr marL="1600200" indent="-228600"/>
            <a:lvl5pPr marL="2057400" indent="-228600"/>
            <a:lvl6pPr marL="2514600" indent="-228600" eaLnBrk="0" fontAlgn="base" hangingPunct="0">
              <a:lnSpc>
                <a:spcPct val="90000"/>
              </a:lnSpc>
              <a:spcBef>
                <a:spcPct val="0"/>
              </a:spcBef>
              <a:spcAft>
                <a:spcPct val="0"/>
              </a:spcAft>
            </a:lvl6pPr>
            <a:lvl7pPr marL="2971800" indent="-228600" eaLnBrk="0" fontAlgn="base" hangingPunct="0">
              <a:lnSpc>
                <a:spcPct val="90000"/>
              </a:lnSpc>
              <a:spcBef>
                <a:spcPct val="0"/>
              </a:spcBef>
              <a:spcAft>
                <a:spcPct val="0"/>
              </a:spcAft>
            </a:lvl7pPr>
            <a:lvl8pPr marL="3429000" indent="-228600" eaLnBrk="0" fontAlgn="base" hangingPunct="0">
              <a:lnSpc>
                <a:spcPct val="90000"/>
              </a:lnSpc>
              <a:spcBef>
                <a:spcPct val="0"/>
              </a:spcBef>
              <a:spcAft>
                <a:spcPct val="0"/>
              </a:spcAft>
            </a:lvl8pPr>
            <a:lvl9pPr marL="3886200" indent="-228600" eaLnBrk="0" fontAlgn="base" hangingPunct="0">
              <a:lnSpc>
                <a:spcPct val="90000"/>
              </a:lnSpc>
              <a:spcBef>
                <a:spcPct val="0"/>
              </a:spcBef>
              <a:spcAft>
                <a:spcPct val="0"/>
              </a:spcAft>
            </a:lvl9pPr>
          </a:lstStyle>
          <a:p>
            <a:pPr marL="0" marR="0" lvl="0" indent="0" defTabSz="914400" eaLnBrk="1" fontAlgn="base" latinLnBrk="0" hangingPunct="1">
              <a:lnSpc>
                <a:spcPct val="100000"/>
              </a:lnSpc>
              <a:spcBef>
                <a:spcPts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R1(</a:t>
            </a:r>
            <a:r>
              <a:rPr kumimoji="0" lang="en-US" altLang="zh-CN" sz="1400" b="0" i="0" u="none" strike="noStrike" kern="0" cap="none" spc="0" normalizeH="0" baseline="0" noProof="0" dirty="0" err="1">
                <a:ln>
                  <a:noFill/>
                </a:ln>
                <a:solidFill>
                  <a:prstClr val="black"/>
                </a:solidFill>
                <a:effectLst/>
                <a:uLnTx/>
                <a:uFillTx/>
                <a:latin typeface="Courier New" charset="0"/>
                <a:ea typeface="宋体" panose="02010600030101010101" pitchFamily="2" charset="-122"/>
                <a:cs typeface="Arial" panose="020B0604020202020204" pitchFamily="34" charset="0"/>
              </a:rPr>
              <a:t>config</a:t>
            </a: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 enable secret cisco</a:t>
            </a:r>
          </a:p>
        </p:txBody>
      </p:sp>
      <p:sp>
        <p:nvSpPr>
          <p:cNvPr id="14" name="Rectangle 8"/>
          <p:cNvSpPr>
            <a:spLocks noChangeArrowheads="1"/>
          </p:cNvSpPr>
          <p:nvPr/>
        </p:nvSpPr>
        <p:spPr bwMode="auto">
          <a:xfrm>
            <a:off x="3725840" y="4576023"/>
            <a:ext cx="805218" cy="542211"/>
          </a:xfrm>
          <a:prstGeom prst="rect">
            <a:avLst/>
          </a:prstGeom>
          <a:solidFill>
            <a:srgbClr val="EFFFEF"/>
          </a:solidFill>
          <a:ln>
            <a:noFill/>
          </a:ln>
          <a:extLst/>
        </p:spPr>
        <p:txBody>
          <a:bodyPr wrap="none" anchor="ctr"/>
          <a:lstStyle/>
          <a:p>
            <a:pPr fontAlgn="base">
              <a:spcBef>
                <a:spcPct val="0"/>
              </a:spcBef>
              <a:spcAft>
                <a:spcPct val="0"/>
              </a:spcAft>
            </a:pPr>
            <a:endParaRPr lang="en-US">
              <a:solidFill>
                <a:srgbClr val="002060"/>
              </a:solidFill>
              <a:latin typeface="Arial" panose="020B0604020202020204" pitchFamily="34" charset="0"/>
              <a:cs typeface="Arial" panose="020B0604020202020204" pitchFamily="34" charset="0"/>
            </a:endParaRPr>
          </a:p>
        </p:txBody>
      </p:sp>
      <p:sp>
        <p:nvSpPr>
          <p:cNvPr id="15" name="Text Box 9"/>
          <p:cNvSpPr txBox="1">
            <a:spLocks noChangeArrowheads="1"/>
          </p:cNvSpPr>
          <p:nvPr/>
        </p:nvSpPr>
        <p:spPr bwMode="auto">
          <a:xfrm>
            <a:off x="5029200" y="4821238"/>
            <a:ext cx="3581400" cy="738664"/>
          </a:xfrm>
          <a:prstGeom prst="rect">
            <a:avLst/>
          </a:prstGeom>
          <a:solidFill>
            <a:sysClr val="window" lastClr="FFFFFF">
              <a:lumMod val="85000"/>
            </a:sysClr>
          </a:solidFill>
          <a:ln w="12700" cmpd="sng">
            <a:solidFill>
              <a:sysClr val="windowText" lastClr="000000"/>
            </a:solidFill>
            <a:miter lim="800000"/>
            <a:headEnd type="none" w="sm" len="sm"/>
            <a:tailEnd type="none" w="sm" len="sm"/>
          </a:ln>
        </p:spPr>
        <p:txBody>
          <a:bodyPr bIns="45720">
            <a:spAutoFit/>
          </a:bodyPr>
          <a:lstStyle>
            <a:defPPr>
              <a:defRPr lang="en-US"/>
            </a:defPPr>
            <a:lvl1pPr marL="0" indent="0">
              <a:lnSpc>
                <a:spcPct val="100000"/>
              </a:lnSpc>
              <a:spcBef>
                <a:spcPts val="0"/>
              </a:spcBef>
              <a:defRPr sz="1200" b="0">
                <a:solidFill>
                  <a:srgbClr val="000000"/>
                </a:solidFill>
                <a:latin typeface="Courier New" charset="0"/>
              </a:defRPr>
            </a:lvl1pPr>
            <a:lvl2pPr marL="742950" indent="-285750"/>
            <a:lvl3pPr marL="1143000" indent="-228600"/>
            <a:lvl4pPr marL="1600200" indent="-228600"/>
            <a:lvl5pPr marL="2057400" indent="-228600"/>
            <a:lvl6pPr marL="2514600" indent="-228600" eaLnBrk="0" fontAlgn="base" hangingPunct="0">
              <a:lnSpc>
                <a:spcPct val="90000"/>
              </a:lnSpc>
              <a:spcBef>
                <a:spcPct val="0"/>
              </a:spcBef>
              <a:spcAft>
                <a:spcPct val="0"/>
              </a:spcAft>
            </a:lvl6pPr>
            <a:lvl7pPr marL="2971800" indent="-228600" eaLnBrk="0" fontAlgn="base" hangingPunct="0">
              <a:lnSpc>
                <a:spcPct val="90000"/>
              </a:lnSpc>
              <a:spcBef>
                <a:spcPct val="0"/>
              </a:spcBef>
              <a:spcAft>
                <a:spcPct val="0"/>
              </a:spcAft>
            </a:lvl7pPr>
            <a:lvl8pPr marL="3429000" indent="-228600" eaLnBrk="0" fontAlgn="base" hangingPunct="0">
              <a:lnSpc>
                <a:spcPct val="90000"/>
              </a:lnSpc>
              <a:spcBef>
                <a:spcPct val="0"/>
              </a:spcBef>
              <a:spcAft>
                <a:spcPct val="0"/>
              </a:spcAft>
            </a:lvl8pPr>
            <a:lvl9pPr marL="3886200" indent="-228600" eaLnBrk="0" fontAlgn="base" hangingPunct="0">
              <a:lnSpc>
                <a:spcPct val="90000"/>
              </a:lnSpc>
              <a:spcBef>
                <a:spcPct val="0"/>
              </a:spcBef>
              <a:spcAft>
                <a:spcPct val="0"/>
              </a:spcAft>
            </a:lvl9pPr>
          </a:lstStyle>
          <a:p>
            <a:pPr marL="0" marR="0" lvl="0" indent="0" defTabSz="914400" eaLnBrk="1" fontAlgn="base" latinLnBrk="0" hangingPunct="1">
              <a:lnSpc>
                <a:spcPct val="100000"/>
              </a:lnSpc>
              <a:spcBef>
                <a:spcPts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R1(</a:t>
            </a:r>
            <a:r>
              <a:rPr kumimoji="0" lang="en-US" altLang="zh-CN" sz="1400" b="0" i="0" u="none" strike="noStrike" kern="0" cap="none" spc="0" normalizeH="0" baseline="0" noProof="0" dirty="0" err="1">
                <a:ln>
                  <a:noFill/>
                </a:ln>
                <a:solidFill>
                  <a:prstClr val="black"/>
                </a:solidFill>
                <a:effectLst/>
                <a:uLnTx/>
                <a:uFillTx/>
                <a:latin typeface="Courier New" charset="0"/>
                <a:ea typeface="宋体" panose="02010600030101010101" pitchFamily="2" charset="-122"/>
                <a:cs typeface="Arial" panose="020B0604020202020204" pitchFamily="34" charset="0"/>
              </a:rPr>
              <a:t>config</a:t>
            </a: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 </a:t>
            </a:r>
            <a:r>
              <a:rPr kumimoji="0" lang="en-US" altLang="zh-CN" sz="1400" b="1"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line con 0</a:t>
            </a:r>
          </a:p>
          <a:p>
            <a:pPr marL="0" marR="0" lvl="0" indent="0" defTabSz="914400" eaLnBrk="1" fontAlgn="base" latinLnBrk="0" hangingPunct="1">
              <a:lnSpc>
                <a:spcPct val="100000"/>
              </a:lnSpc>
              <a:spcBef>
                <a:spcPts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R1(</a:t>
            </a:r>
            <a:r>
              <a:rPr kumimoji="0" lang="en-US" altLang="zh-CN" sz="1400" b="0" i="0" u="none" strike="noStrike" kern="0" cap="none" spc="0" normalizeH="0" baseline="0" noProof="0" dirty="0" err="1">
                <a:ln>
                  <a:noFill/>
                </a:ln>
                <a:solidFill>
                  <a:prstClr val="black"/>
                </a:solidFill>
                <a:effectLst/>
                <a:uLnTx/>
                <a:uFillTx/>
                <a:latin typeface="Courier New" charset="0"/>
                <a:ea typeface="宋体" panose="02010600030101010101" pitchFamily="2" charset="-122"/>
                <a:cs typeface="Arial" panose="020B0604020202020204" pitchFamily="34" charset="0"/>
              </a:rPr>
              <a:t>config</a:t>
            </a: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-line)# </a:t>
            </a:r>
            <a:r>
              <a:rPr kumimoji="0" lang="en-US" altLang="zh-CN" sz="1400" b="1"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password cisco</a:t>
            </a:r>
          </a:p>
          <a:p>
            <a:pPr marL="0" marR="0" lvl="0" indent="0" defTabSz="914400" eaLnBrk="1" fontAlgn="base" latinLnBrk="0" hangingPunct="1">
              <a:lnSpc>
                <a:spcPct val="100000"/>
              </a:lnSpc>
              <a:spcBef>
                <a:spcPts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R1(</a:t>
            </a:r>
            <a:r>
              <a:rPr kumimoji="0" lang="en-US" altLang="zh-CN" sz="1400" b="0" i="0" u="none" strike="noStrike" kern="0" cap="none" spc="0" normalizeH="0" baseline="0" noProof="0" dirty="0" err="1">
                <a:ln>
                  <a:noFill/>
                </a:ln>
                <a:solidFill>
                  <a:prstClr val="black"/>
                </a:solidFill>
                <a:effectLst/>
                <a:uLnTx/>
                <a:uFillTx/>
                <a:latin typeface="Courier New" charset="0"/>
                <a:ea typeface="宋体" panose="02010600030101010101" pitchFamily="2" charset="-122"/>
                <a:cs typeface="Arial" panose="020B0604020202020204" pitchFamily="34" charset="0"/>
              </a:rPr>
              <a:t>config</a:t>
            </a: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-line)# </a:t>
            </a:r>
            <a:r>
              <a:rPr kumimoji="0" lang="en-US" altLang="zh-CN" sz="1400" b="1"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login</a:t>
            </a:r>
          </a:p>
        </p:txBody>
      </p:sp>
      <p:sp>
        <p:nvSpPr>
          <p:cNvPr id="16" name="Text Box 10"/>
          <p:cNvSpPr txBox="1">
            <a:spLocks noChangeArrowheads="1"/>
          </p:cNvSpPr>
          <p:nvPr/>
        </p:nvSpPr>
        <p:spPr bwMode="auto">
          <a:xfrm>
            <a:off x="5029200" y="2359174"/>
            <a:ext cx="3581400" cy="738664"/>
          </a:xfrm>
          <a:prstGeom prst="rect">
            <a:avLst/>
          </a:prstGeom>
          <a:solidFill>
            <a:sysClr val="window" lastClr="FFFFFF">
              <a:lumMod val="85000"/>
            </a:sysClr>
          </a:solidFill>
          <a:ln w="12700" cmpd="sng">
            <a:solidFill>
              <a:sysClr val="windowText" lastClr="000000"/>
            </a:solidFill>
            <a:miter lim="800000"/>
            <a:headEnd type="none" w="sm" len="sm"/>
            <a:tailEnd type="none" w="sm" len="sm"/>
          </a:ln>
        </p:spPr>
        <p:txBody>
          <a:bodyPr bIns="45720">
            <a:spAutoFit/>
          </a:bodyPr>
          <a:lstStyle>
            <a:defPPr>
              <a:defRPr lang="en-US"/>
            </a:defPPr>
            <a:lvl1pPr marL="0" indent="0">
              <a:lnSpc>
                <a:spcPct val="100000"/>
              </a:lnSpc>
              <a:spcBef>
                <a:spcPts val="0"/>
              </a:spcBef>
              <a:defRPr sz="1200" b="0">
                <a:solidFill>
                  <a:srgbClr val="000000"/>
                </a:solidFill>
                <a:latin typeface="Courier New" charset="0"/>
              </a:defRPr>
            </a:lvl1pPr>
            <a:lvl2pPr marL="742950" indent="-285750"/>
            <a:lvl3pPr marL="1143000" indent="-228600"/>
            <a:lvl4pPr marL="1600200" indent="-228600"/>
            <a:lvl5pPr marL="2057400" indent="-228600"/>
            <a:lvl6pPr marL="2514600" indent="-228600" eaLnBrk="0" fontAlgn="base" hangingPunct="0">
              <a:lnSpc>
                <a:spcPct val="90000"/>
              </a:lnSpc>
              <a:spcBef>
                <a:spcPct val="0"/>
              </a:spcBef>
              <a:spcAft>
                <a:spcPct val="0"/>
              </a:spcAft>
            </a:lvl6pPr>
            <a:lvl7pPr marL="2971800" indent="-228600" eaLnBrk="0" fontAlgn="base" hangingPunct="0">
              <a:lnSpc>
                <a:spcPct val="90000"/>
              </a:lnSpc>
              <a:spcBef>
                <a:spcPct val="0"/>
              </a:spcBef>
              <a:spcAft>
                <a:spcPct val="0"/>
              </a:spcAft>
            </a:lvl7pPr>
            <a:lvl8pPr marL="3429000" indent="-228600" eaLnBrk="0" fontAlgn="base" hangingPunct="0">
              <a:lnSpc>
                <a:spcPct val="90000"/>
              </a:lnSpc>
              <a:spcBef>
                <a:spcPct val="0"/>
              </a:spcBef>
              <a:spcAft>
                <a:spcPct val="0"/>
              </a:spcAft>
            </a:lvl8pPr>
            <a:lvl9pPr marL="3886200" indent="-228600" eaLnBrk="0" fontAlgn="base" hangingPunct="0">
              <a:lnSpc>
                <a:spcPct val="90000"/>
              </a:lnSpc>
              <a:spcBef>
                <a:spcPct val="0"/>
              </a:spcBef>
              <a:spcAft>
                <a:spcPct val="0"/>
              </a:spcAft>
            </a:lvl9pPr>
          </a:lstStyle>
          <a:p>
            <a:pPr marL="0" marR="0" lvl="0" indent="0" defTabSz="914400" eaLnBrk="1" fontAlgn="base" latinLnBrk="0" hangingPunct="1">
              <a:lnSpc>
                <a:spcPct val="100000"/>
              </a:lnSpc>
              <a:spcBef>
                <a:spcPts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R1(</a:t>
            </a:r>
            <a:r>
              <a:rPr kumimoji="0" lang="en-US" altLang="zh-CN" sz="1400" b="0" i="0" u="none" strike="noStrike" kern="0" cap="none" spc="0" normalizeH="0" baseline="0" noProof="0" dirty="0" err="1">
                <a:ln>
                  <a:noFill/>
                </a:ln>
                <a:solidFill>
                  <a:prstClr val="black"/>
                </a:solidFill>
                <a:effectLst/>
                <a:uLnTx/>
                <a:uFillTx/>
                <a:latin typeface="Courier New" charset="0"/>
                <a:ea typeface="宋体" panose="02010600030101010101" pitchFamily="2" charset="-122"/>
                <a:cs typeface="Arial" panose="020B0604020202020204" pitchFamily="34" charset="0"/>
              </a:rPr>
              <a:t>config</a:t>
            </a: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 </a:t>
            </a:r>
            <a:r>
              <a:rPr kumimoji="0" lang="en-US" altLang="zh-CN" sz="1400" b="1"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line aux 0</a:t>
            </a:r>
          </a:p>
          <a:p>
            <a:pPr marL="0" marR="0" lvl="0" indent="0" defTabSz="914400" eaLnBrk="1" fontAlgn="base" latinLnBrk="0" hangingPunct="1">
              <a:lnSpc>
                <a:spcPct val="100000"/>
              </a:lnSpc>
              <a:spcBef>
                <a:spcPts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R1(</a:t>
            </a:r>
            <a:r>
              <a:rPr kumimoji="0" lang="en-US" altLang="zh-CN" sz="1400" b="0" i="0" u="none" strike="noStrike" kern="0" cap="none" spc="0" normalizeH="0" baseline="0" noProof="0" dirty="0" err="1">
                <a:ln>
                  <a:noFill/>
                </a:ln>
                <a:solidFill>
                  <a:prstClr val="black"/>
                </a:solidFill>
                <a:effectLst/>
                <a:uLnTx/>
                <a:uFillTx/>
                <a:latin typeface="Courier New" charset="0"/>
                <a:ea typeface="宋体" panose="02010600030101010101" pitchFamily="2" charset="-122"/>
                <a:cs typeface="Arial" panose="020B0604020202020204" pitchFamily="34" charset="0"/>
              </a:rPr>
              <a:t>config</a:t>
            </a: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-line)# </a:t>
            </a:r>
            <a:r>
              <a:rPr kumimoji="0" lang="en-US" altLang="zh-CN" sz="1400" b="1"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password cisco</a:t>
            </a:r>
          </a:p>
          <a:p>
            <a:pPr marL="0" marR="0" lvl="0" indent="0" defTabSz="914400" eaLnBrk="1" fontAlgn="base" latinLnBrk="0" hangingPunct="1">
              <a:lnSpc>
                <a:spcPct val="100000"/>
              </a:lnSpc>
              <a:spcBef>
                <a:spcPts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R1(</a:t>
            </a:r>
            <a:r>
              <a:rPr kumimoji="0" lang="en-US" altLang="zh-CN" sz="1400" b="0" i="0" u="none" strike="noStrike" kern="0" cap="none" spc="0" normalizeH="0" baseline="0" noProof="0" dirty="0" err="1">
                <a:ln>
                  <a:noFill/>
                </a:ln>
                <a:solidFill>
                  <a:prstClr val="black"/>
                </a:solidFill>
                <a:effectLst/>
                <a:uLnTx/>
                <a:uFillTx/>
                <a:latin typeface="Courier New" charset="0"/>
                <a:ea typeface="宋体" panose="02010600030101010101" pitchFamily="2" charset="-122"/>
                <a:cs typeface="Arial" panose="020B0604020202020204" pitchFamily="34" charset="0"/>
              </a:rPr>
              <a:t>config</a:t>
            </a: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-line)# </a:t>
            </a:r>
            <a:r>
              <a:rPr kumimoji="0" lang="en-US" altLang="zh-CN" sz="1400" b="1"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login</a:t>
            </a:r>
          </a:p>
        </p:txBody>
      </p:sp>
      <p:sp>
        <p:nvSpPr>
          <p:cNvPr id="17" name="Text Box 11"/>
          <p:cNvSpPr txBox="1">
            <a:spLocks noChangeArrowheads="1"/>
          </p:cNvSpPr>
          <p:nvPr/>
        </p:nvSpPr>
        <p:spPr bwMode="auto">
          <a:xfrm>
            <a:off x="631825" y="2333998"/>
            <a:ext cx="3581400" cy="738664"/>
          </a:xfrm>
          <a:prstGeom prst="rect">
            <a:avLst/>
          </a:prstGeom>
          <a:solidFill>
            <a:sysClr val="window" lastClr="FFFFFF">
              <a:lumMod val="85000"/>
            </a:sysClr>
          </a:solidFill>
          <a:ln w="12700" cmpd="sng">
            <a:solidFill>
              <a:sysClr val="windowText" lastClr="000000"/>
            </a:solidFill>
            <a:miter lim="800000"/>
            <a:headEnd type="none" w="sm" len="sm"/>
            <a:tailEnd type="none" w="sm" len="sm"/>
          </a:ln>
        </p:spPr>
        <p:txBody>
          <a:bodyPr bIns="45720">
            <a:spAutoFit/>
          </a:bodyPr>
          <a:lstStyle>
            <a:defPPr>
              <a:defRPr lang="en-US"/>
            </a:defPPr>
            <a:lvl1pPr marL="238125" indent="-238125">
              <a:lnSpc>
                <a:spcPct val="100000"/>
              </a:lnSpc>
              <a:spcBef>
                <a:spcPct val="50000"/>
              </a:spcBef>
              <a:defRPr sz="1200">
                <a:solidFill>
                  <a:srgbClr val="000000"/>
                </a:solidFill>
                <a:latin typeface="Courier New" charset="0"/>
              </a:defRPr>
            </a:lvl1pPr>
            <a:lvl2pPr marL="742950" indent="-285750"/>
            <a:lvl3pPr marL="1143000" indent="-228600"/>
            <a:lvl4pPr marL="1600200" indent="-228600"/>
            <a:lvl5pPr marL="2057400" indent="-228600"/>
            <a:lvl6pPr marL="2514600" indent="-228600" eaLnBrk="0" fontAlgn="base" hangingPunct="0">
              <a:lnSpc>
                <a:spcPct val="90000"/>
              </a:lnSpc>
              <a:spcBef>
                <a:spcPct val="0"/>
              </a:spcBef>
              <a:spcAft>
                <a:spcPct val="0"/>
              </a:spcAft>
            </a:lvl6pPr>
            <a:lvl7pPr marL="2971800" indent="-228600" eaLnBrk="0" fontAlgn="base" hangingPunct="0">
              <a:lnSpc>
                <a:spcPct val="90000"/>
              </a:lnSpc>
              <a:spcBef>
                <a:spcPct val="0"/>
              </a:spcBef>
              <a:spcAft>
                <a:spcPct val="0"/>
              </a:spcAft>
            </a:lvl7pPr>
            <a:lvl8pPr marL="3429000" indent="-228600" eaLnBrk="0" fontAlgn="base" hangingPunct="0">
              <a:lnSpc>
                <a:spcPct val="90000"/>
              </a:lnSpc>
              <a:spcBef>
                <a:spcPct val="0"/>
              </a:spcBef>
              <a:spcAft>
                <a:spcPct val="0"/>
              </a:spcAft>
            </a:lvl8pPr>
            <a:lvl9pPr marL="3886200" indent="-228600" eaLnBrk="0" fontAlgn="base" hangingPunct="0">
              <a:lnSpc>
                <a:spcPct val="90000"/>
              </a:lnSpc>
              <a:spcBef>
                <a:spcPct val="0"/>
              </a:spcBef>
              <a:spcAft>
                <a:spcPct val="0"/>
              </a:spcAft>
            </a:lvl9pPr>
          </a:lstStyle>
          <a:p>
            <a:pPr marL="0" marR="0" lvl="0" indent="0" defTabSz="914400" eaLnBrk="1" fontAlgn="base" latinLnBrk="0" hangingPunct="1">
              <a:lnSpc>
                <a:spcPct val="100000"/>
              </a:lnSpc>
              <a:spcBef>
                <a:spcPts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R1(</a:t>
            </a:r>
            <a:r>
              <a:rPr kumimoji="0" lang="en-US" altLang="zh-CN" sz="1400" b="0" i="0" u="none" strike="noStrike" kern="0" cap="none" spc="0" normalizeH="0" baseline="0" noProof="0" dirty="0" err="1">
                <a:ln>
                  <a:noFill/>
                </a:ln>
                <a:solidFill>
                  <a:prstClr val="black"/>
                </a:solidFill>
                <a:effectLst/>
                <a:uLnTx/>
                <a:uFillTx/>
                <a:latin typeface="Courier New" charset="0"/>
                <a:ea typeface="宋体" panose="02010600030101010101" pitchFamily="2" charset="-122"/>
                <a:cs typeface="Arial" panose="020B0604020202020204" pitchFamily="34" charset="0"/>
              </a:rPr>
              <a:t>config</a:t>
            </a: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 line </a:t>
            </a:r>
            <a:r>
              <a:rPr kumimoji="0" lang="en-US" altLang="zh-CN" sz="1400" b="0" i="0" u="none" strike="noStrike" kern="0" cap="none" spc="0" normalizeH="0" baseline="0" noProof="0" dirty="0" err="1">
                <a:ln>
                  <a:noFill/>
                </a:ln>
                <a:solidFill>
                  <a:prstClr val="black"/>
                </a:solidFill>
                <a:effectLst/>
                <a:uLnTx/>
                <a:uFillTx/>
                <a:latin typeface="Courier New" charset="0"/>
                <a:ea typeface="宋体" panose="02010600030101010101" pitchFamily="2" charset="-122"/>
                <a:cs typeface="Arial" panose="020B0604020202020204" pitchFamily="34" charset="0"/>
              </a:rPr>
              <a:t>vty</a:t>
            </a: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 0 4</a:t>
            </a:r>
          </a:p>
          <a:p>
            <a:pPr marL="0" marR="0" lvl="0" indent="0" defTabSz="914400" eaLnBrk="1" fontAlgn="base" latinLnBrk="0" hangingPunct="1">
              <a:lnSpc>
                <a:spcPct val="100000"/>
              </a:lnSpc>
              <a:spcBef>
                <a:spcPts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R1(</a:t>
            </a:r>
            <a:r>
              <a:rPr kumimoji="0" lang="en-US" altLang="zh-CN" sz="1400" b="0" i="0" u="none" strike="noStrike" kern="0" cap="none" spc="0" normalizeH="0" baseline="0" noProof="0" dirty="0" err="1">
                <a:ln>
                  <a:noFill/>
                </a:ln>
                <a:solidFill>
                  <a:prstClr val="black"/>
                </a:solidFill>
                <a:effectLst/>
                <a:uLnTx/>
                <a:uFillTx/>
                <a:latin typeface="Courier New" charset="0"/>
                <a:ea typeface="宋体" panose="02010600030101010101" pitchFamily="2" charset="-122"/>
                <a:cs typeface="Arial" panose="020B0604020202020204" pitchFamily="34" charset="0"/>
              </a:rPr>
              <a:t>config</a:t>
            </a: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-line)# password cisco</a:t>
            </a:r>
          </a:p>
          <a:p>
            <a:pPr marL="0" marR="0" lvl="0" indent="0" defTabSz="914400" eaLnBrk="1" fontAlgn="base" latinLnBrk="0" hangingPunct="1">
              <a:lnSpc>
                <a:spcPct val="100000"/>
              </a:lnSpc>
              <a:spcBef>
                <a:spcPts val="0"/>
              </a:spcBef>
              <a:spcAft>
                <a:spcPct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R1(</a:t>
            </a:r>
            <a:r>
              <a:rPr kumimoji="0" lang="en-US" altLang="zh-CN" sz="1400" b="0" i="0" u="none" strike="noStrike" kern="0" cap="none" spc="0" normalizeH="0" baseline="0" noProof="0" dirty="0" err="1">
                <a:ln>
                  <a:noFill/>
                </a:ln>
                <a:solidFill>
                  <a:prstClr val="black"/>
                </a:solidFill>
                <a:effectLst/>
                <a:uLnTx/>
                <a:uFillTx/>
                <a:latin typeface="Courier New" charset="0"/>
                <a:ea typeface="宋体" panose="02010600030101010101" pitchFamily="2" charset="-122"/>
                <a:cs typeface="Arial" panose="020B0604020202020204" pitchFamily="34" charset="0"/>
              </a:rPr>
              <a:t>config</a:t>
            </a:r>
            <a:r>
              <a:rPr kumimoji="0" lang="en-US" altLang="zh-CN" sz="1400" b="0" i="0" u="none" strike="noStrike" kern="0" cap="none" spc="0" normalizeH="0" baseline="0" noProof="0" dirty="0">
                <a:ln>
                  <a:noFill/>
                </a:ln>
                <a:solidFill>
                  <a:prstClr val="black"/>
                </a:solidFill>
                <a:effectLst/>
                <a:uLnTx/>
                <a:uFillTx/>
                <a:latin typeface="Courier New" charset="0"/>
                <a:ea typeface="宋体" panose="02010600030101010101" pitchFamily="2" charset="-122"/>
                <a:cs typeface="Arial" panose="020B0604020202020204" pitchFamily="34" charset="0"/>
              </a:rPr>
              <a:t>-line)# login</a:t>
            </a:r>
          </a:p>
        </p:txBody>
      </p:sp>
    </p:spTree>
    <p:extLst>
      <p:ext uri="{BB962C8B-B14F-4D97-AF65-F5344CB8AC3E}">
        <p14:creationId xmlns:p14="http://schemas.microsoft.com/office/powerpoint/2010/main" val="315672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bg/>
                                          </p:spTgt>
                                        </p:tgtEl>
                                        <p:attrNameLst>
                                          <p:attrName>style.visibility</p:attrName>
                                        </p:attrNameLst>
                                      </p:cBhvr>
                                      <p:to>
                                        <p:strVal val="visible"/>
                                      </p:to>
                                    </p:set>
                                    <p:animEffect transition="in" filter="fade">
                                      <p:cBhvr>
                                        <p:cTn id="12" dur="500"/>
                                        <p:tgtEl>
                                          <p:spTgt spid="15">
                                            <p:bg/>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animEffect transition="in" filter="fade">
                                      <p:cBhvr>
                                        <p:cTn id="17" dur="500"/>
                                        <p:tgtEl>
                                          <p:spTgt spid="1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xEl>
                                              <p:pRg st="1" end="1"/>
                                            </p:txEl>
                                          </p:spTgt>
                                        </p:tgtEl>
                                        <p:attrNameLst>
                                          <p:attrName>style.visibility</p:attrName>
                                        </p:attrNameLst>
                                      </p:cBhvr>
                                      <p:to>
                                        <p:strVal val="visible"/>
                                      </p:to>
                                    </p:set>
                                    <p:animEffect transition="in" filter="fade">
                                      <p:cBhvr>
                                        <p:cTn id="22" dur="500"/>
                                        <p:tgtEl>
                                          <p:spTgt spid="1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xEl>
                                              <p:pRg st="2" end="2"/>
                                            </p:txEl>
                                          </p:spTgt>
                                        </p:tgtEl>
                                        <p:attrNameLst>
                                          <p:attrName>style.visibility</p:attrName>
                                        </p:attrNameLst>
                                      </p:cBhvr>
                                      <p:to>
                                        <p:strVal val="visible"/>
                                      </p:to>
                                    </p:set>
                                    <p:animEffect transition="in" filter="fade">
                                      <p:cBhvr>
                                        <p:cTn id="27" dur="500"/>
                                        <p:tgtEl>
                                          <p:spTgt spid="1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bg/>
                                          </p:spTgt>
                                        </p:tgtEl>
                                        <p:attrNameLst>
                                          <p:attrName>style.visibility</p:attrName>
                                        </p:attrNameLst>
                                      </p:cBhvr>
                                      <p:to>
                                        <p:strVal val="visible"/>
                                      </p:to>
                                    </p:set>
                                    <p:animEffect transition="in" filter="fade">
                                      <p:cBhvr>
                                        <p:cTn id="32" dur="500"/>
                                        <p:tgtEl>
                                          <p:spTgt spid="17">
                                            <p:bg/>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xEl>
                                              <p:pRg st="0" end="0"/>
                                            </p:txEl>
                                          </p:spTgt>
                                        </p:tgtEl>
                                        <p:attrNameLst>
                                          <p:attrName>style.visibility</p:attrName>
                                        </p:attrNameLst>
                                      </p:cBhvr>
                                      <p:to>
                                        <p:strVal val="visible"/>
                                      </p:to>
                                    </p:set>
                                    <p:animEffect transition="in" filter="fade">
                                      <p:cBhvr>
                                        <p:cTn id="37" dur="500"/>
                                        <p:tgtEl>
                                          <p:spTgt spid="1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7">
                                            <p:txEl>
                                              <p:pRg st="1" end="1"/>
                                            </p:txEl>
                                          </p:spTgt>
                                        </p:tgtEl>
                                        <p:attrNameLst>
                                          <p:attrName>style.visibility</p:attrName>
                                        </p:attrNameLst>
                                      </p:cBhvr>
                                      <p:to>
                                        <p:strVal val="visible"/>
                                      </p:to>
                                    </p:set>
                                    <p:animEffect transition="in" filter="fade">
                                      <p:cBhvr>
                                        <p:cTn id="42" dur="500"/>
                                        <p:tgtEl>
                                          <p:spTgt spid="17">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7">
                                            <p:txEl>
                                              <p:pRg st="2" end="2"/>
                                            </p:txEl>
                                          </p:spTgt>
                                        </p:tgtEl>
                                        <p:attrNameLst>
                                          <p:attrName>style.visibility</p:attrName>
                                        </p:attrNameLst>
                                      </p:cBhvr>
                                      <p:to>
                                        <p:strVal val="visible"/>
                                      </p:to>
                                    </p:set>
                                    <p:animEffect transition="in" filter="fade">
                                      <p:cBhvr>
                                        <p:cTn id="47" dur="500"/>
                                        <p:tgtEl>
                                          <p:spTgt spid="17">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6">
                                            <p:bg/>
                                          </p:spTgt>
                                        </p:tgtEl>
                                        <p:attrNameLst>
                                          <p:attrName>style.visibility</p:attrName>
                                        </p:attrNameLst>
                                      </p:cBhvr>
                                      <p:to>
                                        <p:strVal val="visible"/>
                                      </p:to>
                                    </p:set>
                                    <p:animEffect transition="in" filter="fade">
                                      <p:cBhvr>
                                        <p:cTn id="52" dur="500"/>
                                        <p:tgtEl>
                                          <p:spTgt spid="16">
                                            <p:bg/>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6">
                                            <p:txEl>
                                              <p:pRg st="0" end="0"/>
                                            </p:txEl>
                                          </p:spTgt>
                                        </p:tgtEl>
                                        <p:attrNameLst>
                                          <p:attrName>style.visibility</p:attrName>
                                        </p:attrNameLst>
                                      </p:cBhvr>
                                      <p:to>
                                        <p:strVal val="visible"/>
                                      </p:to>
                                    </p:set>
                                    <p:animEffect transition="in" filter="fade">
                                      <p:cBhvr>
                                        <p:cTn id="57" dur="500"/>
                                        <p:tgtEl>
                                          <p:spTgt spid="16">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6">
                                            <p:txEl>
                                              <p:pRg st="1" end="1"/>
                                            </p:txEl>
                                          </p:spTgt>
                                        </p:tgtEl>
                                        <p:attrNameLst>
                                          <p:attrName>style.visibility</p:attrName>
                                        </p:attrNameLst>
                                      </p:cBhvr>
                                      <p:to>
                                        <p:strVal val="visible"/>
                                      </p:to>
                                    </p:set>
                                    <p:animEffect transition="in" filter="fade">
                                      <p:cBhvr>
                                        <p:cTn id="62" dur="500"/>
                                        <p:tgtEl>
                                          <p:spTgt spid="16">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6">
                                            <p:txEl>
                                              <p:pRg st="2" end="2"/>
                                            </p:txEl>
                                          </p:spTgt>
                                        </p:tgtEl>
                                        <p:attrNameLst>
                                          <p:attrName>style.visibility</p:attrName>
                                        </p:attrNameLst>
                                      </p:cBhvr>
                                      <p:to>
                                        <p:strVal val="visible"/>
                                      </p:to>
                                    </p:set>
                                    <p:animEffect transition="in" filter="fade">
                                      <p:cBhvr>
                                        <p:cTn id="67"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build="p" bldLvl="2" animBg="1"/>
      <p:bldP spid="16" grpId="0" build="p" bldLvl="2" animBg="1"/>
      <p:bldP spid="17" grpId="0" build="p" bldLvl="2"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828801" y="666143"/>
            <a:ext cx="10376011" cy="585686"/>
          </a:xfrm>
        </p:spPr>
        <p:txBody>
          <a:bodyPr>
            <a:noAutofit/>
          </a:bodyPr>
          <a:lstStyle/>
          <a:p>
            <a:r>
              <a:rPr lang="en-US" dirty="0"/>
              <a:t>AAA Authentication- Self-Contained/Local</a:t>
            </a:r>
          </a:p>
        </p:txBody>
      </p:sp>
      <p:sp>
        <p:nvSpPr>
          <p:cNvPr id="21507" name="Rectangle 3"/>
          <p:cNvSpPr>
            <a:spLocks noChangeArrowheads="1"/>
          </p:cNvSpPr>
          <p:nvPr/>
        </p:nvSpPr>
        <p:spPr bwMode="auto">
          <a:xfrm>
            <a:off x="2127923" y="3344063"/>
            <a:ext cx="8080355" cy="2215816"/>
          </a:xfrm>
          <a:prstGeom prst="rect">
            <a:avLst/>
          </a:prstGeom>
          <a:noFill/>
          <a:ln w="9525" algn="ctr">
            <a:solidFill>
              <a:schemeClr val="tx1"/>
            </a:solidFill>
            <a:miter lim="800000"/>
            <a:headEnd/>
            <a:tailEnd/>
          </a:ln>
        </p:spPr>
        <p:txBody>
          <a:bodyPr wrap="square" lIns="82124" tIns="41061" rIns="82124" bIns="41061">
            <a:spAutoFit/>
          </a:bodyPr>
          <a:lstStyle/>
          <a:p>
            <a:pPr marL="231775" indent="-231775" defTabSz="814388">
              <a:lnSpc>
                <a:spcPct val="95000"/>
              </a:lnSpc>
              <a:spcBef>
                <a:spcPct val="50000"/>
              </a:spcBef>
              <a:buClr>
                <a:srgbClr val="005569"/>
              </a:buClr>
            </a:pPr>
            <a:r>
              <a:rPr lang="en-US" dirty="0">
                <a:solidFill>
                  <a:srgbClr val="002060"/>
                </a:solidFill>
              </a:rPr>
              <a:t>Self-Contained AAA</a:t>
            </a:r>
          </a:p>
          <a:p>
            <a:pPr marL="231775" indent="-231775" defTabSz="814388">
              <a:lnSpc>
                <a:spcPct val="95000"/>
              </a:lnSpc>
              <a:spcBef>
                <a:spcPct val="50000"/>
              </a:spcBef>
              <a:buClr>
                <a:srgbClr val="005569"/>
              </a:buClr>
              <a:buFontTx/>
              <a:buAutoNum type="arabicPeriod"/>
            </a:pPr>
            <a:r>
              <a:rPr lang="en-US" dirty="0">
                <a:solidFill>
                  <a:srgbClr val="002060"/>
                </a:solidFill>
              </a:rPr>
              <a:t>The client establishes a connection with the router.</a:t>
            </a:r>
          </a:p>
          <a:p>
            <a:pPr marL="231775" indent="-231775" defTabSz="814388">
              <a:lnSpc>
                <a:spcPct val="95000"/>
              </a:lnSpc>
              <a:spcBef>
                <a:spcPct val="50000"/>
              </a:spcBef>
              <a:buClr>
                <a:srgbClr val="005569"/>
              </a:buClr>
              <a:buFontTx/>
              <a:buAutoNum type="arabicPeriod"/>
            </a:pPr>
            <a:r>
              <a:rPr lang="en-US" dirty="0">
                <a:solidFill>
                  <a:srgbClr val="002060"/>
                </a:solidFill>
              </a:rPr>
              <a:t>The AAA router prompts the user for a username and password.</a:t>
            </a:r>
          </a:p>
          <a:p>
            <a:pPr marL="231775" indent="-231775" defTabSz="814388">
              <a:lnSpc>
                <a:spcPct val="95000"/>
              </a:lnSpc>
              <a:spcBef>
                <a:spcPct val="50000"/>
              </a:spcBef>
              <a:buClr>
                <a:srgbClr val="005569"/>
              </a:buClr>
              <a:buFontTx/>
              <a:buAutoNum type="arabicPeriod"/>
            </a:pPr>
            <a:r>
              <a:rPr lang="en-US" dirty="0">
                <a:solidFill>
                  <a:srgbClr val="002060"/>
                </a:solidFill>
              </a:rPr>
              <a:t>The router authenticates the username and password using the local database.</a:t>
            </a:r>
          </a:p>
          <a:p>
            <a:pPr marL="231775" indent="-231775" defTabSz="814388">
              <a:lnSpc>
                <a:spcPct val="95000"/>
              </a:lnSpc>
              <a:spcBef>
                <a:spcPct val="50000"/>
              </a:spcBef>
              <a:buClr>
                <a:srgbClr val="005569"/>
              </a:buClr>
              <a:buFontTx/>
              <a:buAutoNum type="arabicPeriod"/>
            </a:pPr>
            <a:r>
              <a:rPr lang="en-US" dirty="0">
                <a:solidFill>
                  <a:srgbClr val="002060"/>
                </a:solidFill>
              </a:rPr>
              <a:t>The local database is created manually using “username” and “Secret” or “password” commands.</a:t>
            </a:r>
          </a:p>
        </p:txBody>
      </p:sp>
      <p:grpSp>
        <p:nvGrpSpPr>
          <p:cNvPr id="21508" name="Group 4"/>
          <p:cNvGrpSpPr>
            <a:grpSpLocks/>
          </p:cNvGrpSpPr>
          <p:nvPr/>
        </p:nvGrpSpPr>
        <p:grpSpPr bwMode="auto">
          <a:xfrm>
            <a:off x="2127923" y="1814952"/>
            <a:ext cx="4816914" cy="1447800"/>
            <a:chOff x="755" y="648"/>
            <a:chExt cx="3709" cy="1128"/>
          </a:xfrm>
        </p:grpSpPr>
        <p:sp>
          <p:nvSpPr>
            <p:cNvPr id="21510" name="Line 5"/>
            <p:cNvSpPr>
              <a:spLocks noChangeShapeType="1"/>
            </p:cNvSpPr>
            <p:nvPr/>
          </p:nvSpPr>
          <p:spPr bwMode="auto">
            <a:xfrm rot="-5400000">
              <a:off x="3936" y="1248"/>
              <a:ext cx="1056" cy="0"/>
            </a:xfrm>
            <a:prstGeom prst="line">
              <a:avLst/>
            </a:prstGeom>
            <a:noFill/>
            <a:ln w="50800">
              <a:solidFill>
                <a:schemeClr val="accent2"/>
              </a:solidFill>
              <a:round/>
              <a:headEnd type="none" w="sm" len="sm"/>
              <a:tailEnd type="none" w="sm" len="sm"/>
            </a:ln>
          </p:spPr>
          <p:txBody>
            <a:bodyPr wrap="none" anchor="ctr"/>
            <a:lstStyle/>
            <a:p>
              <a:endParaRPr lang="en-US">
                <a:solidFill>
                  <a:schemeClr val="bg1"/>
                </a:solidFill>
              </a:endParaRPr>
            </a:p>
          </p:txBody>
        </p:sp>
        <p:grpSp>
          <p:nvGrpSpPr>
            <p:cNvPr id="21511" name="Group 6"/>
            <p:cNvGrpSpPr>
              <a:grpSpLocks/>
            </p:cNvGrpSpPr>
            <p:nvPr/>
          </p:nvGrpSpPr>
          <p:grpSpPr bwMode="auto">
            <a:xfrm>
              <a:off x="755" y="648"/>
              <a:ext cx="3709" cy="1065"/>
              <a:chOff x="755" y="648"/>
              <a:chExt cx="3709" cy="1065"/>
            </a:xfrm>
          </p:grpSpPr>
          <p:sp>
            <p:nvSpPr>
              <p:cNvPr id="21512" name="Line 7"/>
              <p:cNvSpPr>
                <a:spLocks noChangeShapeType="1"/>
              </p:cNvSpPr>
              <p:nvPr/>
            </p:nvSpPr>
            <p:spPr bwMode="auto">
              <a:xfrm>
                <a:off x="1942" y="1123"/>
                <a:ext cx="972" cy="0"/>
              </a:xfrm>
              <a:prstGeom prst="line">
                <a:avLst/>
              </a:prstGeom>
              <a:noFill/>
              <a:ln w="38100">
                <a:solidFill>
                  <a:schemeClr val="tx1"/>
                </a:solidFill>
                <a:round/>
                <a:headEnd type="none" w="sm" len="sm"/>
                <a:tailEnd type="triangle" w="med" len="med"/>
              </a:ln>
            </p:spPr>
            <p:txBody>
              <a:bodyPr wrap="none" anchor="ctr"/>
              <a:lstStyle/>
              <a:p>
                <a:endParaRPr lang="en-US">
                  <a:solidFill>
                    <a:schemeClr val="bg1"/>
                  </a:solidFill>
                </a:endParaRPr>
              </a:p>
            </p:txBody>
          </p:sp>
          <p:sp>
            <p:nvSpPr>
              <p:cNvPr id="21513" name="Line 8"/>
              <p:cNvSpPr>
                <a:spLocks noChangeShapeType="1"/>
              </p:cNvSpPr>
              <p:nvPr/>
            </p:nvSpPr>
            <p:spPr bwMode="auto">
              <a:xfrm>
                <a:off x="1888" y="1339"/>
                <a:ext cx="972" cy="0"/>
              </a:xfrm>
              <a:prstGeom prst="line">
                <a:avLst/>
              </a:prstGeom>
              <a:noFill/>
              <a:ln w="38100">
                <a:solidFill>
                  <a:schemeClr val="tx1"/>
                </a:solidFill>
                <a:round/>
                <a:headEnd type="triangle" w="med" len="med"/>
                <a:tailEnd type="triangle" w="med" len="med"/>
              </a:ln>
            </p:spPr>
            <p:txBody>
              <a:bodyPr wrap="none" anchor="ctr"/>
              <a:lstStyle/>
              <a:p>
                <a:endParaRPr lang="en-US">
                  <a:solidFill>
                    <a:schemeClr val="bg1"/>
                  </a:solidFill>
                </a:endParaRPr>
              </a:p>
            </p:txBody>
          </p:sp>
          <p:sp>
            <p:nvSpPr>
              <p:cNvPr id="21514" name="Rectangle 9"/>
              <p:cNvSpPr>
                <a:spLocks noChangeArrowheads="1"/>
              </p:cNvSpPr>
              <p:nvPr/>
            </p:nvSpPr>
            <p:spPr bwMode="auto">
              <a:xfrm>
                <a:off x="3075" y="648"/>
                <a:ext cx="541" cy="368"/>
              </a:xfrm>
              <a:prstGeom prst="rect">
                <a:avLst/>
              </a:prstGeom>
              <a:noFill/>
              <a:ln w="9525">
                <a:noFill/>
                <a:miter lim="800000"/>
                <a:headEnd/>
                <a:tailEnd/>
              </a:ln>
            </p:spPr>
            <p:txBody>
              <a:bodyPr wrap="none" lIns="103188" tIns="52388" rIns="103188" bIns="52388">
                <a:spAutoFit/>
              </a:bodyPr>
              <a:lstStyle/>
              <a:p>
                <a:pPr algn="ctr" defTabSz="1157288">
                  <a:lnSpc>
                    <a:spcPct val="85000"/>
                  </a:lnSpc>
                </a:pPr>
                <a:r>
                  <a:rPr lang="en-US" sz="1400" dirty="0">
                    <a:solidFill>
                      <a:schemeClr val="bg1"/>
                    </a:solidFill>
                  </a:rPr>
                  <a:t>AAA</a:t>
                </a:r>
                <a:br>
                  <a:rPr lang="en-US" sz="1400" dirty="0">
                    <a:solidFill>
                      <a:schemeClr val="bg1"/>
                    </a:solidFill>
                  </a:rPr>
                </a:br>
                <a:r>
                  <a:rPr lang="en-US" sz="1400" dirty="0">
                    <a:solidFill>
                      <a:schemeClr val="bg1"/>
                    </a:solidFill>
                  </a:rPr>
                  <a:t>Router</a:t>
                </a:r>
              </a:p>
            </p:txBody>
          </p:sp>
          <p:sp>
            <p:nvSpPr>
              <p:cNvPr id="21515" name="Rectangle 10"/>
              <p:cNvSpPr>
                <a:spLocks noChangeArrowheads="1"/>
              </p:cNvSpPr>
              <p:nvPr/>
            </p:nvSpPr>
            <p:spPr bwMode="auto">
              <a:xfrm>
                <a:off x="755" y="699"/>
                <a:ext cx="1068" cy="245"/>
              </a:xfrm>
              <a:prstGeom prst="rect">
                <a:avLst/>
              </a:prstGeom>
              <a:noFill/>
              <a:ln w="9525">
                <a:noFill/>
                <a:miter lim="800000"/>
                <a:headEnd/>
                <a:tailEnd/>
              </a:ln>
            </p:spPr>
            <p:txBody>
              <a:bodyPr wrap="none" lIns="103188" tIns="52388" rIns="103188" bIns="52388">
                <a:spAutoFit/>
              </a:bodyPr>
              <a:lstStyle/>
              <a:p>
                <a:pPr algn="ctr" defTabSz="1157288">
                  <a:lnSpc>
                    <a:spcPct val="85000"/>
                  </a:lnSpc>
                </a:pPr>
                <a:r>
                  <a:rPr lang="en-US" sz="1600">
                    <a:solidFill>
                      <a:schemeClr val="bg1"/>
                    </a:solidFill>
                  </a:rPr>
                  <a:t>Remote Client</a:t>
                </a:r>
              </a:p>
            </p:txBody>
          </p:sp>
          <p:sp>
            <p:nvSpPr>
              <p:cNvPr id="21516" name="Line 11"/>
              <p:cNvSpPr>
                <a:spLocks noChangeShapeType="1"/>
              </p:cNvSpPr>
              <p:nvPr/>
            </p:nvSpPr>
            <p:spPr bwMode="auto">
              <a:xfrm>
                <a:off x="3552" y="1232"/>
                <a:ext cx="912" cy="0"/>
              </a:xfrm>
              <a:prstGeom prst="line">
                <a:avLst/>
              </a:prstGeom>
              <a:noFill/>
              <a:ln w="50800">
                <a:solidFill>
                  <a:schemeClr val="accent2"/>
                </a:solidFill>
                <a:round/>
                <a:headEnd type="none" w="sm" len="sm"/>
                <a:tailEnd type="none" w="sm" len="sm"/>
              </a:ln>
            </p:spPr>
            <p:txBody>
              <a:bodyPr wrap="none" anchor="ctr"/>
              <a:lstStyle/>
              <a:p>
                <a:endParaRPr lang="en-US">
                  <a:solidFill>
                    <a:schemeClr val="bg1"/>
                  </a:solidFill>
                </a:endParaRPr>
              </a:p>
            </p:txBody>
          </p:sp>
          <p:sp>
            <p:nvSpPr>
              <p:cNvPr id="21517" name="Rectangle 12"/>
              <p:cNvSpPr>
                <a:spLocks noChangeArrowheads="1"/>
              </p:cNvSpPr>
              <p:nvPr/>
            </p:nvSpPr>
            <p:spPr bwMode="auto">
              <a:xfrm>
                <a:off x="2300" y="850"/>
                <a:ext cx="192" cy="192"/>
              </a:xfrm>
              <a:prstGeom prst="rect">
                <a:avLst/>
              </a:prstGeom>
              <a:solidFill>
                <a:schemeClr val="folHlink"/>
              </a:solidFill>
              <a:ln w="28575" algn="ctr">
                <a:solidFill>
                  <a:schemeClr val="tx1"/>
                </a:solidFill>
                <a:miter lim="800000"/>
                <a:headEnd/>
                <a:tailEnd/>
              </a:ln>
            </p:spPr>
            <p:txBody>
              <a:bodyPr wrap="none" lIns="82124" tIns="41061" rIns="82124" bIns="41061" anchor="ctr"/>
              <a:lstStyle/>
              <a:p>
                <a:pPr algn="ctr" defTabSz="814388"/>
                <a:r>
                  <a:rPr lang="en-CA" b="1">
                    <a:solidFill>
                      <a:schemeClr val="bg1"/>
                    </a:solidFill>
                  </a:rPr>
                  <a:t>1</a:t>
                </a:r>
                <a:endParaRPr lang="en-US" b="1">
                  <a:solidFill>
                    <a:schemeClr val="bg1"/>
                  </a:solidFill>
                </a:endParaRPr>
              </a:p>
            </p:txBody>
          </p:sp>
          <p:sp>
            <p:nvSpPr>
              <p:cNvPr id="21518" name="Rectangle 13"/>
              <p:cNvSpPr>
                <a:spLocks noChangeArrowheads="1"/>
              </p:cNvSpPr>
              <p:nvPr/>
            </p:nvSpPr>
            <p:spPr bwMode="auto">
              <a:xfrm>
                <a:off x="2303" y="1424"/>
                <a:ext cx="192" cy="192"/>
              </a:xfrm>
              <a:prstGeom prst="rect">
                <a:avLst/>
              </a:prstGeom>
              <a:solidFill>
                <a:schemeClr val="folHlink"/>
              </a:solidFill>
              <a:ln w="28575" algn="ctr">
                <a:solidFill>
                  <a:schemeClr val="tx1"/>
                </a:solidFill>
                <a:miter lim="800000"/>
                <a:headEnd/>
                <a:tailEnd/>
              </a:ln>
            </p:spPr>
            <p:txBody>
              <a:bodyPr wrap="none" lIns="82124" tIns="41061" rIns="82124" bIns="41061" anchor="ctr"/>
              <a:lstStyle/>
              <a:p>
                <a:pPr algn="ctr" defTabSz="814388"/>
                <a:r>
                  <a:rPr lang="en-CA" b="1">
                    <a:solidFill>
                      <a:schemeClr val="bg1"/>
                    </a:solidFill>
                  </a:rPr>
                  <a:t>2</a:t>
                </a:r>
                <a:endParaRPr lang="en-US" b="1">
                  <a:solidFill>
                    <a:schemeClr val="bg1"/>
                  </a:solidFill>
                </a:endParaRPr>
              </a:p>
            </p:txBody>
          </p:sp>
          <p:sp>
            <p:nvSpPr>
              <p:cNvPr id="21519" name="Rectangle 14"/>
              <p:cNvSpPr>
                <a:spLocks noChangeArrowheads="1"/>
              </p:cNvSpPr>
              <p:nvPr/>
            </p:nvSpPr>
            <p:spPr bwMode="auto">
              <a:xfrm>
                <a:off x="3222" y="1521"/>
                <a:ext cx="192" cy="192"/>
              </a:xfrm>
              <a:prstGeom prst="rect">
                <a:avLst/>
              </a:prstGeom>
              <a:solidFill>
                <a:schemeClr val="folHlink"/>
              </a:solidFill>
              <a:ln w="28575" algn="ctr">
                <a:solidFill>
                  <a:schemeClr val="tx1"/>
                </a:solidFill>
                <a:miter lim="800000"/>
                <a:headEnd/>
                <a:tailEnd/>
              </a:ln>
            </p:spPr>
            <p:txBody>
              <a:bodyPr wrap="none" lIns="82124" tIns="41061" rIns="82124" bIns="41061" anchor="ctr"/>
              <a:lstStyle/>
              <a:p>
                <a:pPr algn="ctr" defTabSz="814388"/>
                <a:r>
                  <a:rPr lang="en-CA" b="1">
                    <a:solidFill>
                      <a:schemeClr val="bg1"/>
                    </a:solidFill>
                  </a:rPr>
                  <a:t>3</a:t>
                </a:r>
                <a:endParaRPr lang="en-US" b="1">
                  <a:solidFill>
                    <a:schemeClr val="bg1"/>
                  </a:solidFill>
                </a:endParaRPr>
              </a:p>
            </p:txBody>
          </p:sp>
          <p:pic>
            <p:nvPicPr>
              <p:cNvPr id="21520" name="Picture 15" descr="Router"/>
              <p:cNvPicPr>
                <a:picLocks noChangeAspect="1" noChangeArrowheads="1"/>
              </p:cNvPicPr>
              <p:nvPr/>
            </p:nvPicPr>
            <p:blipFill>
              <a:blip r:embed="rId3" cstate="print"/>
              <a:srcRect/>
              <a:stretch>
                <a:fillRect/>
              </a:stretch>
            </p:blipFill>
            <p:spPr bwMode="auto">
              <a:xfrm>
                <a:off x="2958" y="978"/>
                <a:ext cx="720" cy="506"/>
              </a:xfrm>
              <a:prstGeom prst="rect">
                <a:avLst/>
              </a:prstGeom>
              <a:noFill/>
              <a:ln w="9525">
                <a:noFill/>
                <a:miter lim="800000"/>
                <a:headEnd/>
                <a:tailEnd/>
              </a:ln>
            </p:spPr>
          </p:pic>
          <p:pic>
            <p:nvPicPr>
              <p:cNvPr id="21521" name="Picture 16" descr="EndUser_Female_Left"/>
              <p:cNvPicPr>
                <a:picLocks noChangeAspect="1" noChangeArrowheads="1"/>
              </p:cNvPicPr>
              <p:nvPr/>
            </p:nvPicPr>
            <p:blipFill>
              <a:blip r:embed="rId4" cstate="print"/>
              <a:srcRect/>
              <a:stretch>
                <a:fillRect/>
              </a:stretch>
            </p:blipFill>
            <p:spPr bwMode="auto">
              <a:xfrm>
                <a:off x="1162" y="912"/>
                <a:ext cx="536" cy="714"/>
              </a:xfrm>
              <a:prstGeom prst="rect">
                <a:avLst/>
              </a:prstGeom>
              <a:noFill/>
              <a:ln w="9525">
                <a:noFill/>
                <a:miter lim="800000"/>
                <a:headEnd/>
                <a:tailEnd/>
              </a:ln>
            </p:spPr>
          </p:pic>
        </p:grpSp>
      </p:grpSp>
      <p:sp>
        <p:nvSpPr>
          <p:cNvPr id="21509" name="Rectangle 35"/>
          <p:cNvSpPr>
            <a:spLocks noGrp="1" noChangeArrowheads="1"/>
          </p:cNvSpPr>
          <p:nvPr>
            <p:ph type="body" sz="half" idx="2"/>
          </p:nvPr>
        </p:nvSpPr>
        <p:spPr>
          <a:xfrm>
            <a:off x="1146413" y="5717293"/>
            <a:ext cx="9403306" cy="987020"/>
          </a:xfrm>
        </p:spPr>
        <p:txBody>
          <a:bodyPr>
            <a:normAutofit/>
          </a:bodyPr>
          <a:lstStyle/>
          <a:p>
            <a:r>
              <a:rPr lang="en-US" dirty="0"/>
              <a:t>Used for small networks</a:t>
            </a:r>
          </a:p>
          <a:p>
            <a:r>
              <a:rPr lang="en-US" dirty="0"/>
              <a:t>Stores usernames and passwords locally in the Cisco router</a:t>
            </a:r>
          </a:p>
        </p:txBody>
      </p:sp>
      <p:sp>
        <p:nvSpPr>
          <p:cNvPr id="20" name="Text Box 16"/>
          <p:cNvSpPr txBox="1">
            <a:spLocks noChangeArrowheads="1"/>
          </p:cNvSpPr>
          <p:nvPr/>
        </p:nvSpPr>
        <p:spPr bwMode="auto">
          <a:xfrm>
            <a:off x="5760414" y="1424308"/>
            <a:ext cx="5521326" cy="738664"/>
          </a:xfrm>
          <a:prstGeom prst="rect">
            <a:avLst/>
          </a:prstGeom>
          <a:solidFill>
            <a:srgbClr val="DDDDDD"/>
          </a:solidFill>
          <a:ln w="28575" algn="ctr">
            <a:solidFill>
              <a:schemeClr val="tx1"/>
            </a:solidFill>
            <a:miter lim="800000"/>
            <a:headEnd/>
            <a:tailEnd/>
          </a:ln>
        </p:spPr>
        <p:txBody>
          <a:bodyPr wrap="square">
            <a:spAutoFit/>
          </a:bodyPr>
          <a:lstStyle/>
          <a:p>
            <a:pPr eaLnBrk="1" hangingPunct="1">
              <a:lnSpc>
                <a:spcPct val="100000"/>
              </a:lnSpc>
            </a:pPr>
            <a:r>
              <a:rPr lang="en-US" altLang="zh-CN" sz="1400" dirty="0">
                <a:solidFill>
                  <a:srgbClr val="002060"/>
                </a:solidFill>
                <a:latin typeface="Courier New" pitchFamily="49" charset="0"/>
                <a:ea typeface="SimSun" pitchFamily="2" charset="-122"/>
              </a:rPr>
              <a:t>R1(</a:t>
            </a:r>
            <a:r>
              <a:rPr lang="en-US" altLang="zh-CN" sz="1400" dirty="0" err="1">
                <a:solidFill>
                  <a:srgbClr val="002060"/>
                </a:solidFill>
                <a:latin typeface="Courier New" pitchFamily="49" charset="0"/>
                <a:ea typeface="SimSun" pitchFamily="2" charset="-122"/>
              </a:rPr>
              <a:t>config</a:t>
            </a:r>
            <a:r>
              <a:rPr lang="en-US" altLang="zh-CN" sz="1400" dirty="0">
                <a:solidFill>
                  <a:srgbClr val="002060"/>
                </a:solidFill>
                <a:latin typeface="Courier New" pitchFamily="49" charset="0"/>
                <a:ea typeface="SimSun" pitchFamily="2" charset="-122"/>
              </a:rPr>
              <a:t>)# </a:t>
            </a:r>
            <a:r>
              <a:rPr lang="en-US" altLang="zh-CN" sz="1400" b="1" dirty="0">
                <a:solidFill>
                  <a:srgbClr val="002060"/>
                </a:solidFill>
                <a:latin typeface="Courier New" pitchFamily="49" charset="0"/>
                <a:ea typeface="SimSun" pitchFamily="2" charset="-122"/>
              </a:rPr>
              <a:t>username Admin secret Str0ng5rPa55w0rd</a:t>
            </a:r>
            <a:endParaRPr lang="en-US" altLang="zh-CN" sz="1400" dirty="0">
              <a:solidFill>
                <a:srgbClr val="002060"/>
              </a:solidFill>
              <a:latin typeface="Courier New" pitchFamily="49" charset="0"/>
              <a:ea typeface="SimSun" pitchFamily="2" charset="-122"/>
            </a:endParaRPr>
          </a:p>
          <a:p>
            <a:pPr eaLnBrk="1" hangingPunct="1">
              <a:lnSpc>
                <a:spcPct val="100000"/>
              </a:lnSpc>
            </a:pPr>
            <a:r>
              <a:rPr lang="en-US" altLang="zh-CN" sz="1400" dirty="0">
                <a:solidFill>
                  <a:srgbClr val="002060"/>
                </a:solidFill>
                <a:latin typeface="Courier New" pitchFamily="49" charset="0"/>
                <a:ea typeface="SimSun" pitchFamily="2" charset="-122"/>
              </a:rPr>
              <a:t>R1(</a:t>
            </a:r>
            <a:r>
              <a:rPr lang="en-US" altLang="zh-CN" sz="1400" dirty="0" err="1">
                <a:solidFill>
                  <a:srgbClr val="002060"/>
                </a:solidFill>
                <a:latin typeface="Courier New" pitchFamily="49" charset="0"/>
                <a:ea typeface="SimSun" pitchFamily="2" charset="-122"/>
              </a:rPr>
              <a:t>config</a:t>
            </a:r>
            <a:r>
              <a:rPr lang="en-US" altLang="zh-CN" sz="1400" dirty="0">
                <a:solidFill>
                  <a:srgbClr val="002060"/>
                </a:solidFill>
                <a:latin typeface="Courier New" pitchFamily="49" charset="0"/>
                <a:ea typeface="SimSun" pitchFamily="2" charset="-122"/>
              </a:rPr>
              <a:t>)# </a:t>
            </a:r>
            <a:r>
              <a:rPr lang="en-US" altLang="zh-CN" sz="1400" b="1" dirty="0">
                <a:solidFill>
                  <a:srgbClr val="002060"/>
                </a:solidFill>
                <a:latin typeface="Courier New" pitchFamily="49" charset="0"/>
                <a:ea typeface="SimSun" pitchFamily="2" charset="-122"/>
              </a:rPr>
              <a:t>line </a:t>
            </a:r>
            <a:r>
              <a:rPr lang="en-US" altLang="zh-CN" sz="1400" b="1" dirty="0" err="1">
                <a:solidFill>
                  <a:srgbClr val="002060"/>
                </a:solidFill>
                <a:latin typeface="Courier New" pitchFamily="49" charset="0"/>
                <a:ea typeface="SimSun" pitchFamily="2" charset="-122"/>
              </a:rPr>
              <a:t>vty</a:t>
            </a:r>
            <a:r>
              <a:rPr lang="en-US" altLang="zh-CN" sz="1400" b="1" dirty="0">
                <a:solidFill>
                  <a:srgbClr val="002060"/>
                </a:solidFill>
                <a:latin typeface="Courier New" pitchFamily="49" charset="0"/>
                <a:ea typeface="SimSun" pitchFamily="2" charset="-122"/>
              </a:rPr>
              <a:t> 0 4</a:t>
            </a:r>
          </a:p>
          <a:p>
            <a:pPr eaLnBrk="1" hangingPunct="1">
              <a:lnSpc>
                <a:spcPct val="100000"/>
              </a:lnSpc>
            </a:pPr>
            <a:r>
              <a:rPr lang="en-US" altLang="zh-CN" sz="1400" dirty="0">
                <a:solidFill>
                  <a:srgbClr val="002060"/>
                </a:solidFill>
                <a:latin typeface="Courier New" pitchFamily="49" charset="0"/>
                <a:ea typeface="SimSun" pitchFamily="2" charset="-122"/>
              </a:rPr>
              <a:t>R1(</a:t>
            </a:r>
            <a:r>
              <a:rPr lang="en-US" altLang="zh-CN" sz="1400" dirty="0" err="1">
                <a:solidFill>
                  <a:srgbClr val="002060"/>
                </a:solidFill>
                <a:latin typeface="Courier New" pitchFamily="49" charset="0"/>
                <a:ea typeface="SimSun" pitchFamily="2" charset="-122"/>
              </a:rPr>
              <a:t>config</a:t>
            </a:r>
            <a:r>
              <a:rPr lang="en-US" altLang="zh-CN" sz="1400" dirty="0">
                <a:solidFill>
                  <a:srgbClr val="002060"/>
                </a:solidFill>
                <a:latin typeface="Courier New" pitchFamily="49" charset="0"/>
                <a:ea typeface="SimSun" pitchFamily="2" charset="-122"/>
              </a:rPr>
              <a:t>-line)# </a:t>
            </a:r>
            <a:r>
              <a:rPr lang="en-US" altLang="zh-CN" sz="1400" b="1" dirty="0">
                <a:solidFill>
                  <a:srgbClr val="002060"/>
                </a:solidFill>
                <a:latin typeface="Courier New" pitchFamily="49" charset="0"/>
                <a:ea typeface="SimSun" pitchFamily="2" charset="-122"/>
              </a:rPr>
              <a:t>login local</a:t>
            </a:r>
          </a:p>
        </p:txBody>
      </p:sp>
      <p:pic>
        <p:nvPicPr>
          <p:cNvPr id="3" name="Picture 2"/>
          <p:cNvPicPr>
            <a:picLocks noChangeAspect="1"/>
          </p:cNvPicPr>
          <p:nvPr/>
        </p:nvPicPr>
        <p:blipFill rotWithShape="1">
          <a:blip r:embed="rId5">
            <a:biLevel thresh="75000"/>
          </a:blip>
          <a:srcRect l="46374" r="13507" b="18792"/>
          <a:stretch/>
        </p:blipFill>
        <p:spPr>
          <a:xfrm>
            <a:off x="769103" y="1414451"/>
            <a:ext cx="1883391" cy="2029853"/>
          </a:xfrm>
          <a:prstGeom prst="rect">
            <a:avLst/>
          </a:prstGeom>
        </p:spPr>
      </p:pic>
      <p:cxnSp>
        <p:nvCxnSpPr>
          <p:cNvPr id="5" name="Straight Connector 4"/>
          <p:cNvCxnSpPr/>
          <p:nvPr/>
        </p:nvCxnSpPr>
        <p:spPr>
          <a:xfrm>
            <a:off x="2524836" y="1528549"/>
            <a:ext cx="827770" cy="758735"/>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871606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01400" y="673402"/>
            <a:ext cx="7848600" cy="690562"/>
          </a:xfrm>
        </p:spPr>
        <p:txBody>
          <a:bodyPr>
            <a:noAutofit/>
          </a:bodyPr>
          <a:lstStyle/>
          <a:p>
            <a:r>
              <a:rPr lang="en-US" dirty="0"/>
              <a:t>Server-Based AAA Authentication</a:t>
            </a:r>
          </a:p>
        </p:txBody>
      </p:sp>
      <p:sp>
        <p:nvSpPr>
          <p:cNvPr id="22531" name="Rectangle 38"/>
          <p:cNvSpPr>
            <a:spLocks noGrp="1" noChangeArrowheads="1"/>
          </p:cNvSpPr>
          <p:nvPr>
            <p:ph type="body" sz="half" idx="1"/>
          </p:nvPr>
        </p:nvSpPr>
        <p:spPr>
          <a:xfrm>
            <a:off x="901400" y="1409208"/>
            <a:ext cx="9456545" cy="2368550"/>
          </a:xfrm>
        </p:spPr>
        <p:txBody>
          <a:bodyPr>
            <a:normAutofit/>
          </a:bodyPr>
          <a:lstStyle/>
          <a:p>
            <a:r>
              <a:rPr lang="en-US" sz="2400" dirty="0"/>
              <a:t>Uses an external database server</a:t>
            </a:r>
          </a:p>
          <a:p>
            <a:pPr lvl="1"/>
            <a:r>
              <a:rPr lang="en-US" dirty="0"/>
              <a:t>TACACS or RADIUS Server</a:t>
            </a:r>
          </a:p>
          <a:p>
            <a:pPr lvl="1"/>
            <a:r>
              <a:rPr lang="en-US" dirty="0"/>
              <a:t>Microsoft Windows Server Network Policy Server</a:t>
            </a:r>
          </a:p>
          <a:p>
            <a:r>
              <a:rPr lang="en-US" sz="2400" dirty="0"/>
              <a:t>More appropriate if there are multiple routers</a:t>
            </a:r>
          </a:p>
          <a:p>
            <a:endParaRPr lang="en-US" sz="2400" dirty="0"/>
          </a:p>
        </p:txBody>
      </p:sp>
      <p:sp>
        <p:nvSpPr>
          <p:cNvPr id="22532" name="Rectangle 19"/>
          <p:cNvSpPr>
            <a:spLocks noChangeArrowheads="1"/>
          </p:cNvSpPr>
          <p:nvPr/>
        </p:nvSpPr>
        <p:spPr bwMode="auto">
          <a:xfrm>
            <a:off x="2535582" y="4456415"/>
            <a:ext cx="8018912" cy="2215816"/>
          </a:xfrm>
          <a:prstGeom prst="rect">
            <a:avLst/>
          </a:prstGeom>
          <a:noFill/>
          <a:ln w="9525" algn="ctr">
            <a:solidFill>
              <a:schemeClr val="tx1"/>
            </a:solidFill>
            <a:miter lim="800000"/>
            <a:headEnd/>
            <a:tailEnd/>
          </a:ln>
        </p:spPr>
        <p:txBody>
          <a:bodyPr wrap="square" lIns="82124" tIns="41061" rIns="82124" bIns="41061">
            <a:spAutoFit/>
          </a:bodyPr>
          <a:lstStyle/>
          <a:p>
            <a:pPr marL="231775" indent="-231775" defTabSz="814388">
              <a:lnSpc>
                <a:spcPct val="95000"/>
              </a:lnSpc>
              <a:spcBef>
                <a:spcPct val="50000"/>
              </a:spcBef>
              <a:buClr>
                <a:srgbClr val="005569"/>
              </a:buClr>
            </a:pPr>
            <a:r>
              <a:rPr lang="en-US" dirty="0">
                <a:solidFill>
                  <a:srgbClr val="002060"/>
                </a:solidFill>
              </a:rPr>
              <a:t>Server-Based AAA</a:t>
            </a:r>
          </a:p>
          <a:p>
            <a:pPr marL="231775" indent="-231775" defTabSz="814388">
              <a:lnSpc>
                <a:spcPct val="95000"/>
              </a:lnSpc>
              <a:spcBef>
                <a:spcPct val="50000"/>
              </a:spcBef>
              <a:buClr>
                <a:srgbClr val="005569"/>
              </a:buClr>
              <a:buFontTx/>
              <a:buAutoNum type="arabicPeriod"/>
            </a:pPr>
            <a:r>
              <a:rPr lang="en-US" dirty="0">
                <a:solidFill>
                  <a:srgbClr val="002060"/>
                </a:solidFill>
              </a:rPr>
              <a:t>The client establishes a connection with the router.</a:t>
            </a:r>
          </a:p>
          <a:p>
            <a:pPr marL="231775" indent="-231775" defTabSz="814388">
              <a:lnSpc>
                <a:spcPct val="95000"/>
              </a:lnSpc>
              <a:spcBef>
                <a:spcPct val="50000"/>
              </a:spcBef>
              <a:buClr>
                <a:srgbClr val="005569"/>
              </a:buClr>
              <a:buFontTx/>
              <a:buAutoNum type="arabicPeriod"/>
            </a:pPr>
            <a:r>
              <a:rPr lang="en-US" dirty="0">
                <a:solidFill>
                  <a:srgbClr val="002060"/>
                </a:solidFill>
              </a:rPr>
              <a:t>The AAA router prompts the user for a username and password.</a:t>
            </a:r>
          </a:p>
          <a:p>
            <a:pPr marL="231775" indent="-231775" defTabSz="814388">
              <a:lnSpc>
                <a:spcPct val="95000"/>
              </a:lnSpc>
              <a:spcBef>
                <a:spcPct val="50000"/>
              </a:spcBef>
              <a:buClr>
                <a:srgbClr val="005569"/>
              </a:buClr>
              <a:buFontTx/>
              <a:buAutoNum type="arabicPeriod"/>
            </a:pPr>
            <a:r>
              <a:rPr lang="en-US" dirty="0">
                <a:solidFill>
                  <a:srgbClr val="002060"/>
                </a:solidFill>
              </a:rPr>
              <a:t>The router authenticates the username and password using a remote AAA server. </a:t>
            </a:r>
          </a:p>
          <a:p>
            <a:pPr marL="231775" indent="-231775" defTabSz="814388">
              <a:lnSpc>
                <a:spcPct val="95000"/>
              </a:lnSpc>
              <a:spcBef>
                <a:spcPct val="50000"/>
              </a:spcBef>
              <a:buClr>
                <a:srgbClr val="005569"/>
              </a:buClr>
              <a:buFontTx/>
              <a:buAutoNum type="arabicPeriod"/>
            </a:pPr>
            <a:r>
              <a:rPr lang="en-US" dirty="0">
                <a:solidFill>
                  <a:srgbClr val="002060"/>
                </a:solidFill>
              </a:rPr>
              <a:t>The user is authorized to access the network based on information on the remote AAA Server.</a:t>
            </a:r>
          </a:p>
        </p:txBody>
      </p:sp>
      <p:grpSp>
        <p:nvGrpSpPr>
          <p:cNvPr id="22533" name="Group 37"/>
          <p:cNvGrpSpPr>
            <a:grpSpLocks/>
          </p:cNvGrpSpPr>
          <p:nvPr/>
        </p:nvGrpSpPr>
        <p:grpSpPr bwMode="auto">
          <a:xfrm>
            <a:off x="3116262" y="3046714"/>
            <a:ext cx="5695950" cy="1266825"/>
            <a:chOff x="1012" y="2586"/>
            <a:chExt cx="3588" cy="798"/>
          </a:xfrm>
        </p:grpSpPr>
        <p:pic>
          <p:nvPicPr>
            <p:cNvPr id="22534" name="Picture 18"/>
            <p:cNvPicPr>
              <a:picLocks noChangeAspect="1" noChangeArrowheads="1"/>
            </p:cNvPicPr>
            <p:nvPr/>
          </p:nvPicPr>
          <p:blipFill>
            <a:blip r:embed="rId3" cstate="print"/>
            <a:srcRect l="89473" b="59607"/>
            <a:stretch>
              <a:fillRect/>
            </a:stretch>
          </p:blipFill>
          <p:spPr bwMode="auto">
            <a:xfrm>
              <a:off x="4096" y="2781"/>
              <a:ext cx="324" cy="402"/>
            </a:xfrm>
            <a:prstGeom prst="rect">
              <a:avLst/>
            </a:prstGeom>
            <a:noFill/>
            <a:ln w="9525">
              <a:noFill/>
              <a:miter lim="800000"/>
              <a:headEnd/>
              <a:tailEnd/>
            </a:ln>
          </p:spPr>
        </p:pic>
        <p:sp>
          <p:nvSpPr>
            <p:cNvPr id="22535" name="Line 20"/>
            <p:cNvSpPr>
              <a:spLocks noChangeShapeType="1"/>
            </p:cNvSpPr>
            <p:nvPr/>
          </p:nvSpPr>
          <p:spPr bwMode="auto">
            <a:xfrm>
              <a:off x="2000" y="2945"/>
              <a:ext cx="820" cy="0"/>
            </a:xfrm>
            <a:prstGeom prst="line">
              <a:avLst/>
            </a:prstGeom>
            <a:noFill/>
            <a:ln w="38100">
              <a:solidFill>
                <a:schemeClr val="tx1"/>
              </a:solidFill>
              <a:round/>
              <a:headEnd type="none" w="sm" len="sm"/>
              <a:tailEnd type="triangle" w="med" len="med"/>
            </a:ln>
          </p:spPr>
          <p:txBody>
            <a:bodyPr wrap="none" anchor="ctr"/>
            <a:lstStyle/>
            <a:p>
              <a:endParaRPr lang="en-US">
                <a:solidFill>
                  <a:schemeClr val="bg1"/>
                </a:solidFill>
              </a:endParaRPr>
            </a:p>
          </p:txBody>
        </p:sp>
        <p:sp>
          <p:nvSpPr>
            <p:cNvPr id="22536" name="Line 21"/>
            <p:cNvSpPr>
              <a:spLocks noChangeShapeType="1"/>
            </p:cNvSpPr>
            <p:nvPr/>
          </p:nvSpPr>
          <p:spPr bwMode="auto">
            <a:xfrm>
              <a:off x="1954" y="3096"/>
              <a:ext cx="821" cy="0"/>
            </a:xfrm>
            <a:prstGeom prst="line">
              <a:avLst/>
            </a:prstGeom>
            <a:noFill/>
            <a:ln w="38100">
              <a:solidFill>
                <a:schemeClr val="tx1"/>
              </a:solidFill>
              <a:round/>
              <a:headEnd type="triangle" w="med" len="med"/>
              <a:tailEnd type="triangle" w="med" len="med"/>
            </a:ln>
          </p:spPr>
          <p:txBody>
            <a:bodyPr wrap="none" anchor="ctr"/>
            <a:lstStyle/>
            <a:p>
              <a:endParaRPr lang="en-US">
                <a:solidFill>
                  <a:schemeClr val="bg1"/>
                </a:solidFill>
              </a:endParaRPr>
            </a:p>
          </p:txBody>
        </p:sp>
        <p:sp>
          <p:nvSpPr>
            <p:cNvPr id="22537" name="Rectangle 22"/>
            <p:cNvSpPr>
              <a:spLocks noChangeArrowheads="1"/>
            </p:cNvSpPr>
            <p:nvPr/>
          </p:nvSpPr>
          <p:spPr bwMode="auto">
            <a:xfrm>
              <a:off x="2940" y="2586"/>
              <a:ext cx="443" cy="297"/>
            </a:xfrm>
            <a:prstGeom prst="rect">
              <a:avLst/>
            </a:prstGeom>
            <a:noFill/>
            <a:ln w="9525">
              <a:noFill/>
              <a:miter lim="800000"/>
              <a:headEnd/>
              <a:tailEnd/>
            </a:ln>
          </p:spPr>
          <p:txBody>
            <a:bodyPr wrap="none" lIns="103188" tIns="52388" rIns="103188" bIns="52388">
              <a:spAutoFit/>
            </a:bodyPr>
            <a:lstStyle/>
            <a:p>
              <a:pPr algn="ctr" defTabSz="1157288">
                <a:lnSpc>
                  <a:spcPct val="85000"/>
                </a:lnSpc>
              </a:pPr>
              <a:r>
                <a:rPr lang="en-US" sz="1400">
                  <a:solidFill>
                    <a:schemeClr val="bg1"/>
                  </a:solidFill>
                </a:rPr>
                <a:t>AAA</a:t>
              </a:r>
              <a:br>
                <a:rPr lang="en-US" sz="1400">
                  <a:solidFill>
                    <a:schemeClr val="bg1"/>
                  </a:solidFill>
                </a:rPr>
              </a:br>
              <a:r>
                <a:rPr lang="en-US" sz="1400">
                  <a:solidFill>
                    <a:schemeClr val="bg1"/>
                  </a:solidFill>
                </a:rPr>
                <a:t>Router</a:t>
              </a:r>
            </a:p>
          </p:txBody>
        </p:sp>
        <p:sp>
          <p:nvSpPr>
            <p:cNvPr id="22538" name="Rectangle 23"/>
            <p:cNvSpPr>
              <a:spLocks noChangeArrowheads="1"/>
            </p:cNvSpPr>
            <p:nvPr/>
          </p:nvSpPr>
          <p:spPr bwMode="auto">
            <a:xfrm>
              <a:off x="1012" y="2635"/>
              <a:ext cx="874" cy="198"/>
            </a:xfrm>
            <a:prstGeom prst="rect">
              <a:avLst/>
            </a:prstGeom>
            <a:noFill/>
            <a:ln w="9525">
              <a:noFill/>
              <a:miter lim="800000"/>
              <a:headEnd/>
              <a:tailEnd/>
            </a:ln>
          </p:spPr>
          <p:txBody>
            <a:bodyPr wrap="none" lIns="103188" tIns="52388" rIns="103188" bIns="52388">
              <a:spAutoFit/>
            </a:bodyPr>
            <a:lstStyle/>
            <a:p>
              <a:pPr algn="ctr" defTabSz="1157288">
                <a:lnSpc>
                  <a:spcPct val="85000"/>
                </a:lnSpc>
              </a:pPr>
              <a:r>
                <a:rPr lang="en-US" sz="1600">
                  <a:solidFill>
                    <a:schemeClr val="bg1"/>
                  </a:solidFill>
                </a:rPr>
                <a:t>Remote Client</a:t>
              </a:r>
            </a:p>
          </p:txBody>
        </p:sp>
        <p:sp>
          <p:nvSpPr>
            <p:cNvPr id="22539" name="Line 24"/>
            <p:cNvSpPr>
              <a:spLocks noChangeShapeType="1"/>
            </p:cNvSpPr>
            <p:nvPr/>
          </p:nvSpPr>
          <p:spPr bwMode="auto">
            <a:xfrm>
              <a:off x="3359" y="3021"/>
              <a:ext cx="770" cy="0"/>
            </a:xfrm>
            <a:prstGeom prst="line">
              <a:avLst/>
            </a:prstGeom>
            <a:noFill/>
            <a:ln w="50800">
              <a:solidFill>
                <a:schemeClr val="accent2"/>
              </a:solidFill>
              <a:round/>
              <a:headEnd type="none" w="sm" len="sm"/>
              <a:tailEnd type="none" w="sm" len="sm"/>
            </a:ln>
          </p:spPr>
          <p:txBody>
            <a:bodyPr wrap="none" anchor="ctr"/>
            <a:lstStyle/>
            <a:p>
              <a:endParaRPr lang="en-US">
                <a:solidFill>
                  <a:schemeClr val="bg1"/>
                </a:solidFill>
              </a:endParaRPr>
            </a:p>
          </p:txBody>
        </p:sp>
        <p:sp>
          <p:nvSpPr>
            <p:cNvPr id="22540" name="Rectangle 25"/>
            <p:cNvSpPr>
              <a:spLocks noChangeArrowheads="1"/>
            </p:cNvSpPr>
            <p:nvPr/>
          </p:nvSpPr>
          <p:spPr bwMode="auto">
            <a:xfrm>
              <a:off x="2302" y="2754"/>
              <a:ext cx="162" cy="134"/>
            </a:xfrm>
            <a:prstGeom prst="rect">
              <a:avLst/>
            </a:prstGeom>
            <a:solidFill>
              <a:schemeClr val="folHlink"/>
            </a:solidFill>
            <a:ln w="28575" algn="ctr">
              <a:solidFill>
                <a:schemeClr val="tx1"/>
              </a:solidFill>
              <a:miter lim="800000"/>
              <a:headEnd/>
              <a:tailEnd/>
            </a:ln>
          </p:spPr>
          <p:txBody>
            <a:bodyPr wrap="none" lIns="82124" tIns="41061" rIns="82124" bIns="41061" anchor="ctr"/>
            <a:lstStyle/>
            <a:p>
              <a:pPr algn="ctr" defTabSz="814388"/>
              <a:r>
                <a:rPr lang="en-CA" b="1">
                  <a:solidFill>
                    <a:schemeClr val="bg1"/>
                  </a:solidFill>
                </a:rPr>
                <a:t>1</a:t>
              </a:r>
              <a:endParaRPr lang="en-US" b="1">
                <a:solidFill>
                  <a:schemeClr val="bg1"/>
                </a:solidFill>
              </a:endParaRPr>
            </a:p>
          </p:txBody>
        </p:sp>
        <p:sp>
          <p:nvSpPr>
            <p:cNvPr id="22541" name="Rectangle 26"/>
            <p:cNvSpPr>
              <a:spLocks noChangeArrowheads="1"/>
            </p:cNvSpPr>
            <p:nvPr/>
          </p:nvSpPr>
          <p:spPr bwMode="auto">
            <a:xfrm>
              <a:off x="2304" y="3155"/>
              <a:ext cx="163" cy="134"/>
            </a:xfrm>
            <a:prstGeom prst="rect">
              <a:avLst/>
            </a:prstGeom>
            <a:solidFill>
              <a:schemeClr val="folHlink"/>
            </a:solidFill>
            <a:ln w="28575" algn="ctr">
              <a:solidFill>
                <a:schemeClr val="tx1"/>
              </a:solidFill>
              <a:miter lim="800000"/>
              <a:headEnd/>
              <a:tailEnd/>
            </a:ln>
          </p:spPr>
          <p:txBody>
            <a:bodyPr wrap="none" lIns="82124" tIns="41061" rIns="82124" bIns="41061" anchor="ctr"/>
            <a:lstStyle/>
            <a:p>
              <a:pPr algn="ctr" defTabSz="814388"/>
              <a:r>
                <a:rPr lang="en-CA" b="1">
                  <a:solidFill>
                    <a:schemeClr val="bg1"/>
                  </a:solidFill>
                </a:rPr>
                <a:t>2</a:t>
              </a:r>
              <a:endParaRPr lang="en-US" b="1">
                <a:solidFill>
                  <a:schemeClr val="bg1"/>
                </a:solidFill>
              </a:endParaRPr>
            </a:p>
          </p:txBody>
        </p:sp>
        <p:sp>
          <p:nvSpPr>
            <p:cNvPr id="22542" name="Rectangle 27"/>
            <p:cNvSpPr>
              <a:spLocks noChangeArrowheads="1"/>
            </p:cNvSpPr>
            <p:nvPr/>
          </p:nvSpPr>
          <p:spPr bwMode="auto">
            <a:xfrm>
              <a:off x="3116" y="3250"/>
              <a:ext cx="162" cy="134"/>
            </a:xfrm>
            <a:prstGeom prst="rect">
              <a:avLst/>
            </a:prstGeom>
            <a:solidFill>
              <a:schemeClr val="folHlink"/>
            </a:solidFill>
            <a:ln w="28575" algn="ctr">
              <a:solidFill>
                <a:schemeClr val="tx1"/>
              </a:solidFill>
              <a:miter lim="800000"/>
              <a:headEnd/>
              <a:tailEnd/>
            </a:ln>
          </p:spPr>
          <p:txBody>
            <a:bodyPr wrap="none" lIns="82124" tIns="41061" rIns="82124" bIns="41061" anchor="ctr"/>
            <a:lstStyle/>
            <a:p>
              <a:pPr algn="ctr" defTabSz="814388"/>
              <a:r>
                <a:rPr lang="en-CA" b="1">
                  <a:solidFill>
                    <a:schemeClr val="bg1"/>
                  </a:solidFill>
                </a:rPr>
                <a:t>4</a:t>
              </a:r>
              <a:endParaRPr lang="en-US" b="1">
                <a:solidFill>
                  <a:schemeClr val="bg1"/>
                </a:solidFill>
              </a:endParaRPr>
            </a:p>
          </p:txBody>
        </p:sp>
        <p:pic>
          <p:nvPicPr>
            <p:cNvPr id="22543" name="Picture 28" descr="Router"/>
            <p:cNvPicPr>
              <a:picLocks noChangeAspect="1" noChangeArrowheads="1"/>
            </p:cNvPicPr>
            <p:nvPr/>
          </p:nvPicPr>
          <p:blipFill>
            <a:blip r:embed="rId4" cstate="print"/>
            <a:srcRect/>
            <a:stretch>
              <a:fillRect/>
            </a:stretch>
          </p:blipFill>
          <p:spPr bwMode="auto">
            <a:xfrm>
              <a:off x="2858" y="2843"/>
              <a:ext cx="607" cy="354"/>
            </a:xfrm>
            <a:prstGeom prst="rect">
              <a:avLst/>
            </a:prstGeom>
            <a:noFill/>
            <a:ln w="9525">
              <a:noFill/>
              <a:miter lim="800000"/>
              <a:headEnd/>
              <a:tailEnd/>
            </a:ln>
          </p:spPr>
        </p:pic>
        <p:pic>
          <p:nvPicPr>
            <p:cNvPr id="22544" name="Picture 29" descr="EndUser_Female_Left"/>
            <p:cNvPicPr>
              <a:picLocks noChangeAspect="1" noChangeArrowheads="1"/>
            </p:cNvPicPr>
            <p:nvPr/>
          </p:nvPicPr>
          <p:blipFill>
            <a:blip r:embed="rId5" cstate="print"/>
            <a:srcRect/>
            <a:stretch>
              <a:fillRect/>
            </a:stretch>
          </p:blipFill>
          <p:spPr bwMode="auto">
            <a:xfrm>
              <a:off x="1341" y="2797"/>
              <a:ext cx="453" cy="499"/>
            </a:xfrm>
            <a:prstGeom prst="rect">
              <a:avLst/>
            </a:prstGeom>
            <a:noFill/>
            <a:ln w="9525">
              <a:noFill/>
              <a:miter lim="800000"/>
              <a:headEnd/>
              <a:tailEnd/>
            </a:ln>
          </p:spPr>
        </p:pic>
        <p:sp>
          <p:nvSpPr>
            <p:cNvPr id="22545" name="Line 30"/>
            <p:cNvSpPr>
              <a:spLocks noChangeShapeType="1"/>
            </p:cNvSpPr>
            <p:nvPr/>
          </p:nvSpPr>
          <p:spPr bwMode="auto">
            <a:xfrm>
              <a:off x="3521" y="3116"/>
              <a:ext cx="456" cy="0"/>
            </a:xfrm>
            <a:prstGeom prst="line">
              <a:avLst/>
            </a:prstGeom>
            <a:noFill/>
            <a:ln w="38100">
              <a:solidFill>
                <a:schemeClr val="tx1"/>
              </a:solidFill>
              <a:round/>
              <a:headEnd type="triangle" w="med" len="med"/>
              <a:tailEnd type="triangle" w="med" len="med"/>
            </a:ln>
          </p:spPr>
          <p:txBody>
            <a:bodyPr wrap="none" anchor="ctr"/>
            <a:lstStyle/>
            <a:p>
              <a:endParaRPr lang="en-US">
                <a:solidFill>
                  <a:schemeClr val="bg1"/>
                </a:solidFill>
              </a:endParaRPr>
            </a:p>
          </p:txBody>
        </p:sp>
        <p:sp>
          <p:nvSpPr>
            <p:cNvPr id="22546" name="Text Box 31"/>
            <p:cNvSpPr txBox="1">
              <a:spLocks noChangeArrowheads="1"/>
            </p:cNvSpPr>
            <p:nvPr/>
          </p:nvSpPr>
          <p:spPr bwMode="auto">
            <a:xfrm>
              <a:off x="3984" y="2592"/>
              <a:ext cx="616" cy="233"/>
            </a:xfrm>
            <a:prstGeom prst="rect">
              <a:avLst/>
            </a:prstGeom>
            <a:noFill/>
            <a:ln w="9525">
              <a:noFill/>
              <a:miter lim="800000"/>
              <a:headEnd/>
              <a:tailEnd/>
            </a:ln>
          </p:spPr>
          <p:txBody>
            <a:bodyPr>
              <a:spAutoFit/>
            </a:bodyPr>
            <a:lstStyle/>
            <a:p>
              <a:pPr eaLnBrk="1" hangingPunct="1">
                <a:lnSpc>
                  <a:spcPct val="100000"/>
                </a:lnSpc>
              </a:pPr>
              <a:r>
                <a:rPr lang="en-US" sz="900" b="1">
                  <a:solidFill>
                    <a:schemeClr val="bg1"/>
                  </a:solidFill>
                </a:rPr>
                <a:t>Cisco Secure ACS Server</a:t>
              </a:r>
            </a:p>
          </p:txBody>
        </p:sp>
        <p:sp>
          <p:nvSpPr>
            <p:cNvPr id="22548" name="Rectangle 33"/>
            <p:cNvSpPr>
              <a:spLocks noChangeArrowheads="1"/>
            </p:cNvSpPr>
            <p:nvPr/>
          </p:nvSpPr>
          <p:spPr bwMode="auto">
            <a:xfrm>
              <a:off x="3693" y="3191"/>
              <a:ext cx="163" cy="134"/>
            </a:xfrm>
            <a:prstGeom prst="rect">
              <a:avLst/>
            </a:prstGeom>
            <a:solidFill>
              <a:schemeClr val="folHlink"/>
            </a:solidFill>
            <a:ln w="28575" algn="ctr">
              <a:solidFill>
                <a:schemeClr val="tx1"/>
              </a:solidFill>
              <a:miter lim="800000"/>
              <a:headEnd/>
              <a:tailEnd/>
            </a:ln>
          </p:spPr>
          <p:txBody>
            <a:bodyPr wrap="none" lIns="82124" tIns="41061" rIns="82124" bIns="41061" anchor="ctr"/>
            <a:lstStyle/>
            <a:p>
              <a:pPr algn="ctr" defTabSz="814388"/>
              <a:r>
                <a:rPr lang="en-CA" b="1">
                  <a:solidFill>
                    <a:schemeClr val="bg1"/>
                  </a:solidFill>
                </a:rPr>
                <a:t>3</a:t>
              </a:r>
              <a:endParaRPr lang="en-US" b="1">
                <a:solidFill>
                  <a:schemeClr val="bg1"/>
                </a:solidFill>
              </a:endParaRPr>
            </a:p>
          </p:txBody>
        </p:sp>
      </p:grpSp>
    </p:spTree>
    <p:extLst>
      <p:ext uri="{BB962C8B-B14F-4D97-AF65-F5344CB8AC3E}">
        <p14:creationId xmlns:p14="http://schemas.microsoft.com/office/powerpoint/2010/main" val="21853999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SG" dirty="0"/>
              <a:t>Configuring AAA</a:t>
            </a:r>
          </a:p>
        </p:txBody>
      </p:sp>
      <p:sp>
        <p:nvSpPr>
          <p:cNvPr id="6" name="Content Placeholder 5"/>
          <p:cNvSpPr>
            <a:spLocks noGrp="1"/>
          </p:cNvSpPr>
          <p:nvPr>
            <p:ph idx="1"/>
          </p:nvPr>
        </p:nvSpPr>
        <p:spPr>
          <a:xfrm>
            <a:off x="838199" y="1575437"/>
            <a:ext cx="10515600" cy="2082164"/>
          </a:xfrm>
        </p:spPr>
        <p:txBody>
          <a:bodyPr>
            <a:normAutofit/>
          </a:bodyPr>
          <a:lstStyle/>
          <a:p>
            <a:pPr marL="0" indent="0">
              <a:lnSpc>
                <a:spcPct val="85000"/>
              </a:lnSpc>
              <a:buSzPct val="70000"/>
              <a:buNone/>
            </a:pPr>
            <a:r>
              <a:rPr lang="en-US" b="1" dirty="0">
                <a:solidFill>
                  <a:srgbClr val="002060"/>
                </a:solidFill>
                <a:latin typeface="Arial" panose="020B0604020202020204" pitchFamily="34" charset="0"/>
                <a:cs typeface="Arial" panose="020B0604020202020204" pitchFamily="34" charset="0"/>
              </a:rPr>
              <a:t>R1#aaa </a:t>
            </a:r>
            <a:r>
              <a:rPr lang="en-US" b="1" dirty="0">
                <a:solidFill>
                  <a:srgbClr val="002060"/>
                </a:solidFill>
                <a:cs typeface="Arial" panose="020B0604020202020204" pitchFamily="34" charset="0"/>
              </a:rPr>
              <a:t>new-model</a:t>
            </a:r>
          </a:p>
          <a:p>
            <a:pPr marL="0" indent="0">
              <a:lnSpc>
                <a:spcPct val="85000"/>
              </a:lnSpc>
              <a:buSzPct val="70000"/>
              <a:buNone/>
            </a:pPr>
            <a:r>
              <a:rPr lang="en-US" dirty="0">
                <a:latin typeface="Arial" panose="020B0604020202020204" pitchFamily="34" charset="0"/>
                <a:cs typeface="Arial" panose="020B0604020202020204" pitchFamily="34" charset="0"/>
              </a:rPr>
              <a:t>Enable AAA features by using the global configuration command. By default it is off.</a:t>
            </a:r>
          </a:p>
          <a:p>
            <a:pPr marL="0" indent="0">
              <a:lnSpc>
                <a:spcPct val="85000"/>
              </a:lnSpc>
              <a:buSzPct val="70000"/>
              <a:buNone/>
            </a:pPr>
            <a:r>
              <a:rPr lang="en-US" b="1" dirty="0">
                <a:solidFill>
                  <a:srgbClr val="002060"/>
                </a:solidFill>
                <a:latin typeface="Arial" panose="020B0604020202020204" pitchFamily="34" charset="0"/>
                <a:cs typeface="Arial" panose="020B0604020202020204" pitchFamily="34" charset="0"/>
              </a:rPr>
              <a:t>R1#aaa authentication</a:t>
            </a:r>
            <a:r>
              <a:rPr lang="en-US" b="1" dirty="0">
                <a:solidFill>
                  <a:schemeClr val="accent2"/>
                </a:solidFill>
                <a:latin typeface="Arial" panose="020B0604020202020204" pitchFamily="34" charset="0"/>
                <a:cs typeface="Arial" panose="020B0604020202020204" pitchFamily="34" charset="0"/>
              </a:rPr>
              <a:t> </a:t>
            </a:r>
            <a:r>
              <a:rPr lang="en-US" b="1" i="1" dirty="0">
                <a:solidFill>
                  <a:schemeClr val="accent2"/>
                </a:solidFill>
                <a:latin typeface="Arial" panose="020B0604020202020204" pitchFamily="34" charset="0"/>
                <a:cs typeface="Arial" panose="020B0604020202020204" pitchFamily="34" charset="0"/>
              </a:rPr>
              <a:t>type</a:t>
            </a:r>
            <a:r>
              <a:rPr lang="en-US" b="1" dirty="0">
                <a:solidFill>
                  <a:schemeClr val="accent2"/>
                </a:solidFill>
                <a:latin typeface="Arial" panose="020B0604020202020204" pitchFamily="34" charset="0"/>
                <a:cs typeface="Arial" panose="020B0604020202020204" pitchFamily="34" charset="0"/>
              </a:rPr>
              <a:t> </a:t>
            </a:r>
            <a:r>
              <a:rPr lang="en-US" b="1" dirty="0">
                <a:solidFill>
                  <a:srgbClr val="002060"/>
                </a:solidFill>
                <a:latin typeface="Arial" panose="020B0604020202020204" pitchFamily="34" charset="0"/>
                <a:cs typeface="Arial" panose="020B0604020202020204" pitchFamily="34" charset="0"/>
              </a:rPr>
              <a:t>default | </a:t>
            </a:r>
            <a:r>
              <a:rPr lang="en-US" b="1" i="1" dirty="0">
                <a:solidFill>
                  <a:srgbClr val="002060"/>
                </a:solidFill>
                <a:latin typeface="Arial" panose="020B0604020202020204" pitchFamily="34" charset="0"/>
                <a:cs typeface="Arial" panose="020B0604020202020204" pitchFamily="34" charset="0"/>
              </a:rPr>
              <a:t>list-name</a:t>
            </a:r>
            <a:r>
              <a:rPr lang="en-US" b="1" dirty="0">
                <a:solidFill>
                  <a:srgbClr val="002060"/>
                </a:solidFill>
                <a:latin typeface="Arial" panose="020B0604020202020204" pitchFamily="34" charset="0"/>
                <a:cs typeface="Arial" panose="020B0604020202020204" pitchFamily="34" charset="0"/>
              </a:rPr>
              <a:t> </a:t>
            </a:r>
            <a:r>
              <a:rPr lang="en-US" b="1" dirty="0">
                <a:solidFill>
                  <a:schemeClr val="accent2"/>
                </a:solidFill>
                <a:latin typeface="Arial" panose="020B0604020202020204" pitchFamily="34" charset="0"/>
                <a:cs typeface="Arial" panose="020B0604020202020204" pitchFamily="34" charset="0"/>
              </a:rPr>
              <a:t>method1,…</a:t>
            </a:r>
          </a:p>
          <a:p>
            <a:pPr marL="0" indent="0">
              <a:buNone/>
            </a:pPr>
            <a:endParaRPr lang="en-SG" dirty="0"/>
          </a:p>
        </p:txBody>
      </p:sp>
      <p:graphicFrame>
        <p:nvGraphicFramePr>
          <p:cNvPr id="7" name="Table 6"/>
          <p:cNvGraphicFramePr>
            <a:graphicFrameLocks noGrp="1"/>
          </p:cNvGraphicFramePr>
          <p:nvPr>
            <p:extLst>
              <p:ext uri="{D42A27DB-BD31-4B8C-83A1-F6EECF244321}">
                <p14:modId xmlns:p14="http://schemas.microsoft.com/office/powerpoint/2010/main" val="3383602051"/>
              </p:ext>
            </p:extLst>
          </p:nvPr>
        </p:nvGraphicFramePr>
        <p:xfrm>
          <a:off x="838198" y="3657601"/>
          <a:ext cx="10515600" cy="2644881"/>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745825561"/>
                    </a:ext>
                  </a:extLst>
                </a:gridCol>
                <a:gridCol w="3505200">
                  <a:extLst>
                    <a:ext uri="{9D8B030D-6E8A-4147-A177-3AD203B41FA5}">
                      <a16:colId xmlns:a16="http://schemas.microsoft.com/office/drawing/2014/main" val="779788749"/>
                    </a:ext>
                  </a:extLst>
                </a:gridCol>
                <a:gridCol w="3505200">
                  <a:extLst>
                    <a:ext uri="{9D8B030D-6E8A-4147-A177-3AD203B41FA5}">
                      <a16:colId xmlns:a16="http://schemas.microsoft.com/office/drawing/2014/main" val="3529411727"/>
                    </a:ext>
                  </a:extLst>
                </a:gridCol>
              </a:tblGrid>
              <a:tr h="633201">
                <a:tc>
                  <a:txBody>
                    <a:bodyPr/>
                    <a:lstStyle/>
                    <a:p>
                      <a:r>
                        <a:rPr lang="en-SG" sz="2400" dirty="0">
                          <a:solidFill>
                            <a:schemeClr val="tx1"/>
                          </a:solidFill>
                          <a:latin typeface="+mn-lt"/>
                        </a:rPr>
                        <a:t>Type</a:t>
                      </a:r>
                    </a:p>
                  </a:txBody>
                  <a:tcPr/>
                </a:tc>
                <a:tc>
                  <a:txBody>
                    <a:bodyPr/>
                    <a:lstStyle/>
                    <a:p>
                      <a:r>
                        <a:rPr lang="en-SG" sz="2400" dirty="0">
                          <a:solidFill>
                            <a:schemeClr val="tx1"/>
                          </a:solidFill>
                          <a:latin typeface="+mn-lt"/>
                        </a:rPr>
                        <a:t>Interfaces affected</a:t>
                      </a:r>
                    </a:p>
                  </a:txBody>
                  <a:tcPr/>
                </a:tc>
                <a:tc>
                  <a:txBody>
                    <a:bodyPr/>
                    <a:lstStyle/>
                    <a:p>
                      <a:r>
                        <a:rPr lang="en-SG" sz="2400" dirty="0">
                          <a:solidFill>
                            <a:schemeClr val="tx1"/>
                          </a:solidFill>
                          <a:latin typeface="+mn-lt"/>
                        </a:rPr>
                        <a:t>Method</a:t>
                      </a:r>
                    </a:p>
                  </a:txBody>
                  <a:tcPr/>
                </a:tc>
                <a:extLst>
                  <a:ext uri="{0D108BD9-81ED-4DB2-BD59-A6C34878D82A}">
                    <a16:rowId xmlns:a16="http://schemas.microsoft.com/office/drawing/2014/main" val="3294229568"/>
                  </a:ext>
                </a:extLst>
              </a:tr>
              <a:tr h="6332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latin typeface="+mn-lt"/>
                          <a:cs typeface="Arial" panose="020B0604020202020204" pitchFamily="34" charset="0"/>
                        </a:rPr>
                        <a:t>login:- enables AAA for logins on TTY,VTY and consoles</a:t>
                      </a:r>
                      <a:endParaRPr lang="en-SG" sz="2400" dirty="0">
                        <a:solidFill>
                          <a:schemeClr val="tx1"/>
                        </a:solidFill>
                        <a:latin typeface="+mn-lt"/>
                      </a:endParaRPr>
                    </a:p>
                  </a:txBody>
                  <a:tcPr/>
                </a:tc>
                <a:tc>
                  <a:txBody>
                    <a:bodyPr/>
                    <a:lstStyle/>
                    <a:p>
                      <a:r>
                        <a:rPr lang="en-SG" sz="2400" dirty="0">
                          <a:solidFill>
                            <a:schemeClr val="tx1"/>
                          </a:solidFill>
                          <a:latin typeface="+mn-lt"/>
                        </a:rPr>
                        <a:t>Default method is auto applied to all interfaces</a:t>
                      </a:r>
                    </a:p>
                  </a:txBody>
                  <a:tcPr/>
                </a:tc>
                <a:tc>
                  <a:txBody>
                    <a:bodyPr/>
                    <a:lstStyle/>
                    <a:p>
                      <a:r>
                        <a:rPr lang="en-SG" sz="2400" dirty="0">
                          <a:solidFill>
                            <a:schemeClr val="tx1"/>
                          </a:solidFill>
                          <a:latin typeface="+mn-lt"/>
                        </a:rPr>
                        <a:t>Local, enable</a:t>
                      </a:r>
                      <a:r>
                        <a:rPr lang="en-SG" sz="2400" baseline="0" dirty="0">
                          <a:solidFill>
                            <a:schemeClr val="tx1"/>
                          </a:solidFill>
                          <a:latin typeface="+mn-lt"/>
                        </a:rPr>
                        <a:t> or line (within the router/</a:t>
                      </a:r>
                      <a:r>
                        <a:rPr lang="en-SG" sz="2400" baseline="0" dirty="0" err="1">
                          <a:solidFill>
                            <a:schemeClr val="tx1"/>
                          </a:solidFill>
                          <a:latin typeface="+mn-lt"/>
                        </a:rPr>
                        <a:t>sw</a:t>
                      </a:r>
                      <a:r>
                        <a:rPr lang="en-SG" sz="2400" baseline="0" dirty="0">
                          <a:solidFill>
                            <a:schemeClr val="tx1"/>
                          </a:solidFill>
                          <a:latin typeface="+mn-lt"/>
                        </a:rPr>
                        <a:t>)</a:t>
                      </a:r>
                      <a:endParaRPr lang="en-SG" sz="2400" dirty="0">
                        <a:solidFill>
                          <a:schemeClr val="tx1"/>
                        </a:solidFill>
                        <a:latin typeface="+mn-lt"/>
                      </a:endParaRPr>
                    </a:p>
                  </a:txBody>
                  <a:tcPr/>
                </a:tc>
                <a:extLst>
                  <a:ext uri="{0D108BD9-81ED-4DB2-BD59-A6C34878D82A}">
                    <a16:rowId xmlns:a16="http://schemas.microsoft.com/office/drawing/2014/main" val="3720543378"/>
                  </a:ext>
                </a:extLst>
              </a:tr>
              <a:tr h="6332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latin typeface="+mn-lt"/>
                          <a:cs typeface="Arial" panose="020B0604020202020204" pitchFamily="34" charset="0"/>
                        </a:rPr>
                        <a:t>enable:- enables AAA for EXEC mode access</a:t>
                      </a:r>
                      <a:endParaRPr lang="en-SG" sz="2400" dirty="0">
                        <a:solidFill>
                          <a:schemeClr val="tx1"/>
                        </a:solidFill>
                        <a:latin typeface="+mn-lt"/>
                      </a:endParaRPr>
                    </a:p>
                  </a:txBody>
                  <a:tcPr/>
                </a:tc>
                <a:tc>
                  <a:txBody>
                    <a:bodyPr/>
                    <a:lstStyle/>
                    <a:p>
                      <a:r>
                        <a:rPr lang="en-SG" sz="2400" dirty="0">
                          <a:solidFill>
                            <a:schemeClr val="tx1"/>
                          </a:solidFill>
                          <a:latin typeface="+mn-lt"/>
                        </a:rPr>
                        <a:t>Named lists to specific interfaces only</a:t>
                      </a:r>
                    </a:p>
                  </a:txBody>
                  <a:tcPr/>
                </a:tc>
                <a:tc>
                  <a:txBody>
                    <a:bodyPr/>
                    <a:lstStyle/>
                    <a:p>
                      <a:r>
                        <a:rPr lang="en-SG" sz="2400" dirty="0">
                          <a:solidFill>
                            <a:schemeClr val="tx1"/>
                          </a:solidFill>
                          <a:latin typeface="+mn-lt"/>
                        </a:rPr>
                        <a:t>Group </a:t>
                      </a:r>
                      <a:r>
                        <a:rPr lang="en-SG" sz="2400" dirty="0" err="1">
                          <a:solidFill>
                            <a:schemeClr val="tx1"/>
                          </a:solidFill>
                          <a:latin typeface="+mn-lt"/>
                        </a:rPr>
                        <a:t>tacacs</a:t>
                      </a:r>
                      <a:r>
                        <a:rPr lang="en-SG" sz="2400" dirty="0">
                          <a:solidFill>
                            <a:schemeClr val="tx1"/>
                          </a:solidFill>
                          <a:latin typeface="+mn-lt"/>
                        </a:rPr>
                        <a:t>+, radius, </a:t>
                      </a:r>
                      <a:r>
                        <a:rPr lang="en-SG" sz="2400" dirty="0" err="1">
                          <a:solidFill>
                            <a:schemeClr val="tx1"/>
                          </a:solidFill>
                          <a:latin typeface="+mn-lt"/>
                        </a:rPr>
                        <a:t>kerberos</a:t>
                      </a:r>
                      <a:r>
                        <a:rPr lang="en-SG" sz="2400" dirty="0">
                          <a:solidFill>
                            <a:schemeClr val="tx1"/>
                          </a:solidFill>
                          <a:latin typeface="+mn-lt"/>
                        </a:rPr>
                        <a:t> (external servers)</a:t>
                      </a:r>
                    </a:p>
                  </a:txBody>
                  <a:tcPr/>
                </a:tc>
                <a:extLst>
                  <a:ext uri="{0D108BD9-81ED-4DB2-BD59-A6C34878D82A}">
                    <a16:rowId xmlns:a16="http://schemas.microsoft.com/office/drawing/2014/main" val="3574165998"/>
                  </a:ext>
                </a:extLst>
              </a:tr>
            </a:tbl>
          </a:graphicData>
        </a:graphic>
      </p:graphicFrame>
    </p:spTree>
    <p:extLst>
      <p:ext uri="{BB962C8B-B14F-4D97-AF65-F5344CB8AC3E}">
        <p14:creationId xmlns:p14="http://schemas.microsoft.com/office/powerpoint/2010/main" val="3256118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AAA Examples (local default)</a:t>
            </a:r>
          </a:p>
        </p:txBody>
      </p:sp>
      <p:sp>
        <p:nvSpPr>
          <p:cNvPr id="4" name="Rectangle 5"/>
          <p:cNvSpPr>
            <a:spLocks noChangeArrowheads="1"/>
          </p:cNvSpPr>
          <p:nvPr/>
        </p:nvSpPr>
        <p:spPr bwMode="auto">
          <a:xfrm>
            <a:off x="243840" y="1919288"/>
            <a:ext cx="9425940" cy="3108543"/>
          </a:xfrm>
          <a:prstGeom prst="rect">
            <a:avLst/>
          </a:prstGeom>
          <a:solidFill>
            <a:srgbClr val="DDDDDD"/>
          </a:solidFill>
          <a:ln w="12700">
            <a:solidFill>
              <a:srgbClr val="000000"/>
            </a:solidFill>
            <a:miter lim="800000"/>
            <a:headEnd/>
            <a:tailEnd/>
          </a:ln>
        </p:spPr>
        <p:txBody>
          <a:bodyPr wrap="square">
            <a:spAutoFit/>
          </a:bodyPr>
          <a:lstStyle/>
          <a:p>
            <a:pPr eaLnBrk="1" hangingPunct="1">
              <a:lnSpc>
                <a:spcPct val="100000"/>
              </a:lnSpc>
            </a:pPr>
            <a:r>
              <a:rPr lang="en-US" sz="2800" b="0" dirty="0">
                <a:solidFill>
                  <a:srgbClr val="000000"/>
                </a:solidFill>
                <a:latin typeface="Gill Sans MT" panose="020B0502020104020203" pitchFamily="34" charset="0"/>
                <a:ea typeface="宋体" charset="0"/>
                <a:cs typeface="宋体" charset="0"/>
              </a:rPr>
              <a:t>R1# </a:t>
            </a:r>
            <a:r>
              <a:rPr lang="en-US" sz="2800" dirty="0" err="1">
                <a:solidFill>
                  <a:srgbClr val="000000"/>
                </a:solidFill>
                <a:latin typeface="Gill Sans MT" panose="020B0502020104020203" pitchFamily="34" charset="0"/>
                <a:ea typeface="宋体" charset="0"/>
                <a:cs typeface="宋体" charset="0"/>
              </a:rPr>
              <a:t>conf</a:t>
            </a:r>
            <a:r>
              <a:rPr lang="en-US" sz="2800" dirty="0">
                <a:solidFill>
                  <a:srgbClr val="000000"/>
                </a:solidFill>
                <a:latin typeface="Gill Sans MT" panose="020B0502020104020203" pitchFamily="34" charset="0"/>
                <a:ea typeface="宋体" charset="0"/>
                <a:cs typeface="宋体" charset="0"/>
              </a:rPr>
              <a:t> t</a:t>
            </a:r>
          </a:p>
          <a:p>
            <a:pPr eaLnBrk="1" hangingPunct="1">
              <a:lnSpc>
                <a:spcPct val="100000"/>
              </a:lnSpc>
            </a:pPr>
            <a:r>
              <a:rPr lang="en-US" sz="2800" b="0" dirty="0">
                <a:solidFill>
                  <a:srgbClr val="000000"/>
                </a:solidFill>
                <a:latin typeface="Gill Sans MT" panose="020B0502020104020203" pitchFamily="34" charset="0"/>
                <a:ea typeface="宋体" charset="0"/>
                <a:cs typeface="宋体" charset="0"/>
              </a:rPr>
              <a:t>R1(</a:t>
            </a:r>
            <a:r>
              <a:rPr lang="en-US" sz="2800" b="0" dirty="0" err="1">
                <a:solidFill>
                  <a:srgbClr val="000000"/>
                </a:solidFill>
                <a:latin typeface="Gill Sans MT" panose="020B0502020104020203" pitchFamily="34" charset="0"/>
                <a:ea typeface="宋体" charset="0"/>
                <a:cs typeface="宋体" charset="0"/>
              </a:rPr>
              <a:t>config</a:t>
            </a:r>
            <a:r>
              <a:rPr lang="en-US" sz="2800" b="0" dirty="0">
                <a:solidFill>
                  <a:srgbClr val="000000"/>
                </a:solidFill>
                <a:latin typeface="Gill Sans MT" panose="020B0502020104020203" pitchFamily="34" charset="0"/>
                <a:ea typeface="宋体" charset="0"/>
                <a:cs typeface="宋体" charset="0"/>
              </a:rPr>
              <a:t>)# </a:t>
            </a:r>
            <a:r>
              <a:rPr lang="en-US" sz="2800" dirty="0">
                <a:solidFill>
                  <a:srgbClr val="000000"/>
                </a:solidFill>
                <a:latin typeface="Gill Sans MT" panose="020B0502020104020203" pitchFamily="34" charset="0"/>
                <a:ea typeface="宋体" charset="0"/>
                <a:cs typeface="宋体" charset="0"/>
              </a:rPr>
              <a:t>username JR-ADMIN secret Str0ngPa55w0rd</a:t>
            </a:r>
          </a:p>
          <a:p>
            <a:pPr eaLnBrk="1" hangingPunct="1">
              <a:lnSpc>
                <a:spcPct val="100000"/>
              </a:lnSpc>
            </a:pPr>
            <a:r>
              <a:rPr lang="en-US" sz="2800" b="0" dirty="0">
                <a:solidFill>
                  <a:srgbClr val="000000"/>
                </a:solidFill>
                <a:latin typeface="Gill Sans MT" panose="020B0502020104020203" pitchFamily="34" charset="0"/>
                <a:ea typeface="宋体" charset="0"/>
                <a:cs typeface="宋体" charset="0"/>
              </a:rPr>
              <a:t>R1(</a:t>
            </a:r>
            <a:r>
              <a:rPr lang="en-US" sz="2800" b="0" dirty="0" err="1">
                <a:solidFill>
                  <a:srgbClr val="000000"/>
                </a:solidFill>
                <a:latin typeface="Gill Sans MT" panose="020B0502020104020203" pitchFamily="34" charset="0"/>
                <a:ea typeface="宋体" charset="0"/>
                <a:cs typeface="宋体" charset="0"/>
              </a:rPr>
              <a:t>config</a:t>
            </a:r>
            <a:r>
              <a:rPr lang="en-US" sz="2800" b="0" dirty="0">
                <a:solidFill>
                  <a:srgbClr val="000000"/>
                </a:solidFill>
                <a:latin typeface="Gill Sans MT" panose="020B0502020104020203" pitchFamily="34" charset="0"/>
                <a:ea typeface="宋体" charset="0"/>
                <a:cs typeface="宋体" charset="0"/>
              </a:rPr>
              <a:t>)# </a:t>
            </a:r>
            <a:r>
              <a:rPr lang="en-US" sz="2800" dirty="0">
                <a:solidFill>
                  <a:srgbClr val="000000"/>
                </a:solidFill>
                <a:latin typeface="Gill Sans MT" panose="020B0502020104020203" pitchFamily="34" charset="0"/>
                <a:ea typeface="宋体" charset="0"/>
                <a:cs typeface="宋体" charset="0"/>
              </a:rPr>
              <a:t>username ADMIN secret Str0ng5rPa55w0rd</a:t>
            </a:r>
          </a:p>
          <a:p>
            <a:pPr eaLnBrk="1" hangingPunct="1">
              <a:lnSpc>
                <a:spcPct val="100000"/>
              </a:lnSpc>
            </a:pPr>
            <a:r>
              <a:rPr lang="en-US" sz="2800" b="0" dirty="0">
                <a:solidFill>
                  <a:srgbClr val="000000"/>
                </a:solidFill>
                <a:latin typeface="Gill Sans MT" panose="020B0502020104020203" pitchFamily="34" charset="0"/>
                <a:ea typeface="宋体" charset="0"/>
                <a:cs typeface="宋体" charset="0"/>
              </a:rPr>
              <a:t>R1(</a:t>
            </a:r>
            <a:r>
              <a:rPr lang="en-US" sz="2800" b="0" dirty="0" err="1">
                <a:solidFill>
                  <a:srgbClr val="000000"/>
                </a:solidFill>
                <a:latin typeface="Gill Sans MT" panose="020B0502020104020203" pitchFamily="34" charset="0"/>
                <a:ea typeface="宋体" charset="0"/>
                <a:cs typeface="宋体" charset="0"/>
              </a:rPr>
              <a:t>config</a:t>
            </a:r>
            <a:r>
              <a:rPr lang="en-US" sz="2800" b="0" dirty="0">
                <a:solidFill>
                  <a:srgbClr val="000000"/>
                </a:solidFill>
                <a:latin typeface="Gill Sans MT" panose="020B0502020104020203" pitchFamily="34" charset="0"/>
                <a:ea typeface="宋体" charset="0"/>
                <a:cs typeface="宋体" charset="0"/>
              </a:rPr>
              <a:t>)# </a:t>
            </a:r>
            <a:r>
              <a:rPr lang="en-US" sz="2800" dirty="0" err="1">
                <a:solidFill>
                  <a:srgbClr val="000000"/>
                </a:solidFill>
                <a:latin typeface="Gill Sans MT" panose="020B0502020104020203" pitchFamily="34" charset="0"/>
                <a:ea typeface="宋体" charset="0"/>
                <a:cs typeface="宋体" charset="0"/>
              </a:rPr>
              <a:t>aaa</a:t>
            </a:r>
            <a:r>
              <a:rPr lang="en-US" sz="2800" dirty="0">
                <a:solidFill>
                  <a:srgbClr val="000000"/>
                </a:solidFill>
                <a:latin typeface="Gill Sans MT" panose="020B0502020104020203" pitchFamily="34" charset="0"/>
                <a:ea typeface="宋体" charset="0"/>
                <a:cs typeface="宋体" charset="0"/>
              </a:rPr>
              <a:t> new-model</a:t>
            </a:r>
          </a:p>
          <a:p>
            <a:pPr eaLnBrk="1" hangingPunct="1">
              <a:lnSpc>
                <a:spcPct val="100000"/>
              </a:lnSpc>
            </a:pPr>
            <a:r>
              <a:rPr lang="en-US" sz="2800" b="0" dirty="0">
                <a:solidFill>
                  <a:srgbClr val="000000"/>
                </a:solidFill>
                <a:latin typeface="Gill Sans MT" panose="020B0502020104020203" pitchFamily="34" charset="0"/>
                <a:ea typeface="宋体" charset="0"/>
                <a:cs typeface="宋体" charset="0"/>
              </a:rPr>
              <a:t>R1(</a:t>
            </a:r>
            <a:r>
              <a:rPr lang="en-US" sz="2800" b="0" dirty="0" err="1">
                <a:solidFill>
                  <a:srgbClr val="000000"/>
                </a:solidFill>
                <a:latin typeface="Gill Sans MT" panose="020B0502020104020203" pitchFamily="34" charset="0"/>
                <a:ea typeface="宋体" charset="0"/>
                <a:cs typeface="宋体" charset="0"/>
              </a:rPr>
              <a:t>config</a:t>
            </a:r>
            <a:r>
              <a:rPr lang="en-US" sz="2800" b="0" dirty="0">
                <a:solidFill>
                  <a:srgbClr val="000000"/>
                </a:solidFill>
                <a:latin typeface="Gill Sans MT" panose="020B0502020104020203" pitchFamily="34" charset="0"/>
                <a:ea typeface="宋体" charset="0"/>
                <a:cs typeface="宋体" charset="0"/>
              </a:rPr>
              <a:t>)# </a:t>
            </a:r>
            <a:r>
              <a:rPr lang="en-US" sz="2800" dirty="0" err="1">
                <a:solidFill>
                  <a:srgbClr val="000000"/>
                </a:solidFill>
                <a:latin typeface="Gill Sans MT" panose="020B0502020104020203" pitchFamily="34" charset="0"/>
                <a:ea typeface="宋体" charset="0"/>
                <a:cs typeface="宋体" charset="0"/>
              </a:rPr>
              <a:t>aaa</a:t>
            </a:r>
            <a:r>
              <a:rPr lang="en-US" sz="2800" dirty="0">
                <a:solidFill>
                  <a:srgbClr val="000000"/>
                </a:solidFill>
                <a:latin typeface="Gill Sans MT" panose="020B0502020104020203" pitchFamily="34" charset="0"/>
                <a:ea typeface="宋体" charset="0"/>
                <a:cs typeface="宋体" charset="0"/>
              </a:rPr>
              <a:t> authentication login default local enable</a:t>
            </a:r>
          </a:p>
          <a:p>
            <a:pPr eaLnBrk="1" hangingPunct="1">
              <a:lnSpc>
                <a:spcPct val="100000"/>
              </a:lnSpc>
            </a:pPr>
            <a:r>
              <a:rPr lang="en-US" sz="2800" dirty="0">
                <a:solidFill>
                  <a:srgbClr val="000000"/>
                </a:solidFill>
                <a:latin typeface="Gill Sans MT" panose="020B0502020104020203" pitchFamily="34" charset="0"/>
                <a:ea typeface="宋体" charset="0"/>
                <a:cs typeface="宋体" charset="0"/>
              </a:rPr>
              <a:t>R1(config)# line con 0</a:t>
            </a:r>
          </a:p>
          <a:p>
            <a:pPr eaLnBrk="1" hangingPunct="1">
              <a:lnSpc>
                <a:spcPct val="100000"/>
              </a:lnSpc>
            </a:pPr>
            <a:r>
              <a:rPr lang="en-US" sz="2800" dirty="0">
                <a:solidFill>
                  <a:srgbClr val="000000"/>
                </a:solidFill>
                <a:latin typeface="Gill Sans MT" panose="020B0502020104020203" pitchFamily="34" charset="0"/>
                <a:ea typeface="宋体" charset="0"/>
                <a:cs typeface="宋体" charset="0"/>
              </a:rPr>
              <a:t>R1(config-line)# login authentication default</a:t>
            </a:r>
          </a:p>
        </p:txBody>
      </p:sp>
      <p:sp>
        <p:nvSpPr>
          <p:cNvPr id="6" name="Right Brace 5"/>
          <p:cNvSpPr/>
          <p:nvPr/>
        </p:nvSpPr>
        <p:spPr>
          <a:xfrm>
            <a:off x="8766810" y="2393662"/>
            <a:ext cx="45720" cy="800100"/>
          </a:xfrm>
          <a:prstGeom prst="rightBrace">
            <a:avLst/>
          </a:prstGeom>
          <a:ln w="28575"/>
        </p:spPr>
        <p:style>
          <a:lnRef idx="3">
            <a:schemeClr val="accent2"/>
          </a:lnRef>
          <a:fillRef idx="0">
            <a:schemeClr val="accent2"/>
          </a:fillRef>
          <a:effectRef idx="2">
            <a:schemeClr val="accent2"/>
          </a:effectRef>
          <a:fontRef idx="minor">
            <a:schemeClr val="tx1"/>
          </a:fontRef>
        </p:style>
        <p:txBody>
          <a:bodyPr rtlCol="0" anchor="ctr"/>
          <a:lstStyle/>
          <a:p>
            <a:pPr algn="ctr"/>
            <a:endParaRPr lang="en-SG"/>
          </a:p>
        </p:txBody>
      </p:sp>
      <p:sp>
        <p:nvSpPr>
          <p:cNvPr id="7" name="TextBox 6"/>
          <p:cNvSpPr txBox="1"/>
          <p:nvPr/>
        </p:nvSpPr>
        <p:spPr>
          <a:xfrm>
            <a:off x="8964930" y="2277070"/>
            <a:ext cx="2735580" cy="1015663"/>
          </a:xfrm>
          <a:prstGeom prst="rect">
            <a:avLst/>
          </a:prstGeom>
          <a:noFill/>
        </p:spPr>
        <p:txBody>
          <a:bodyPr wrap="square" rtlCol="0">
            <a:spAutoFit/>
          </a:bodyPr>
          <a:lstStyle/>
          <a:p>
            <a:r>
              <a:rPr lang="en-SG" sz="2000" dirty="0">
                <a:solidFill>
                  <a:srgbClr val="FF0000"/>
                </a:solidFill>
                <a:latin typeface="Gill Sans MT" panose="020B0502020104020203" pitchFamily="34" charset="0"/>
              </a:rPr>
              <a:t>Creating the local database with username/password</a:t>
            </a:r>
          </a:p>
        </p:txBody>
      </p:sp>
      <p:cxnSp>
        <p:nvCxnSpPr>
          <p:cNvPr id="9" name="Straight Arrow Connector 8"/>
          <p:cNvCxnSpPr/>
          <p:nvPr/>
        </p:nvCxnSpPr>
        <p:spPr>
          <a:xfrm flipV="1">
            <a:off x="4476750" y="3469928"/>
            <a:ext cx="662940" cy="2286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10" name="TextBox 9"/>
          <p:cNvSpPr txBox="1"/>
          <p:nvPr/>
        </p:nvSpPr>
        <p:spPr>
          <a:xfrm>
            <a:off x="5139690" y="3292733"/>
            <a:ext cx="3131820" cy="400110"/>
          </a:xfrm>
          <a:prstGeom prst="rect">
            <a:avLst/>
          </a:prstGeom>
          <a:noFill/>
        </p:spPr>
        <p:txBody>
          <a:bodyPr wrap="square" rtlCol="0">
            <a:spAutoFit/>
          </a:bodyPr>
          <a:lstStyle/>
          <a:p>
            <a:r>
              <a:rPr lang="en-SG" sz="2000" dirty="0">
                <a:solidFill>
                  <a:srgbClr val="FF0000"/>
                </a:solidFill>
              </a:rPr>
              <a:t>Enables AAA features</a:t>
            </a:r>
          </a:p>
        </p:txBody>
      </p:sp>
      <p:cxnSp>
        <p:nvCxnSpPr>
          <p:cNvPr id="11" name="Straight Arrow Connector 10"/>
          <p:cNvCxnSpPr/>
          <p:nvPr/>
        </p:nvCxnSpPr>
        <p:spPr>
          <a:xfrm flipV="1">
            <a:off x="8519160" y="3879115"/>
            <a:ext cx="1150620" cy="3502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12" name="TextBox 11"/>
          <p:cNvSpPr txBox="1"/>
          <p:nvPr/>
        </p:nvSpPr>
        <p:spPr>
          <a:xfrm>
            <a:off x="9669780" y="3465136"/>
            <a:ext cx="2526030" cy="3170099"/>
          </a:xfrm>
          <a:prstGeom prst="rect">
            <a:avLst/>
          </a:prstGeom>
          <a:noFill/>
        </p:spPr>
        <p:txBody>
          <a:bodyPr wrap="square" rtlCol="0">
            <a:spAutoFit/>
          </a:bodyPr>
          <a:lstStyle/>
          <a:p>
            <a:r>
              <a:rPr lang="en-SG" sz="2000" dirty="0">
                <a:solidFill>
                  <a:srgbClr val="FF0000"/>
                </a:solidFill>
              </a:rPr>
              <a:t>Enables AAA features </a:t>
            </a:r>
            <a:r>
              <a:rPr lang="en-SG" sz="2000" dirty="0">
                <a:solidFill>
                  <a:srgbClr val="0070C0"/>
                </a:solidFill>
              </a:rPr>
              <a:t>on all VTY and Con lines </a:t>
            </a:r>
            <a:r>
              <a:rPr lang="en-SG" sz="2000" dirty="0">
                <a:solidFill>
                  <a:srgbClr val="FF0000"/>
                </a:solidFill>
              </a:rPr>
              <a:t>using </a:t>
            </a:r>
            <a:r>
              <a:rPr lang="en-SG" sz="2000" dirty="0">
                <a:solidFill>
                  <a:srgbClr val="0070C0"/>
                </a:solidFill>
              </a:rPr>
              <a:t>local database as 1</a:t>
            </a:r>
            <a:r>
              <a:rPr lang="en-SG" sz="2000" baseline="30000" dirty="0">
                <a:solidFill>
                  <a:srgbClr val="0070C0"/>
                </a:solidFill>
              </a:rPr>
              <a:t>st</a:t>
            </a:r>
            <a:r>
              <a:rPr lang="en-SG" sz="2000" dirty="0">
                <a:solidFill>
                  <a:srgbClr val="0070C0"/>
                </a:solidFill>
              </a:rPr>
              <a:t> authentication </a:t>
            </a:r>
            <a:r>
              <a:rPr lang="en-SG" sz="2000" dirty="0">
                <a:solidFill>
                  <a:srgbClr val="FF0000"/>
                </a:solidFill>
              </a:rPr>
              <a:t>method. Failing which, enable passwords will be used as 2</a:t>
            </a:r>
            <a:r>
              <a:rPr lang="en-SG" sz="2000" baseline="30000" dirty="0">
                <a:solidFill>
                  <a:srgbClr val="FF0000"/>
                </a:solidFill>
              </a:rPr>
              <a:t>nd</a:t>
            </a:r>
            <a:r>
              <a:rPr lang="en-SG" sz="2000" dirty="0">
                <a:solidFill>
                  <a:srgbClr val="FF0000"/>
                </a:solidFill>
              </a:rPr>
              <a:t> authentication method</a:t>
            </a:r>
          </a:p>
        </p:txBody>
      </p:sp>
      <p:cxnSp>
        <p:nvCxnSpPr>
          <p:cNvPr id="13" name="Straight Arrow Connector 12">
            <a:extLst>
              <a:ext uri="{FF2B5EF4-FFF2-40B4-BE49-F238E27FC236}">
                <a16:creationId xmlns:a16="http://schemas.microsoft.com/office/drawing/2014/main" id="{7D0EE273-7784-43CC-A3A2-C70BA5C0D168}"/>
              </a:ext>
            </a:extLst>
          </p:cNvPr>
          <p:cNvCxnSpPr>
            <a:cxnSpLocks/>
          </p:cNvCxnSpPr>
          <p:nvPr/>
        </p:nvCxnSpPr>
        <p:spPr>
          <a:xfrm flipV="1">
            <a:off x="6096000" y="4131130"/>
            <a:ext cx="304801" cy="457199"/>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14718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SG" dirty="0"/>
              <a:t>AAA Example (local named-list)</a:t>
            </a:r>
          </a:p>
        </p:txBody>
      </p:sp>
      <p:sp>
        <p:nvSpPr>
          <p:cNvPr id="4" name="Rectangle 5"/>
          <p:cNvSpPr>
            <a:spLocks noChangeArrowheads="1"/>
          </p:cNvSpPr>
          <p:nvPr/>
        </p:nvSpPr>
        <p:spPr bwMode="auto">
          <a:xfrm>
            <a:off x="243840" y="1919288"/>
            <a:ext cx="9425940" cy="3108543"/>
          </a:xfrm>
          <a:prstGeom prst="rect">
            <a:avLst/>
          </a:prstGeom>
          <a:solidFill>
            <a:srgbClr val="DDDDDD"/>
          </a:solidFill>
          <a:ln w="12700">
            <a:solidFill>
              <a:srgbClr val="000000"/>
            </a:solidFill>
            <a:miter lim="800000"/>
            <a:headEnd/>
            <a:tailEnd/>
          </a:ln>
        </p:spPr>
        <p:txBody>
          <a:bodyPr wrap="square">
            <a:spAutoFit/>
          </a:bodyPr>
          <a:lstStyle/>
          <a:p>
            <a:pPr eaLnBrk="1" hangingPunct="1">
              <a:lnSpc>
                <a:spcPct val="100000"/>
              </a:lnSpc>
            </a:pPr>
            <a:r>
              <a:rPr lang="en-US" sz="2800" b="0" dirty="0">
                <a:solidFill>
                  <a:srgbClr val="000000"/>
                </a:solidFill>
                <a:latin typeface="Gill Sans MT" panose="020B0502020104020203" pitchFamily="34" charset="0"/>
                <a:ea typeface="宋体" charset="0"/>
                <a:cs typeface="宋体" charset="0"/>
              </a:rPr>
              <a:t>R1# </a:t>
            </a:r>
            <a:r>
              <a:rPr lang="en-US" sz="2800" dirty="0" err="1">
                <a:solidFill>
                  <a:srgbClr val="000000"/>
                </a:solidFill>
                <a:latin typeface="Gill Sans MT" panose="020B0502020104020203" pitchFamily="34" charset="0"/>
                <a:ea typeface="宋体" charset="0"/>
                <a:cs typeface="宋体" charset="0"/>
              </a:rPr>
              <a:t>conf</a:t>
            </a:r>
            <a:r>
              <a:rPr lang="en-US" sz="2800" dirty="0">
                <a:solidFill>
                  <a:srgbClr val="000000"/>
                </a:solidFill>
                <a:latin typeface="Gill Sans MT" panose="020B0502020104020203" pitchFamily="34" charset="0"/>
                <a:ea typeface="宋体" charset="0"/>
                <a:cs typeface="宋体" charset="0"/>
              </a:rPr>
              <a:t> t</a:t>
            </a:r>
          </a:p>
          <a:p>
            <a:pPr eaLnBrk="1" hangingPunct="1">
              <a:lnSpc>
                <a:spcPct val="100000"/>
              </a:lnSpc>
            </a:pPr>
            <a:r>
              <a:rPr lang="en-US" sz="2800" b="0" dirty="0">
                <a:solidFill>
                  <a:srgbClr val="000000"/>
                </a:solidFill>
                <a:latin typeface="Gill Sans MT" panose="020B0502020104020203" pitchFamily="34" charset="0"/>
                <a:ea typeface="宋体" charset="0"/>
                <a:cs typeface="宋体" charset="0"/>
              </a:rPr>
              <a:t>R1(</a:t>
            </a:r>
            <a:r>
              <a:rPr lang="en-US" sz="2800" b="0" dirty="0" err="1">
                <a:solidFill>
                  <a:srgbClr val="000000"/>
                </a:solidFill>
                <a:latin typeface="Gill Sans MT" panose="020B0502020104020203" pitchFamily="34" charset="0"/>
                <a:ea typeface="宋体" charset="0"/>
                <a:cs typeface="宋体" charset="0"/>
              </a:rPr>
              <a:t>config</a:t>
            </a:r>
            <a:r>
              <a:rPr lang="en-US" sz="2800" b="0" dirty="0">
                <a:solidFill>
                  <a:srgbClr val="000000"/>
                </a:solidFill>
                <a:latin typeface="Gill Sans MT" panose="020B0502020104020203" pitchFamily="34" charset="0"/>
                <a:ea typeface="宋体" charset="0"/>
                <a:cs typeface="宋体" charset="0"/>
              </a:rPr>
              <a:t>)# </a:t>
            </a:r>
            <a:r>
              <a:rPr lang="en-US" sz="2800" dirty="0">
                <a:solidFill>
                  <a:srgbClr val="000000"/>
                </a:solidFill>
                <a:latin typeface="Gill Sans MT" panose="020B0502020104020203" pitchFamily="34" charset="0"/>
                <a:ea typeface="宋体" charset="0"/>
                <a:cs typeface="宋体" charset="0"/>
              </a:rPr>
              <a:t>username JR-ADMIN secret Str0ngPa55w0rd</a:t>
            </a:r>
          </a:p>
          <a:p>
            <a:pPr eaLnBrk="1" hangingPunct="1">
              <a:lnSpc>
                <a:spcPct val="100000"/>
              </a:lnSpc>
            </a:pPr>
            <a:r>
              <a:rPr lang="en-US" sz="2800" b="0" dirty="0">
                <a:solidFill>
                  <a:srgbClr val="000000"/>
                </a:solidFill>
                <a:latin typeface="Gill Sans MT" panose="020B0502020104020203" pitchFamily="34" charset="0"/>
                <a:ea typeface="宋体" charset="0"/>
                <a:cs typeface="宋体" charset="0"/>
              </a:rPr>
              <a:t>R1(</a:t>
            </a:r>
            <a:r>
              <a:rPr lang="en-US" sz="2800" b="0" dirty="0" err="1">
                <a:solidFill>
                  <a:srgbClr val="000000"/>
                </a:solidFill>
                <a:latin typeface="Gill Sans MT" panose="020B0502020104020203" pitchFamily="34" charset="0"/>
                <a:ea typeface="宋体" charset="0"/>
                <a:cs typeface="宋体" charset="0"/>
              </a:rPr>
              <a:t>config</a:t>
            </a:r>
            <a:r>
              <a:rPr lang="en-US" sz="2800" b="0" dirty="0">
                <a:solidFill>
                  <a:srgbClr val="000000"/>
                </a:solidFill>
                <a:latin typeface="Gill Sans MT" panose="020B0502020104020203" pitchFamily="34" charset="0"/>
                <a:ea typeface="宋体" charset="0"/>
                <a:cs typeface="宋体" charset="0"/>
              </a:rPr>
              <a:t>)# </a:t>
            </a:r>
            <a:r>
              <a:rPr lang="en-US" sz="2800" dirty="0">
                <a:solidFill>
                  <a:srgbClr val="000000"/>
                </a:solidFill>
                <a:latin typeface="Gill Sans MT" panose="020B0502020104020203" pitchFamily="34" charset="0"/>
                <a:ea typeface="宋体" charset="0"/>
                <a:cs typeface="宋体" charset="0"/>
              </a:rPr>
              <a:t>username ADMIN secret Str0ng5rPa55w0rd</a:t>
            </a:r>
          </a:p>
          <a:p>
            <a:pPr eaLnBrk="1" hangingPunct="1">
              <a:lnSpc>
                <a:spcPct val="100000"/>
              </a:lnSpc>
            </a:pPr>
            <a:r>
              <a:rPr lang="en-US" sz="2800" b="0" dirty="0">
                <a:solidFill>
                  <a:srgbClr val="000000"/>
                </a:solidFill>
                <a:latin typeface="Gill Sans MT" panose="020B0502020104020203" pitchFamily="34" charset="0"/>
                <a:ea typeface="宋体" charset="0"/>
                <a:cs typeface="宋体" charset="0"/>
              </a:rPr>
              <a:t>R1(</a:t>
            </a:r>
            <a:r>
              <a:rPr lang="en-US" sz="2800" b="0" dirty="0" err="1">
                <a:solidFill>
                  <a:srgbClr val="000000"/>
                </a:solidFill>
                <a:latin typeface="Gill Sans MT" panose="020B0502020104020203" pitchFamily="34" charset="0"/>
                <a:ea typeface="宋体" charset="0"/>
                <a:cs typeface="宋体" charset="0"/>
              </a:rPr>
              <a:t>config</a:t>
            </a:r>
            <a:r>
              <a:rPr lang="en-US" sz="2800" b="0" dirty="0">
                <a:solidFill>
                  <a:srgbClr val="000000"/>
                </a:solidFill>
                <a:latin typeface="Gill Sans MT" panose="020B0502020104020203" pitchFamily="34" charset="0"/>
                <a:ea typeface="宋体" charset="0"/>
                <a:cs typeface="宋体" charset="0"/>
              </a:rPr>
              <a:t>)# </a:t>
            </a:r>
            <a:r>
              <a:rPr lang="en-US" sz="2800" dirty="0" err="1">
                <a:solidFill>
                  <a:srgbClr val="000000"/>
                </a:solidFill>
                <a:latin typeface="Gill Sans MT" panose="020B0502020104020203" pitchFamily="34" charset="0"/>
                <a:ea typeface="宋体" charset="0"/>
                <a:cs typeface="宋体" charset="0"/>
              </a:rPr>
              <a:t>aaa</a:t>
            </a:r>
            <a:r>
              <a:rPr lang="en-US" sz="2800" dirty="0">
                <a:solidFill>
                  <a:srgbClr val="000000"/>
                </a:solidFill>
                <a:latin typeface="Gill Sans MT" panose="020B0502020104020203" pitchFamily="34" charset="0"/>
                <a:ea typeface="宋体" charset="0"/>
                <a:cs typeface="宋体" charset="0"/>
              </a:rPr>
              <a:t> new-model</a:t>
            </a:r>
          </a:p>
          <a:p>
            <a:pPr eaLnBrk="1" hangingPunct="1">
              <a:lnSpc>
                <a:spcPct val="100000"/>
              </a:lnSpc>
            </a:pPr>
            <a:r>
              <a:rPr lang="en-US" sz="2800" b="0" dirty="0">
                <a:solidFill>
                  <a:srgbClr val="000000"/>
                </a:solidFill>
                <a:latin typeface="Gill Sans MT" panose="020B0502020104020203" pitchFamily="34" charset="0"/>
                <a:ea typeface="宋体" charset="0"/>
                <a:cs typeface="宋体" charset="0"/>
              </a:rPr>
              <a:t>R1(config)# </a:t>
            </a:r>
            <a:r>
              <a:rPr lang="en-US" sz="2800" dirty="0" err="1">
                <a:solidFill>
                  <a:srgbClr val="000000"/>
                </a:solidFill>
                <a:latin typeface="Gill Sans MT" panose="020B0502020104020203" pitchFamily="34" charset="0"/>
                <a:ea typeface="宋体" charset="0"/>
                <a:cs typeface="宋体" charset="0"/>
              </a:rPr>
              <a:t>aaa</a:t>
            </a:r>
            <a:r>
              <a:rPr lang="en-US" sz="2800" dirty="0">
                <a:solidFill>
                  <a:srgbClr val="000000"/>
                </a:solidFill>
                <a:latin typeface="Gill Sans MT" panose="020B0502020104020203" pitchFamily="34" charset="0"/>
                <a:ea typeface="宋体" charset="0"/>
                <a:cs typeface="宋体" charset="0"/>
              </a:rPr>
              <a:t> authentication login TELNET-LOGIN enable</a:t>
            </a:r>
          </a:p>
          <a:p>
            <a:pPr eaLnBrk="1" hangingPunct="1">
              <a:lnSpc>
                <a:spcPct val="100000"/>
              </a:lnSpc>
            </a:pPr>
            <a:r>
              <a:rPr lang="en-US" sz="2800" b="0" dirty="0">
                <a:solidFill>
                  <a:srgbClr val="000000"/>
                </a:solidFill>
                <a:latin typeface="Gill Sans MT" panose="020B0502020104020203" pitchFamily="34" charset="0"/>
                <a:ea typeface="宋体" charset="0"/>
                <a:cs typeface="宋体" charset="0"/>
              </a:rPr>
              <a:t>R1(</a:t>
            </a:r>
            <a:r>
              <a:rPr lang="en-US" sz="2800" b="0" dirty="0" err="1">
                <a:solidFill>
                  <a:srgbClr val="000000"/>
                </a:solidFill>
                <a:latin typeface="Gill Sans MT" panose="020B0502020104020203" pitchFamily="34" charset="0"/>
                <a:ea typeface="宋体" charset="0"/>
                <a:cs typeface="宋体" charset="0"/>
              </a:rPr>
              <a:t>config</a:t>
            </a:r>
            <a:r>
              <a:rPr lang="en-US" sz="2800" b="0" dirty="0">
                <a:solidFill>
                  <a:srgbClr val="000000"/>
                </a:solidFill>
                <a:latin typeface="Gill Sans MT" panose="020B0502020104020203" pitchFamily="34" charset="0"/>
                <a:ea typeface="宋体" charset="0"/>
                <a:cs typeface="宋体" charset="0"/>
              </a:rPr>
              <a:t>)# </a:t>
            </a:r>
            <a:r>
              <a:rPr lang="en-US" sz="2800" dirty="0">
                <a:solidFill>
                  <a:srgbClr val="000000"/>
                </a:solidFill>
                <a:latin typeface="Gill Sans MT" panose="020B0502020104020203" pitchFamily="34" charset="0"/>
                <a:ea typeface="宋体" charset="0"/>
                <a:cs typeface="宋体" charset="0"/>
              </a:rPr>
              <a:t>line </a:t>
            </a:r>
            <a:r>
              <a:rPr lang="en-US" sz="2800" dirty="0" err="1">
                <a:solidFill>
                  <a:srgbClr val="000000"/>
                </a:solidFill>
                <a:latin typeface="Gill Sans MT" panose="020B0502020104020203" pitchFamily="34" charset="0"/>
                <a:ea typeface="宋体" charset="0"/>
                <a:cs typeface="宋体" charset="0"/>
              </a:rPr>
              <a:t>vty</a:t>
            </a:r>
            <a:r>
              <a:rPr lang="en-US" sz="2800" dirty="0">
                <a:solidFill>
                  <a:srgbClr val="000000"/>
                </a:solidFill>
                <a:latin typeface="Gill Sans MT" panose="020B0502020104020203" pitchFamily="34" charset="0"/>
                <a:ea typeface="宋体" charset="0"/>
                <a:cs typeface="宋体" charset="0"/>
              </a:rPr>
              <a:t> 0 4</a:t>
            </a:r>
          </a:p>
          <a:p>
            <a:pPr eaLnBrk="1" hangingPunct="1">
              <a:lnSpc>
                <a:spcPct val="100000"/>
              </a:lnSpc>
            </a:pPr>
            <a:r>
              <a:rPr lang="en-US" sz="2800" b="0" dirty="0">
                <a:solidFill>
                  <a:srgbClr val="000000"/>
                </a:solidFill>
                <a:latin typeface="Gill Sans MT" panose="020B0502020104020203" pitchFamily="34" charset="0"/>
                <a:ea typeface="宋体" charset="0"/>
                <a:cs typeface="宋体" charset="0"/>
              </a:rPr>
              <a:t>R1(</a:t>
            </a:r>
            <a:r>
              <a:rPr lang="en-US" sz="2800" b="0" dirty="0" err="1">
                <a:solidFill>
                  <a:srgbClr val="000000"/>
                </a:solidFill>
                <a:latin typeface="Gill Sans MT" panose="020B0502020104020203" pitchFamily="34" charset="0"/>
                <a:ea typeface="宋体" charset="0"/>
                <a:cs typeface="宋体" charset="0"/>
              </a:rPr>
              <a:t>config</a:t>
            </a:r>
            <a:r>
              <a:rPr lang="en-US" sz="2800" b="0" dirty="0">
                <a:solidFill>
                  <a:srgbClr val="000000"/>
                </a:solidFill>
                <a:latin typeface="Gill Sans MT" panose="020B0502020104020203" pitchFamily="34" charset="0"/>
                <a:ea typeface="宋体" charset="0"/>
                <a:cs typeface="宋体" charset="0"/>
              </a:rPr>
              <a:t>-line)# </a:t>
            </a:r>
            <a:r>
              <a:rPr lang="en-US" sz="2800" dirty="0">
                <a:solidFill>
                  <a:srgbClr val="000000"/>
                </a:solidFill>
                <a:latin typeface="Gill Sans MT" panose="020B0502020104020203" pitchFamily="34" charset="0"/>
                <a:ea typeface="宋体" charset="0"/>
                <a:cs typeface="宋体" charset="0"/>
              </a:rPr>
              <a:t>login authentication TELNET-LOGIN</a:t>
            </a:r>
          </a:p>
        </p:txBody>
      </p:sp>
      <p:sp>
        <p:nvSpPr>
          <p:cNvPr id="5" name="TextBox 4"/>
          <p:cNvSpPr txBox="1"/>
          <p:nvPr/>
        </p:nvSpPr>
        <p:spPr>
          <a:xfrm>
            <a:off x="9665970" y="4174820"/>
            <a:ext cx="2526030" cy="1938992"/>
          </a:xfrm>
          <a:prstGeom prst="rect">
            <a:avLst/>
          </a:prstGeom>
          <a:noFill/>
        </p:spPr>
        <p:txBody>
          <a:bodyPr wrap="square" rtlCol="0">
            <a:spAutoFit/>
          </a:bodyPr>
          <a:lstStyle/>
          <a:p>
            <a:r>
              <a:rPr lang="en-SG" sz="2000" dirty="0">
                <a:solidFill>
                  <a:srgbClr val="0070C0"/>
                </a:solidFill>
              </a:rPr>
              <a:t>Enables AAA features on </a:t>
            </a:r>
            <a:r>
              <a:rPr lang="en-SG" sz="2000" dirty="0">
                <a:solidFill>
                  <a:srgbClr val="FF0000"/>
                </a:solidFill>
              </a:rPr>
              <a:t>only VTY lines 0 to 4 </a:t>
            </a:r>
            <a:r>
              <a:rPr lang="en-SG" sz="2000" dirty="0">
                <a:solidFill>
                  <a:srgbClr val="0070C0"/>
                </a:solidFill>
              </a:rPr>
              <a:t>using enable password the authentication method. </a:t>
            </a:r>
          </a:p>
        </p:txBody>
      </p:sp>
      <p:cxnSp>
        <p:nvCxnSpPr>
          <p:cNvPr id="6" name="Straight Arrow Connector 5"/>
          <p:cNvCxnSpPr>
            <a:cxnSpLocks/>
          </p:cNvCxnSpPr>
          <p:nvPr/>
        </p:nvCxnSpPr>
        <p:spPr>
          <a:xfrm>
            <a:off x="8833757" y="4049486"/>
            <a:ext cx="934456" cy="525292"/>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7" name="Straight Arrow Connector 6"/>
          <p:cNvCxnSpPr>
            <a:cxnSpLocks/>
          </p:cNvCxnSpPr>
          <p:nvPr/>
        </p:nvCxnSpPr>
        <p:spPr>
          <a:xfrm>
            <a:off x="7615450" y="5027831"/>
            <a:ext cx="586854" cy="778205"/>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10" name="TextBox 9"/>
          <p:cNvSpPr txBox="1"/>
          <p:nvPr/>
        </p:nvSpPr>
        <p:spPr>
          <a:xfrm>
            <a:off x="7615450" y="5739327"/>
            <a:ext cx="2152763" cy="1015663"/>
          </a:xfrm>
          <a:prstGeom prst="rect">
            <a:avLst/>
          </a:prstGeom>
          <a:noFill/>
        </p:spPr>
        <p:txBody>
          <a:bodyPr wrap="square" rtlCol="0">
            <a:spAutoFit/>
          </a:bodyPr>
          <a:lstStyle/>
          <a:p>
            <a:r>
              <a:rPr lang="en-SG" sz="2000" dirty="0">
                <a:solidFill>
                  <a:srgbClr val="FF0000"/>
                </a:solidFill>
              </a:rPr>
              <a:t>Using enable password to authenticate</a:t>
            </a:r>
          </a:p>
        </p:txBody>
      </p:sp>
    </p:spTree>
    <p:extLst>
      <p:ext uri="{BB962C8B-B14F-4D97-AF65-F5344CB8AC3E}">
        <p14:creationId xmlns:p14="http://schemas.microsoft.com/office/powerpoint/2010/main" val="15607680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8"/>
          <p:cNvSpPr>
            <a:spLocks noGrp="1" noChangeArrowheads="1"/>
          </p:cNvSpPr>
          <p:nvPr>
            <p:ph type="body" sz="quarter" idx="10"/>
          </p:nvPr>
        </p:nvSpPr>
        <p:spPr>
          <a:xfrm>
            <a:off x="963386" y="1959428"/>
            <a:ext cx="9379177" cy="4349931"/>
          </a:xfrm>
        </p:spPr>
        <p:txBody>
          <a:bodyPr>
            <a:normAutofit/>
          </a:bodyPr>
          <a:lstStyle/>
          <a:p>
            <a:pPr marL="381000" indent="-381000">
              <a:buFont typeface="Wingdings" charset="0"/>
              <a:buAutoNum type="arabicPeriod"/>
            </a:pPr>
            <a:r>
              <a:rPr lang="en-US" sz="2800" dirty="0">
                <a:latin typeface="Gill Sans MT" panose="020B0502020104020203" pitchFamily="34" charset="0"/>
                <a:cs typeface="Arial" panose="020B0604020202020204" pitchFamily="34" charset="0"/>
              </a:rPr>
              <a:t>Specify the location of the AAA server that will provide AAA services.</a:t>
            </a:r>
          </a:p>
          <a:p>
            <a:pPr marL="381000" indent="-381000">
              <a:buFont typeface="Wingdings" charset="0"/>
              <a:buAutoNum type="arabicPeriod"/>
            </a:pPr>
            <a:r>
              <a:rPr lang="en-US" sz="2800" dirty="0">
                <a:latin typeface="Gill Sans MT" panose="020B0502020104020203" pitchFamily="34" charset="0"/>
                <a:cs typeface="Arial" panose="020B0604020202020204" pitchFamily="34" charset="0"/>
              </a:rPr>
              <a:t>Configure the encryption key needed to encrypt the data transfer between the network access server and Cisco Secure ACS.</a:t>
            </a:r>
          </a:p>
          <a:p>
            <a:pPr marL="381000" indent="-381000">
              <a:buFont typeface="Wingdings" charset="0"/>
              <a:buAutoNum type="arabicPeriod"/>
            </a:pPr>
            <a:endParaRPr lang="en-US" sz="2800" dirty="0">
              <a:latin typeface="Gill Sans MT" panose="020B0502020104020203" pitchFamily="34" charset="0"/>
              <a:cs typeface="Arial" panose="020B0604020202020204" pitchFamily="34" charset="0"/>
            </a:endParaRPr>
          </a:p>
        </p:txBody>
      </p:sp>
      <p:sp>
        <p:nvSpPr>
          <p:cNvPr id="68610" name="Rectangle 7"/>
          <p:cNvSpPr>
            <a:spLocks noGrp="1" noChangeArrowheads="1"/>
          </p:cNvSpPr>
          <p:nvPr>
            <p:ph type="title"/>
          </p:nvPr>
        </p:nvSpPr>
        <p:spPr/>
        <p:txBody>
          <a:bodyPr/>
          <a:lstStyle/>
          <a:p>
            <a:pPr eaLnBrk="1" hangingPunct="1"/>
            <a:r>
              <a:rPr lang="en-US" dirty="0"/>
              <a:t>Server-Based AAA Authentication</a:t>
            </a:r>
          </a:p>
        </p:txBody>
      </p:sp>
    </p:spTree>
    <p:extLst>
      <p:ext uri="{BB962C8B-B14F-4D97-AF65-F5344CB8AC3E}">
        <p14:creationId xmlns:p14="http://schemas.microsoft.com/office/powerpoint/2010/main" val="10848297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dirty="0"/>
              <a:t>AAA Configuration Commands</a:t>
            </a:r>
            <a:r>
              <a:rPr lang="en-US" sz="2100" dirty="0"/>
              <a:t> </a:t>
            </a:r>
          </a:p>
        </p:txBody>
      </p:sp>
      <p:graphicFrame>
        <p:nvGraphicFramePr>
          <p:cNvPr id="111645" name="Group 29"/>
          <p:cNvGraphicFramePr>
            <a:graphicFrameLocks noGrp="1"/>
          </p:cNvGraphicFramePr>
          <p:nvPr>
            <p:ph sz="half" idx="4294967295"/>
            <p:extLst>
              <p:ext uri="{D42A27DB-BD31-4B8C-83A1-F6EECF244321}">
                <p14:modId xmlns:p14="http://schemas.microsoft.com/office/powerpoint/2010/main" val="3531134456"/>
              </p:ext>
            </p:extLst>
          </p:nvPr>
        </p:nvGraphicFramePr>
        <p:xfrm>
          <a:off x="1273630" y="1690688"/>
          <a:ext cx="9900556" cy="4352120"/>
        </p:xfrm>
        <a:graphic>
          <a:graphicData uri="http://schemas.openxmlformats.org/drawingml/2006/table">
            <a:tbl>
              <a:tblPr firstRow="1" firstCol="1" bandRow="1">
                <a:tableStyleId>{3C2FFA5D-87B4-456A-9821-1D502468CF0F}</a:tableStyleId>
              </a:tblPr>
              <a:tblGrid>
                <a:gridCol w="3262576">
                  <a:extLst>
                    <a:ext uri="{9D8B030D-6E8A-4147-A177-3AD203B41FA5}">
                      <a16:colId xmlns:a16="http://schemas.microsoft.com/office/drawing/2014/main" val="20000"/>
                    </a:ext>
                  </a:extLst>
                </a:gridCol>
                <a:gridCol w="6637980">
                  <a:extLst>
                    <a:ext uri="{9D8B030D-6E8A-4147-A177-3AD203B41FA5}">
                      <a16:colId xmlns:a16="http://schemas.microsoft.com/office/drawing/2014/main" val="20001"/>
                    </a:ext>
                  </a:extLst>
                </a:gridCol>
              </a:tblGrid>
              <a:tr h="440014">
                <a:tc>
                  <a:txBody>
                    <a:bodyPr/>
                    <a:lstStyle/>
                    <a:p>
                      <a:pPr marL="0" marR="0" lvl="0" indent="0" algn="ctr" defTabSz="814388" rtl="0" eaLnBrk="0" fontAlgn="base" latinLnBrk="0" hangingPunct="0">
                        <a:lnSpc>
                          <a:spcPct val="100000"/>
                        </a:lnSpc>
                        <a:spcBef>
                          <a:spcPct val="0"/>
                        </a:spcBef>
                        <a:spcAft>
                          <a:spcPts val="300"/>
                        </a:spcAft>
                        <a:buClrTx/>
                        <a:buSzTx/>
                        <a:buFontTx/>
                        <a:buNone/>
                        <a:tabLst/>
                      </a:pPr>
                      <a:r>
                        <a:rPr kumimoji="0" lang="en-US" sz="2000" u="none" strike="noStrike" cap="none" normalizeH="0" baseline="0" dirty="0">
                          <a:ln>
                            <a:noFill/>
                          </a:ln>
                          <a:solidFill>
                            <a:schemeClr val="tx1"/>
                          </a:solidFill>
                          <a:effectLst/>
                          <a:latin typeface="Gill Sans MT" panose="020B0502020104020203" pitchFamily="34" charset="0"/>
                        </a:rPr>
                        <a:t>Command</a:t>
                      </a:r>
                      <a:endParaRPr kumimoji="0" lang="en-US" sz="2000" b="1" i="0" u="none" strike="noStrike" cap="none" normalizeH="0" baseline="0" dirty="0">
                        <a:ln>
                          <a:noFill/>
                        </a:ln>
                        <a:solidFill>
                          <a:schemeClr val="tx1"/>
                        </a:solidFill>
                        <a:effectLst/>
                        <a:latin typeface="Gill Sans MT" panose="020B0502020104020203" pitchFamily="34" charset="0"/>
                      </a:endParaRPr>
                    </a:p>
                  </a:txBody>
                  <a:tcPr marL="82124" marR="82124" marT="41061" marB="410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l" defTabSz="814388" rtl="0" eaLnBrk="0" fontAlgn="base" latinLnBrk="0" hangingPunct="0">
                        <a:lnSpc>
                          <a:spcPct val="100000"/>
                        </a:lnSpc>
                        <a:spcBef>
                          <a:spcPct val="0"/>
                        </a:spcBef>
                        <a:spcAft>
                          <a:spcPts val="300"/>
                        </a:spcAft>
                        <a:buClrTx/>
                        <a:buSzTx/>
                        <a:buFontTx/>
                        <a:buNone/>
                        <a:tabLst/>
                      </a:pPr>
                      <a:r>
                        <a:rPr kumimoji="0" lang="en-US" sz="2000" u="none" strike="noStrike" cap="none" normalizeH="0" baseline="0" dirty="0">
                          <a:ln>
                            <a:noFill/>
                          </a:ln>
                          <a:solidFill>
                            <a:schemeClr val="tx1"/>
                          </a:solidFill>
                          <a:effectLst/>
                          <a:latin typeface="Gill Sans MT" panose="020B0502020104020203" pitchFamily="34" charset="0"/>
                        </a:rPr>
                        <a:t>Description</a:t>
                      </a:r>
                      <a:endParaRPr kumimoji="0" lang="en-US" sz="2000" b="1" i="0" u="none" strike="noStrike" cap="none" normalizeH="0" baseline="0" dirty="0">
                        <a:ln>
                          <a:noFill/>
                        </a:ln>
                        <a:solidFill>
                          <a:schemeClr val="tx1"/>
                        </a:solidFill>
                        <a:effectLst/>
                        <a:latin typeface="Gill Sans MT" panose="020B0502020104020203" pitchFamily="34" charset="0"/>
                        <a:ea typeface="Arial Unicode MS" pitchFamily="34" charset="-128"/>
                        <a:cs typeface="Arial Unicode MS" pitchFamily="34" charset="-128"/>
                      </a:endParaRPr>
                    </a:p>
                  </a:txBody>
                  <a:tcPr marL="82124" marR="82124" marT="41061" marB="410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601057">
                <a:tc>
                  <a:txBody>
                    <a:bodyPr/>
                    <a:lstStyle/>
                    <a:p>
                      <a:pPr marL="0" marR="0" lvl="0" indent="0" algn="ctr" defTabSz="814388" rtl="0" eaLnBrk="0" fontAlgn="base" latinLnBrk="0" hangingPunct="0">
                        <a:lnSpc>
                          <a:spcPct val="100000"/>
                        </a:lnSpc>
                        <a:spcBef>
                          <a:spcPct val="0"/>
                        </a:spcBef>
                        <a:spcAft>
                          <a:spcPts val="300"/>
                        </a:spcAft>
                        <a:buClrTx/>
                        <a:buSzTx/>
                        <a:buFontTx/>
                        <a:buNone/>
                        <a:tabLst/>
                      </a:pPr>
                      <a:r>
                        <a:rPr kumimoji="0" lang="en-US" sz="1800" b="1" i="0" u="none" strike="noStrike" cap="none" normalizeH="0" baseline="0" dirty="0">
                          <a:ln>
                            <a:noFill/>
                          </a:ln>
                          <a:effectLst/>
                          <a:latin typeface="Gill Sans MT" panose="020B0502020104020203" pitchFamily="34" charset="0"/>
                          <a:cs typeface="Courier New"/>
                        </a:rPr>
                        <a:t>tacacs-server host </a:t>
                      </a:r>
                    </a:p>
                    <a:p>
                      <a:pPr marL="0" marR="0" lvl="0" indent="0" algn="ctr" defTabSz="814388" rtl="0" eaLnBrk="0" fontAlgn="base" latinLnBrk="0" hangingPunct="0">
                        <a:lnSpc>
                          <a:spcPct val="100000"/>
                        </a:lnSpc>
                        <a:spcBef>
                          <a:spcPct val="0"/>
                        </a:spcBef>
                        <a:spcAft>
                          <a:spcPts val="300"/>
                        </a:spcAft>
                        <a:buClrTx/>
                        <a:buSzTx/>
                        <a:buFontTx/>
                        <a:buNone/>
                        <a:tabLst/>
                      </a:pPr>
                      <a:r>
                        <a:rPr kumimoji="0" lang="en-US" sz="1800" b="0" i="1" u="none" strike="noStrike" cap="none" normalizeH="0" baseline="0" dirty="0">
                          <a:ln>
                            <a:noFill/>
                          </a:ln>
                          <a:effectLst/>
                          <a:latin typeface="Gill Sans MT" panose="020B0502020104020203" pitchFamily="34" charset="0"/>
                          <a:cs typeface="Courier New"/>
                        </a:rPr>
                        <a:t>ip-address </a:t>
                      </a:r>
                    </a:p>
                    <a:p>
                      <a:pPr marL="0" marR="0" lvl="0" indent="0" algn="ctr" defTabSz="814388" rtl="0" eaLnBrk="0" fontAlgn="base" latinLnBrk="0" hangingPunct="0">
                        <a:lnSpc>
                          <a:spcPct val="100000"/>
                        </a:lnSpc>
                        <a:spcBef>
                          <a:spcPct val="0"/>
                        </a:spcBef>
                        <a:spcAft>
                          <a:spcPts val="300"/>
                        </a:spcAft>
                        <a:buClrTx/>
                        <a:buSzTx/>
                        <a:buFontTx/>
                        <a:buNone/>
                        <a:tabLst/>
                      </a:pPr>
                      <a:r>
                        <a:rPr kumimoji="0" lang="en-US" sz="1800" b="1" i="0" u="none" strike="noStrike" cap="none" normalizeH="0" baseline="0" dirty="0">
                          <a:ln>
                            <a:noFill/>
                          </a:ln>
                          <a:effectLst/>
                          <a:latin typeface="Gill Sans MT" panose="020B0502020104020203" pitchFamily="34" charset="0"/>
                          <a:cs typeface="Courier New"/>
                        </a:rPr>
                        <a:t>single-connection</a:t>
                      </a:r>
                      <a:endParaRPr kumimoji="0" lang="en-US" sz="1800" b="1" i="0" u="none" strike="noStrike" cap="none" normalizeH="0" baseline="0" dirty="0">
                        <a:ln>
                          <a:noFill/>
                        </a:ln>
                        <a:solidFill>
                          <a:schemeClr val="tx1"/>
                        </a:solidFill>
                        <a:effectLst/>
                        <a:latin typeface="Gill Sans MT" panose="020B0502020104020203" pitchFamily="34" charset="0"/>
                        <a:ea typeface="Arial Unicode MS" pitchFamily="34" charset="-128"/>
                        <a:cs typeface="Courier New"/>
                      </a:endParaRPr>
                    </a:p>
                  </a:txBody>
                  <a:tcPr marL="82296" marR="822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285750" marR="0" lvl="0" indent="-285750" algn="l" defTabSz="814388" rtl="0" eaLnBrk="0" fontAlgn="base" latinLnBrk="0" hangingPunct="0">
                        <a:lnSpc>
                          <a:spcPct val="100000"/>
                        </a:lnSpc>
                        <a:spcBef>
                          <a:spcPct val="0"/>
                        </a:spcBef>
                        <a:spcAft>
                          <a:spcPts val="300"/>
                        </a:spcAft>
                        <a:buClrTx/>
                        <a:buSzTx/>
                        <a:buFont typeface="Arial"/>
                        <a:buChar char="•"/>
                        <a:tabLst/>
                      </a:pPr>
                      <a:r>
                        <a:rPr kumimoji="0" lang="en-US" sz="1800" u="none" strike="noStrike" kern="1200" cap="none" normalizeH="0" baseline="0" dirty="0">
                          <a:ln>
                            <a:noFill/>
                          </a:ln>
                          <a:effectLst/>
                          <a:latin typeface="Gill Sans MT" panose="020B0502020104020203" pitchFamily="34" charset="0"/>
                        </a:rPr>
                        <a:t>Indicates the address of the TACACS server and specifies use of the TCP single-connection feature of Cisco Secure ACS. </a:t>
                      </a:r>
                    </a:p>
                  </a:txBody>
                  <a:tcPr marL="82296" marR="822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1"/>
                  </a:ext>
                </a:extLst>
              </a:tr>
              <a:tr h="955961">
                <a:tc>
                  <a:txBody>
                    <a:bodyPr/>
                    <a:lstStyle/>
                    <a:p>
                      <a:pPr marL="0" marR="0" lvl="0" indent="0" algn="ctr" defTabSz="814388" rtl="0" eaLnBrk="0" fontAlgn="base" latinLnBrk="0" hangingPunct="0">
                        <a:lnSpc>
                          <a:spcPct val="100000"/>
                        </a:lnSpc>
                        <a:spcBef>
                          <a:spcPct val="0"/>
                        </a:spcBef>
                        <a:spcAft>
                          <a:spcPts val="300"/>
                        </a:spcAft>
                        <a:buClrTx/>
                        <a:buSzTx/>
                        <a:buFontTx/>
                        <a:buNone/>
                        <a:tabLst/>
                      </a:pPr>
                      <a:r>
                        <a:rPr kumimoji="0" lang="en-US" sz="1800" b="1" i="0" u="none" strike="noStrike" cap="none" normalizeH="0" baseline="0" dirty="0" err="1">
                          <a:ln>
                            <a:noFill/>
                          </a:ln>
                          <a:effectLst/>
                          <a:latin typeface="Gill Sans MT" panose="020B0502020104020203" pitchFamily="34" charset="0"/>
                          <a:cs typeface="Courier New"/>
                        </a:rPr>
                        <a:t>tacacs</a:t>
                      </a:r>
                      <a:r>
                        <a:rPr kumimoji="0" lang="en-US" sz="1800" b="1" i="0" u="none" strike="noStrike" cap="none" normalizeH="0" baseline="0" dirty="0">
                          <a:ln>
                            <a:noFill/>
                          </a:ln>
                          <a:effectLst/>
                          <a:latin typeface="Gill Sans MT" panose="020B0502020104020203" pitchFamily="34" charset="0"/>
                          <a:cs typeface="Courier New"/>
                        </a:rPr>
                        <a:t>-server key </a:t>
                      </a:r>
                      <a:r>
                        <a:rPr kumimoji="0" lang="en-US" sz="1800" b="0" i="1" u="none" strike="noStrike" cap="none" normalizeH="0" baseline="0" dirty="0">
                          <a:ln>
                            <a:noFill/>
                          </a:ln>
                          <a:effectLst/>
                          <a:latin typeface="Gill Sans MT" panose="020B0502020104020203" pitchFamily="34" charset="0"/>
                          <a:cs typeface="Courier New"/>
                        </a:rPr>
                        <a:t>key</a:t>
                      </a:r>
                      <a:endParaRPr kumimoji="0" lang="en-US" sz="1800" b="0" i="1" u="none" strike="noStrike" cap="none" normalizeH="0" baseline="0" dirty="0">
                        <a:ln>
                          <a:noFill/>
                        </a:ln>
                        <a:solidFill>
                          <a:schemeClr val="tx1"/>
                        </a:solidFill>
                        <a:effectLst/>
                        <a:latin typeface="Gill Sans MT" panose="020B0502020104020203" pitchFamily="34" charset="0"/>
                        <a:ea typeface="Arial Unicode MS" pitchFamily="34" charset="-128"/>
                        <a:cs typeface="Courier New"/>
                      </a:endParaRPr>
                    </a:p>
                  </a:txBody>
                  <a:tcPr marL="82296" marR="822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285750" marR="0" lvl="0" indent="-285750" algn="l" defTabSz="814388" rtl="0" eaLnBrk="0" fontAlgn="base" latinLnBrk="0" hangingPunct="0">
                        <a:lnSpc>
                          <a:spcPct val="100000"/>
                        </a:lnSpc>
                        <a:spcBef>
                          <a:spcPct val="0"/>
                        </a:spcBef>
                        <a:spcAft>
                          <a:spcPts val="300"/>
                        </a:spcAft>
                        <a:buClrTx/>
                        <a:buSzTx/>
                        <a:buFont typeface="Arial"/>
                        <a:buChar char="•"/>
                        <a:tabLst/>
                      </a:pPr>
                      <a:r>
                        <a:rPr kumimoji="0" lang="en-US" sz="1800" u="none" strike="noStrike" kern="1200" cap="none" normalizeH="0" baseline="0" dirty="0">
                          <a:ln>
                            <a:noFill/>
                          </a:ln>
                          <a:effectLst/>
                          <a:latin typeface="Gill Sans MT" panose="020B0502020104020203" pitchFamily="34" charset="0"/>
                        </a:rPr>
                        <a:t>Establishes the shared secret encryption key between the network access server and the Cisco Secure ACS server.</a:t>
                      </a:r>
                      <a:endParaRPr kumimoji="0" lang="en-US" sz="1800" b="0" i="0" u="none" strike="noStrike" kern="1200" cap="none" normalizeH="0" baseline="0" dirty="0">
                        <a:ln>
                          <a:noFill/>
                        </a:ln>
                        <a:solidFill>
                          <a:schemeClr val="tx1"/>
                        </a:solidFill>
                        <a:effectLst/>
                        <a:latin typeface="Gill Sans MT" panose="020B0502020104020203" pitchFamily="34" charset="0"/>
                        <a:ea typeface="Arial Unicode MS" pitchFamily="34" charset="-128"/>
                        <a:cs typeface="Arial Unicode MS" pitchFamily="34" charset="-128"/>
                      </a:endParaRPr>
                    </a:p>
                  </a:txBody>
                  <a:tcPr marL="82296" marR="822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2"/>
                  </a:ext>
                </a:extLst>
              </a:tr>
              <a:tr h="677544">
                <a:tc>
                  <a:txBody>
                    <a:bodyPr/>
                    <a:lstStyle/>
                    <a:p>
                      <a:pPr marL="0" marR="0" lvl="0" indent="0" algn="ctr" defTabSz="814388" rtl="0" eaLnBrk="0" fontAlgn="base" latinLnBrk="0" hangingPunct="0">
                        <a:lnSpc>
                          <a:spcPct val="100000"/>
                        </a:lnSpc>
                        <a:spcBef>
                          <a:spcPct val="0"/>
                        </a:spcBef>
                        <a:spcAft>
                          <a:spcPts val="300"/>
                        </a:spcAft>
                        <a:buClrTx/>
                        <a:buSzTx/>
                        <a:buFontTx/>
                        <a:buNone/>
                        <a:tabLst/>
                      </a:pPr>
                      <a:r>
                        <a:rPr kumimoji="0" lang="en-US" sz="1800" b="1" i="0" u="none" strike="noStrike" cap="none" normalizeH="0" baseline="0" dirty="0">
                          <a:ln>
                            <a:noFill/>
                          </a:ln>
                          <a:effectLst/>
                          <a:latin typeface="Gill Sans MT" panose="020B0502020104020203" pitchFamily="34" charset="0"/>
                          <a:cs typeface="Courier New"/>
                        </a:rPr>
                        <a:t>radius-server host </a:t>
                      </a:r>
                      <a:r>
                        <a:rPr kumimoji="0" lang="en-US" sz="1800" b="0" i="1" u="none" strike="noStrike" cap="none" normalizeH="0" baseline="0" dirty="0" err="1">
                          <a:ln>
                            <a:noFill/>
                          </a:ln>
                          <a:effectLst/>
                          <a:latin typeface="Gill Sans MT" panose="020B0502020104020203" pitchFamily="34" charset="0"/>
                          <a:cs typeface="Courier New"/>
                        </a:rPr>
                        <a:t>ip</a:t>
                      </a:r>
                      <a:r>
                        <a:rPr kumimoji="0" lang="en-US" sz="1800" b="0" i="1" u="none" strike="noStrike" cap="none" normalizeH="0" baseline="0" dirty="0">
                          <a:ln>
                            <a:noFill/>
                          </a:ln>
                          <a:effectLst/>
                          <a:latin typeface="Gill Sans MT" panose="020B0502020104020203" pitchFamily="34" charset="0"/>
                          <a:cs typeface="Courier New"/>
                        </a:rPr>
                        <a:t>-address</a:t>
                      </a:r>
                      <a:endParaRPr kumimoji="0" lang="en-US" sz="1800" b="0" i="1" u="none" strike="noStrike" cap="none" normalizeH="0" baseline="0" dirty="0">
                        <a:ln>
                          <a:noFill/>
                        </a:ln>
                        <a:solidFill>
                          <a:schemeClr val="tx1"/>
                        </a:solidFill>
                        <a:effectLst/>
                        <a:latin typeface="Gill Sans MT" panose="020B0502020104020203" pitchFamily="34" charset="0"/>
                        <a:ea typeface="Arial Unicode MS" pitchFamily="34" charset="-128"/>
                        <a:cs typeface="Courier New"/>
                      </a:endParaRPr>
                    </a:p>
                  </a:txBody>
                  <a:tcPr marL="82296" marR="822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285750" marR="0" lvl="0" indent="-285750" algn="l" defTabSz="814388" rtl="0" eaLnBrk="0" fontAlgn="base" latinLnBrk="0" hangingPunct="0">
                        <a:lnSpc>
                          <a:spcPct val="100000"/>
                        </a:lnSpc>
                        <a:spcBef>
                          <a:spcPct val="0"/>
                        </a:spcBef>
                        <a:spcAft>
                          <a:spcPts val="300"/>
                        </a:spcAft>
                        <a:buClrTx/>
                        <a:buSzTx/>
                        <a:buFont typeface="Arial"/>
                        <a:buChar char="•"/>
                        <a:tabLst/>
                      </a:pPr>
                      <a:r>
                        <a:rPr kumimoji="0" lang="en-US" sz="1800" u="none" strike="noStrike" kern="1200" cap="none" normalizeH="0" baseline="0" dirty="0">
                          <a:ln>
                            <a:noFill/>
                          </a:ln>
                          <a:effectLst/>
                          <a:latin typeface="Gill Sans MT" panose="020B0502020104020203" pitchFamily="34" charset="0"/>
                        </a:rPr>
                        <a:t>Specifies a RADIUS AAA server’s IP Address.</a:t>
                      </a:r>
                      <a:endParaRPr kumimoji="0" lang="en-US" sz="1800" b="0" i="0" u="none" strike="noStrike" kern="1200" cap="none" normalizeH="0" baseline="0" dirty="0">
                        <a:ln>
                          <a:noFill/>
                        </a:ln>
                        <a:solidFill>
                          <a:schemeClr val="tx1"/>
                        </a:solidFill>
                        <a:effectLst/>
                        <a:latin typeface="Gill Sans MT" panose="020B0502020104020203" pitchFamily="34" charset="0"/>
                        <a:ea typeface="Arial Unicode MS" pitchFamily="34" charset="-128"/>
                        <a:cs typeface="Arial Unicode MS" pitchFamily="34" charset="-128"/>
                      </a:endParaRPr>
                    </a:p>
                  </a:txBody>
                  <a:tcPr marL="82296" marR="822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3"/>
                  </a:ext>
                </a:extLst>
              </a:tr>
              <a:tr h="677544">
                <a:tc>
                  <a:txBody>
                    <a:bodyPr/>
                    <a:lstStyle/>
                    <a:p>
                      <a:pPr marL="0" marR="0" lvl="0" indent="0" algn="ctr" defTabSz="814388" rtl="0" eaLnBrk="0" fontAlgn="base" latinLnBrk="0" hangingPunct="0">
                        <a:lnSpc>
                          <a:spcPct val="100000"/>
                        </a:lnSpc>
                        <a:spcBef>
                          <a:spcPct val="0"/>
                        </a:spcBef>
                        <a:spcAft>
                          <a:spcPts val="300"/>
                        </a:spcAft>
                        <a:buClrTx/>
                        <a:buSzTx/>
                        <a:buFontTx/>
                        <a:buNone/>
                        <a:tabLst/>
                      </a:pPr>
                      <a:r>
                        <a:rPr kumimoji="0" lang="en-US" sz="1800" b="1" i="0" u="none" strike="noStrike" cap="none" normalizeH="0" baseline="0" dirty="0">
                          <a:ln>
                            <a:noFill/>
                          </a:ln>
                          <a:effectLst/>
                          <a:latin typeface="Gill Sans MT" panose="020B0502020104020203" pitchFamily="34" charset="0"/>
                          <a:cs typeface="Courier New"/>
                        </a:rPr>
                        <a:t>radius-server key </a:t>
                      </a:r>
                      <a:r>
                        <a:rPr kumimoji="0" lang="en-US" sz="1800" b="0" i="1" u="none" strike="noStrike" cap="none" normalizeH="0" baseline="0" dirty="0">
                          <a:ln>
                            <a:noFill/>
                          </a:ln>
                          <a:effectLst/>
                          <a:latin typeface="Gill Sans MT" panose="020B0502020104020203" pitchFamily="34" charset="0"/>
                          <a:cs typeface="Courier New"/>
                        </a:rPr>
                        <a:t>key</a:t>
                      </a:r>
                      <a:endParaRPr kumimoji="0" lang="en-US" sz="1800" b="0" i="1" u="none" strike="noStrike" cap="none" normalizeH="0" baseline="0" dirty="0">
                        <a:ln>
                          <a:noFill/>
                        </a:ln>
                        <a:solidFill>
                          <a:schemeClr val="tx1"/>
                        </a:solidFill>
                        <a:effectLst/>
                        <a:latin typeface="Gill Sans MT" panose="020B0502020104020203" pitchFamily="34" charset="0"/>
                        <a:ea typeface="Arial Unicode MS" pitchFamily="34" charset="-128"/>
                        <a:cs typeface="Courier New"/>
                      </a:endParaRPr>
                    </a:p>
                  </a:txBody>
                  <a:tcPr marL="82296" marR="822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285750" marR="0" lvl="0" indent="-285750" algn="l" defTabSz="814388" rtl="0" eaLnBrk="0" fontAlgn="base" latinLnBrk="0" hangingPunct="0">
                        <a:lnSpc>
                          <a:spcPct val="100000"/>
                        </a:lnSpc>
                        <a:spcBef>
                          <a:spcPct val="0"/>
                        </a:spcBef>
                        <a:spcAft>
                          <a:spcPts val="300"/>
                        </a:spcAft>
                        <a:buClrTx/>
                        <a:buSzTx/>
                        <a:buFont typeface="Arial"/>
                        <a:buChar char="•"/>
                        <a:tabLst/>
                      </a:pPr>
                      <a:r>
                        <a:rPr kumimoji="0" lang="en-US" sz="1800" u="none" strike="noStrike" kern="1200" cap="none" normalizeH="0" baseline="0" dirty="0">
                          <a:ln>
                            <a:noFill/>
                          </a:ln>
                          <a:effectLst/>
                          <a:latin typeface="Gill Sans MT" panose="020B0502020104020203" pitchFamily="34" charset="0"/>
                        </a:rPr>
                        <a:t>Specifies an encryption key to be used with the RADIUS AAA server.</a:t>
                      </a:r>
                      <a:endParaRPr kumimoji="0" lang="en-US" sz="1800" b="0" i="0" u="none" strike="noStrike" kern="1200" cap="none" normalizeH="0" baseline="0" dirty="0">
                        <a:ln>
                          <a:noFill/>
                        </a:ln>
                        <a:solidFill>
                          <a:schemeClr val="tx1"/>
                        </a:solidFill>
                        <a:effectLst/>
                        <a:latin typeface="Gill Sans MT" panose="020B0502020104020203" pitchFamily="34" charset="0"/>
                        <a:ea typeface="Arial Unicode MS" pitchFamily="34" charset="-128"/>
                        <a:cs typeface="Arial Unicode MS" pitchFamily="34" charset="-128"/>
                      </a:endParaRPr>
                    </a:p>
                  </a:txBody>
                  <a:tcPr marL="82296" marR="822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011060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576262" y="152257"/>
            <a:ext cx="10515600" cy="1325563"/>
          </a:xfrm>
        </p:spPr>
        <p:txBody>
          <a:bodyPr>
            <a:normAutofit/>
          </a:bodyPr>
          <a:lstStyle/>
          <a:p>
            <a:pPr eaLnBrk="1" hangingPunct="1"/>
            <a:r>
              <a:rPr lang="en-US" dirty="0"/>
              <a:t>Configuring the AAA Server Parameters</a:t>
            </a:r>
          </a:p>
        </p:txBody>
      </p:sp>
      <p:sp>
        <p:nvSpPr>
          <p:cNvPr id="70659" name="Rectangle 9"/>
          <p:cNvSpPr>
            <a:spLocks noChangeArrowheads="1"/>
          </p:cNvSpPr>
          <p:nvPr/>
        </p:nvSpPr>
        <p:spPr bwMode="auto">
          <a:xfrm>
            <a:off x="4545014" y="2019298"/>
            <a:ext cx="633413" cy="3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188" tIns="52388" rIns="103188" bIns="52388">
            <a:spAutoFit/>
          </a:bodyPr>
          <a:lstStyle/>
          <a:p>
            <a:pPr algn="ctr" defTabSz="1157288">
              <a:lnSpc>
                <a:spcPct val="85000"/>
              </a:lnSpc>
            </a:pPr>
            <a:r>
              <a:rPr lang="en-US"/>
              <a:t>R1</a:t>
            </a:r>
          </a:p>
        </p:txBody>
      </p:sp>
      <p:sp>
        <p:nvSpPr>
          <p:cNvPr id="70660" name="Line 10"/>
          <p:cNvSpPr>
            <a:spLocks noChangeShapeType="1"/>
          </p:cNvSpPr>
          <p:nvPr/>
        </p:nvSpPr>
        <p:spPr bwMode="auto">
          <a:xfrm>
            <a:off x="5176838" y="2679698"/>
            <a:ext cx="1447800" cy="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70661" name="Line 11"/>
          <p:cNvSpPr>
            <a:spLocks noChangeShapeType="1"/>
          </p:cNvSpPr>
          <p:nvPr/>
        </p:nvSpPr>
        <p:spPr bwMode="auto">
          <a:xfrm rot="-5400000">
            <a:off x="5557838" y="2857498"/>
            <a:ext cx="2133600" cy="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70662" name="Line 12"/>
          <p:cNvSpPr>
            <a:spLocks noChangeShapeType="1"/>
          </p:cNvSpPr>
          <p:nvPr/>
        </p:nvSpPr>
        <p:spPr bwMode="auto">
          <a:xfrm>
            <a:off x="6602413" y="1790698"/>
            <a:ext cx="1066800" cy="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70663" name="Line 13"/>
          <p:cNvSpPr>
            <a:spLocks noChangeShapeType="1"/>
          </p:cNvSpPr>
          <p:nvPr/>
        </p:nvSpPr>
        <p:spPr bwMode="auto">
          <a:xfrm flipH="1">
            <a:off x="6637339" y="2946398"/>
            <a:ext cx="728663" cy="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pic>
        <p:nvPicPr>
          <p:cNvPr id="70665" name="Picture 15" descr="Secured_Serve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288213" y="1257298"/>
            <a:ext cx="793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6" name="Line 16"/>
          <p:cNvSpPr>
            <a:spLocks noChangeShapeType="1"/>
          </p:cNvSpPr>
          <p:nvPr/>
        </p:nvSpPr>
        <p:spPr bwMode="auto">
          <a:xfrm flipH="1">
            <a:off x="6602414" y="3895723"/>
            <a:ext cx="728663" cy="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pic>
        <p:nvPicPr>
          <p:cNvPr id="70667" name="Picture 17" descr="Box"/>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35813" y="2552698"/>
            <a:ext cx="91440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8" name="Picture 18" descr="Box"/>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35813" y="3414023"/>
            <a:ext cx="91440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70" name="Picture 20" descr="Route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4335463" y="2295524"/>
            <a:ext cx="9906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72" name="Text Box 24"/>
          <p:cNvSpPr txBox="1">
            <a:spLocks noChangeArrowheads="1"/>
          </p:cNvSpPr>
          <p:nvPr/>
        </p:nvSpPr>
        <p:spPr bwMode="auto">
          <a:xfrm>
            <a:off x="6221414" y="1562099"/>
            <a:ext cx="13276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718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4290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862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pPr eaLnBrk="1" hangingPunct="1">
              <a:lnSpc>
                <a:spcPct val="100000"/>
              </a:lnSpc>
            </a:pPr>
            <a:r>
              <a:rPr lang="en-US" sz="1400"/>
              <a:t>192.168.1.100</a:t>
            </a:r>
          </a:p>
        </p:txBody>
      </p:sp>
      <p:sp>
        <p:nvSpPr>
          <p:cNvPr id="70673" name="Text Box 25"/>
          <p:cNvSpPr txBox="1">
            <a:spLocks noChangeArrowheads="1"/>
          </p:cNvSpPr>
          <p:nvPr/>
        </p:nvSpPr>
        <p:spPr bwMode="auto">
          <a:xfrm>
            <a:off x="6087128" y="3549666"/>
            <a:ext cx="13276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718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4290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862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pPr eaLnBrk="1" hangingPunct="1">
              <a:lnSpc>
                <a:spcPct val="100000"/>
              </a:lnSpc>
            </a:pPr>
            <a:r>
              <a:rPr lang="en-US" sz="1400" dirty="0"/>
              <a:t>192.168.1.101</a:t>
            </a:r>
          </a:p>
        </p:txBody>
      </p:sp>
      <p:sp>
        <p:nvSpPr>
          <p:cNvPr id="70676" name="Rectangle 28"/>
          <p:cNvSpPr>
            <a:spLocks noChangeArrowheads="1"/>
          </p:cNvSpPr>
          <p:nvPr/>
        </p:nvSpPr>
        <p:spPr bwMode="auto">
          <a:xfrm>
            <a:off x="7771748" y="3185577"/>
            <a:ext cx="1393825"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a:lnSpc>
                <a:spcPct val="100000"/>
              </a:lnSpc>
              <a:spcBef>
                <a:spcPct val="5000"/>
              </a:spcBef>
              <a:spcAft>
                <a:spcPct val="5000"/>
              </a:spcAft>
            </a:pPr>
            <a:r>
              <a:rPr lang="en-US" sz="1600" dirty="0"/>
              <a:t>TACACS+ Server</a:t>
            </a:r>
          </a:p>
        </p:txBody>
      </p:sp>
      <p:sp>
        <p:nvSpPr>
          <p:cNvPr id="70677" name="Rectangle 29"/>
          <p:cNvSpPr>
            <a:spLocks noChangeArrowheads="1"/>
          </p:cNvSpPr>
          <p:nvPr/>
        </p:nvSpPr>
        <p:spPr bwMode="auto">
          <a:xfrm>
            <a:off x="7933673" y="1645681"/>
            <a:ext cx="1231900" cy="526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188" tIns="52388" rIns="103188" bIns="52388">
            <a:spAutoFit/>
          </a:bodyPr>
          <a:lstStyle/>
          <a:p>
            <a:pPr algn="ctr" defTabSz="1157288">
              <a:lnSpc>
                <a:spcPct val="85000"/>
              </a:lnSpc>
              <a:spcBef>
                <a:spcPct val="5000"/>
              </a:spcBef>
              <a:spcAft>
                <a:spcPct val="5000"/>
              </a:spcAft>
            </a:pPr>
            <a:r>
              <a:rPr lang="en-US" sz="1600" dirty="0"/>
              <a:t>RADIUS Server</a:t>
            </a:r>
          </a:p>
        </p:txBody>
      </p:sp>
      <p:sp>
        <p:nvSpPr>
          <p:cNvPr id="70681" name="Rectangle 34"/>
          <p:cNvSpPr>
            <a:spLocks noChangeArrowheads="1"/>
          </p:cNvSpPr>
          <p:nvPr/>
        </p:nvSpPr>
        <p:spPr bwMode="auto">
          <a:xfrm>
            <a:off x="1735137" y="4164540"/>
            <a:ext cx="8185150" cy="2677656"/>
          </a:xfrm>
          <a:prstGeom prst="rect">
            <a:avLst/>
          </a:prstGeom>
          <a:solidFill>
            <a:srgbClr val="DDDDDD"/>
          </a:solidFill>
          <a:ln w="12700">
            <a:solidFill>
              <a:srgbClr val="000000"/>
            </a:solidFill>
            <a:miter lim="800000"/>
            <a:headEnd/>
            <a:tailEnd/>
          </a:ln>
          <a:extLst/>
        </p:spPr>
        <p:txBody>
          <a:bodyPr wrap="square">
            <a:spAutoFit/>
          </a:bodyPr>
          <a:lstStyle/>
          <a:p>
            <a:pPr eaLnBrk="1" hangingPunct="1">
              <a:lnSpc>
                <a:spcPct val="100000"/>
              </a:lnSpc>
            </a:pPr>
            <a:r>
              <a:rPr lang="en-US" sz="2400" dirty="0" err="1">
                <a:solidFill>
                  <a:srgbClr val="000000"/>
                </a:solidFill>
                <a:latin typeface="Gill Sans MT" panose="020B0502020104020203" pitchFamily="34" charset="0"/>
                <a:ea typeface="宋体" charset="0"/>
                <a:cs typeface="宋体" charset="0"/>
              </a:rPr>
              <a:t>R1</a:t>
            </a:r>
            <a:r>
              <a:rPr lang="en-US" sz="2400" dirty="0">
                <a:solidFill>
                  <a:srgbClr val="000000"/>
                </a:solidFill>
                <a:latin typeface="Gill Sans MT" panose="020B0502020104020203" pitchFamily="34" charset="0"/>
                <a:ea typeface="宋体" charset="0"/>
                <a:cs typeface="宋体" charset="0"/>
              </a:rPr>
              <a:t>(</a:t>
            </a:r>
            <a:r>
              <a:rPr lang="en-US" sz="2400" dirty="0" err="1">
                <a:solidFill>
                  <a:srgbClr val="000000"/>
                </a:solidFill>
                <a:latin typeface="Gill Sans MT" panose="020B0502020104020203" pitchFamily="34" charset="0"/>
                <a:ea typeface="宋体" charset="0"/>
                <a:cs typeface="宋体" charset="0"/>
              </a:rPr>
              <a:t>config</a:t>
            </a:r>
            <a:r>
              <a:rPr lang="en-US" sz="2400" dirty="0">
                <a:solidFill>
                  <a:srgbClr val="000000"/>
                </a:solidFill>
                <a:latin typeface="Gill Sans MT" panose="020B0502020104020203" pitchFamily="34" charset="0"/>
                <a:ea typeface="宋体" charset="0"/>
                <a:cs typeface="宋体" charset="0"/>
              </a:rPr>
              <a:t>)# </a:t>
            </a:r>
            <a:r>
              <a:rPr lang="en-US" sz="2400" dirty="0" err="1">
                <a:solidFill>
                  <a:srgbClr val="000000"/>
                </a:solidFill>
                <a:latin typeface="Gill Sans MT" panose="020B0502020104020203" pitchFamily="34" charset="0"/>
                <a:ea typeface="宋体" charset="0"/>
                <a:cs typeface="宋体" charset="0"/>
              </a:rPr>
              <a:t>aaa</a:t>
            </a:r>
            <a:r>
              <a:rPr lang="en-US" sz="2400" dirty="0">
                <a:solidFill>
                  <a:srgbClr val="000000"/>
                </a:solidFill>
                <a:latin typeface="Gill Sans MT" panose="020B0502020104020203" pitchFamily="34" charset="0"/>
                <a:ea typeface="宋体" charset="0"/>
                <a:cs typeface="宋体" charset="0"/>
              </a:rPr>
              <a:t> new-model</a:t>
            </a:r>
          </a:p>
          <a:p>
            <a:pPr eaLnBrk="1" hangingPunct="1">
              <a:lnSpc>
                <a:spcPct val="100000"/>
              </a:lnSpc>
            </a:pPr>
            <a:r>
              <a:rPr lang="en-US" sz="2400" dirty="0" err="1">
                <a:solidFill>
                  <a:srgbClr val="000000"/>
                </a:solidFill>
                <a:latin typeface="Gill Sans MT" panose="020B0502020104020203" pitchFamily="34" charset="0"/>
                <a:ea typeface="宋体" charset="0"/>
                <a:cs typeface="宋体" charset="0"/>
              </a:rPr>
              <a:t>R1</a:t>
            </a:r>
            <a:r>
              <a:rPr lang="en-US" sz="2400" dirty="0">
                <a:solidFill>
                  <a:srgbClr val="000000"/>
                </a:solidFill>
                <a:latin typeface="Gill Sans MT" panose="020B0502020104020203" pitchFamily="34" charset="0"/>
                <a:ea typeface="宋体" charset="0"/>
                <a:cs typeface="宋体" charset="0"/>
              </a:rPr>
              <a:t>(</a:t>
            </a:r>
            <a:r>
              <a:rPr lang="en-US" sz="2400" dirty="0" err="1">
                <a:solidFill>
                  <a:srgbClr val="000000"/>
                </a:solidFill>
                <a:latin typeface="Gill Sans MT" panose="020B0502020104020203" pitchFamily="34" charset="0"/>
                <a:ea typeface="宋体" charset="0"/>
                <a:cs typeface="宋体" charset="0"/>
              </a:rPr>
              <a:t>config</a:t>
            </a:r>
            <a:r>
              <a:rPr lang="en-US" sz="2400" dirty="0">
                <a:solidFill>
                  <a:srgbClr val="000000"/>
                </a:solidFill>
                <a:latin typeface="Gill Sans MT" panose="020B0502020104020203" pitchFamily="34" charset="0"/>
                <a:ea typeface="宋体" charset="0"/>
                <a:cs typeface="宋体" charset="0"/>
              </a:rPr>
              <a:t>)# </a:t>
            </a:r>
          </a:p>
          <a:p>
            <a:pPr eaLnBrk="1" hangingPunct="1">
              <a:lnSpc>
                <a:spcPct val="100000"/>
              </a:lnSpc>
            </a:pPr>
            <a:r>
              <a:rPr lang="en-US" sz="2400" dirty="0">
                <a:solidFill>
                  <a:srgbClr val="000000"/>
                </a:solidFill>
                <a:latin typeface="Gill Sans MT" panose="020B0502020104020203" pitchFamily="34" charset="0"/>
                <a:ea typeface="宋体" charset="0"/>
                <a:cs typeface="宋体" charset="0"/>
              </a:rPr>
              <a:t>R1(config)# </a:t>
            </a:r>
            <a:r>
              <a:rPr lang="en-US" sz="2400" dirty="0" err="1">
                <a:solidFill>
                  <a:srgbClr val="000000"/>
                </a:solidFill>
                <a:latin typeface="Gill Sans MT" panose="020B0502020104020203" pitchFamily="34" charset="0"/>
                <a:ea typeface="宋体" charset="0"/>
                <a:cs typeface="宋体" charset="0"/>
              </a:rPr>
              <a:t>tacacs</a:t>
            </a:r>
            <a:r>
              <a:rPr lang="en-US" sz="2400" dirty="0">
                <a:solidFill>
                  <a:srgbClr val="000000"/>
                </a:solidFill>
                <a:latin typeface="Gill Sans MT" panose="020B0502020104020203" pitchFamily="34" charset="0"/>
                <a:ea typeface="宋体" charset="0"/>
                <a:cs typeface="宋体" charset="0"/>
              </a:rPr>
              <a:t>-server host 192.168.1.101 </a:t>
            </a:r>
          </a:p>
          <a:p>
            <a:pPr eaLnBrk="1" hangingPunct="1">
              <a:lnSpc>
                <a:spcPct val="100000"/>
              </a:lnSpc>
            </a:pPr>
            <a:r>
              <a:rPr lang="en-US" sz="2400" dirty="0">
                <a:solidFill>
                  <a:srgbClr val="000000"/>
                </a:solidFill>
                <a:latin typeface="Gill Sans MT" panose="020B0502020104020203" pitchFamily="34" charset="0"/>
                <a:ea typeface="宋体" charset="0"/>
                <a:cs typeface="宋体" charset="0"/>
              </a:rPr>
              <a:t>R1(config)# </a:t>
            </a:r>
            <a:r>
              <a:rPr lang="en-US" sz="2400" dirty="0" err="1">
                <a:solidFill>
                  <a:srgbClr val="000000"/>
                </a:solidFill>
                <a:latin typeface="Gill Sans MT" panose="020B0502020104020203" pitchFamily="34" charset="0"/>
                <a:ea typeface="宋体" charset="0"/>
                <a:cs typeface="宋体" charset="0"/>
              </a:rPr>
              <a:t>tacacs</a:t>
            </a:r>
            <a:r>
              <a:rPr lang="en-US" sz="2400" dirty="0">
                <a:solidFill>
                  <a:srgbClr val="000000"/>
                </a:solidFill>
                <a:latin typeface="Gill Sans MT" panose="020B0502020104020203" pitchFamily="34" charset="0"/>
                <a:ea typeface="宋体" charset="0"/>
                <a:cs typeface="宋体" charset="0"/>
              </a:rPr>
              <a:t>-server key TACACS+Pa55w0rd </a:t>
            </a:r>
          </a:p>
          <a:p>
            <a:pPr eaLnBrk="1" hangingPunct="1">
              <a:lnSpc>
                <a:spcPct val="100000"/>
              </a:lnSpc>
            </a:pPr>
            <a:r>
              <a:rPr lang="en-US" sz="2400" dirty="0" err="1">
                <a:solidFill>
                  <a:srgbClr val="000000"/>
                </a:solidFill>
                <a:latin typeface="Gill Sans MT" panose="020B0502020104020203" pitchFamily="34" charset="0"/>
                <a:ea typeface="宋体" charset="0"/>
                <a:cs typeface="宋体" charset="0"/>
              </a:rPr>
              <a:t>R1</a:t>
            </a:r>
            <a:r>
              <a:rPr lang="en-US" sz="2400" dirty="0">
                <a:solidFill>
                  <a:srgbClr val="000000"/>
                </a:solidFill>
                <a:latin typeface="Gill Sans MT" panose="020B0502020104020203" pitchFamily="34" charset="0"/>
                <a:ea typeface="宋体" charset="0"/>
                <a:cs typeface="宋体" charset="0"/>
              </a:rPr>
              <a:t>(</a:t>
            </a:r>
            <a:r>
              <a:rPr lang="en-US" sz="2400" dirty="0" err="1">
                <a:solidFill>
                  <a:srgbClr val="000000"/>
                </a:solidFill>
                <a:latin typeface="Gill Sans MT" panose="020B0502020104020203" pitchFamily="34" charset="0"/>
                <a:ea typeface="宋体" charset="0"/>
                <a:cs typeface="宋体" charset="0"/>
              </a:rPr>
              <a:t>config</a:t>
            </a:r>
            <a:r>
              <a:rPr lang="en-US" sz="2400" dirty="0">
                <a:solidFill>
                  <a:srgbClr val="000000"/>
                </a:solidFill>
                <a:latin typeface="Gill Sans MT" panose="020B0502020104020203" pitchFamily="34" charset="0"/>
                <a:ea typeface="宋体" charset="0"/>
                <a:cs typeface="宋体" charset="0"/>
              </a:rPr>
              <a:t>)# </a:t>
            </a:r>
          </a:p>
          <a:p>
            <a:pPr eaLnBrk="1" hangingPunct="1">
              <a:lnSpc>
                <a:spcPct val="100000"/>
              </a:lnSpc>
            </a:pPr>
            <a:r>
              <a:rPr lang="en-US" sz="2400" dirty="0" err="1">
                <a:solidFill>
                  <a:srgbClr val="000000"/>
                </a:solidFill>
                <a:latin typeface="Gill Sans MT" panose="020B0502020104020203" pitchFamily="34" charset="0"/>
                <a:ea typeface="宋体" charset="0"/>
                <a:cs typeface="宋体" charset="0"/>
              </a:rPr>
              <a:t>R1</a:t>
            </a:r>
            <a:r>
              <a:rPr lang="en-US" sz="2400" dirty="0">
                <a:solidFill>
                  <a:srgbClr val="000000"/>
                </a:solidFill>
                <a:latin typeface="Gill Sans MT" panose="020B0502020104020203" pitchFamily="34" charset="0"/>
                <a:ea typeface="宋体" charset="0"/>
                <a:cs typeface="宋体" charset="0"/>
              </a:rPr>
              <a:t>(</a:t>
            </a:r>
            <a:r>
              <a:rPr lang="en-US" sz="2400" dirty="0" err="1">
                <a:solidFill>
                  <a:srgbClr val="000000"/>
                </a:solidFill>
                <a:latin typeface="Gill Sans MT" panose="020B0502020104020203" pitchFamily="34" charset="0"/>
                <a:ea typeface="宋体" charset="0"/>
                <a:cs typeface="宋体" charset="0"/>
              </a:rPr>
              <a:t>config</a:t>
            </a:r>
            <a:r>
              <a:rPr lang="en-US" sz="2400" dirty="0">
                <a:solidFill>
                  <a:srgbClr val="000000"/>
                </a:solidFill>
                <a:latin typeface="Gill Sans MT" panose="020B0502020104020203" pitchFamily="34" charset="0"/>
                <a:ea typeface="宋体" charset="0"/>
                <a:cs typeface="宋体" charset="0"/>
              </a:rPr>
              <a:t>)# radius-server host 192.168.1.100</a:t>
            </a:r>
          </a:p>
          <a:p>
            <a:pPr eaLnBrk="1" hangingPunct="1">
              <a:lnSpc>
                <a:spcPct val="100000"/>
              </a:lnSpc>
            </a:pPr>
            <a:r>
              <a:rPr lang="en-US" sz="2400" dirty="0">
                <a:solidFill>
                  <a:srgbClr val="000000"/>
                </a:solidFill>
                <a:latin typeface="Gill Sans MT" panose="020B0502020104020203" pitchFamily="34" charset="0"/>
                <a:ea typeface="宋体" charset="0"/>
                <a:cs typeface="宋体" charset="0"/>
              </a:rPr>
              <a:t>R1(config)# radius-server key RADIUS-Pa55w0rd</a:t>
            </a:r>
          </a:p>
        </p:txBody>
      </p:sp>
    </p:spTree>
    <p:extLst>
      <p:ext uri="{BB962C8B-B14F-4D97-AF65-F5344CB8AC3E}">
        <p14:creationId xmlns:p14="http://schemas.microsoft.com/office/powerpoint/2010/main" val="13027356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en-US" dirty="0"/>
              <a:t>Define Method Lists</a:t>
            </a:r>
          </a:p>
        </p:txBody>
      </p:sp>
      <p:sp>
        <p:nvSpPr>
          <p:cNvPr id="73732" name="Rectangle 8"/>
          <p:cNvSpPr>
            <a:spLocks noChangeArrowheads="1"/>
          </p:cNvSpPr>
          <p:nvPr/>
        </p:nvSpPr>
        <p:spPr bwMode="auto">
          <a:xfrm>
            <a:off x="2476500" y="2238375"/>
            <a:ext cx="647700" cy="1524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73736" name="Rectangle 12"/>
          <p:cNvSpPr>
            <a:spLocks noChangeArrowheads="1"/>
          </p:cNvSpPr>
          <p:nvPr/>
        </p:nvSpPr>
        <p:spPr bwMode="auto">
          <a:xfrm>
            <a:off x="457200" y="1414562"/>
            <a:ext cx="11043557" cy="5078313"/>
          </a:xfrm>
          <a:prstGeom prst="rect">
            <a:avLst/>
          </a:prstGeom>
          <a:solidFill>
            <a:srgbClr val="DDDDDD"/>
          </a:solidFill>
          <a:ln w="12700">
            <a:solidFill>
              <a:srgbClr val="000000"/>
            </a:solidFill>
            <a:miter lim="800000"/>
            <a:headEnd/>
            <a:tailEnd/>
          </a:ln>
          <a:extLst/>
        </p:spPr>
        <p:txBody>
          <a:bodyPr wrap="square">
            <a:spAutoFit/>
          </a:bodyPr>
          <a:lstStyle/>
          <a:p>
            <a:pPr eaLnBrk="1" hangingPunct="1">
              <a:lnSpc>
                <a:spcPct val="100000"/>
              </a:lnSpc>
            </a:pPr>
            <a:r>
              <a:rPr lang="en-US" dirty="0">
                <a:solidFill>
                  <a:srgbClr val="000000"/>
                </a:solidFill>
                <a:latin typeface="Gill Sans MT" panose="020B0502020104020203" pitchFamily="34" charset="0"/>
                <a:ea typeface="宋体" charset="0"/>
                <a:cs typeface="宋体" charset="0"/>
              </a:rPr>
              <a:t>R1(</a:t>
            </a:r>
            <a:r>
              <a:rPr lang="en-US" dirty="0" err="1">
                <a:solidFill>
                  <a:srgbClr val="000000"/>
                </a:solidFill>
                <a:latin typeface="Gill Sans MT" panose="020B0502020104020203" pitchFamily="34" charset="0"/>
                <a:ea typeface="宋体" charset="0"/>
                <a:cs typeface="宋体" charset="0"/>
              </a:rPr>
              <a:t>config</a:t>
            </a:r>
            <a:r>
              <a:rPr lang="en-US" dirty="0">
                <a:solidFill>
                  <a:srgbClr val="000000"/>
                </a:solidFill>
                <a:latin typeface="Gill Sans MT" panose="020B0502020104020203" pitchFamily="34" charset="0"/>
                <a:ea typeface="宋体" charset="0"/>
                <a:cs typeface="宋体" charset="0"/>
              </a:rPr>
              <a:t>)# </a:t>
            </a:r>
            <a:r>
              <a:rPr lang="en-US" dirty="0" err="1">
                <a:solidFill>
                  <a:srgbClr val="000000"/>
                </a:solidFill>
                <a:latin typeface="Gill Sans MT" panose="020B0502020104020203" pitchFamily="34" charset="0"/>
                <a:ea typeface="宋体" charset="0"/>
                <a:cs typeface="宋体" charset="0"/>
              </a:rPr>
              <a:t>aaa</a:t>
            </a:r>
            <a:r>
              <a:rPr lang="en-US" dirty="0">
                <a:solidFill>
                  <a:srgbClr val="000000"/>
                </a:solidFill>
                <a:latin typeface="Gill Sans MT" panose="020B0502020104020203" pitchFamily="34" charset="0"/>
                <a:ea typeface="宋体" charset="0"/>
                <a:cs typeface="宋体" charset="0"/>
              </a:rPr>
              <a:t> authentication login default ?</a:t>
            </a:r>
          </a:p>
          <a:p>
            <a:pPr eaLnBrk="1" hangingPunct="1">
              <a:lnSpc>
                <a:spcPct val="100000"/>
              </a:lnSpc>
            </a:pPr>
            <a:r>
              <a:rPr lang="en-US" dirty="0">
                <a:solidFill>
                  <a:srgbClr val="000000"/>
                </a:solidFill>
                <a:latin typeface="Gill Sans MT" panose="020B0502020104020203" pitchFamily="34" charset="0"/>
                <a:ea typeface="宋体" charset="0"/>
                <a:cs typeface="宋体" charset="0"/>
              </a:rPr>
              <a:t>  enable         Use enable password for authentication.</a:t>
            </a:r>
          </a:p>
          <a:p>
            <a:pPr eaLnBrk="1" hangingPunct="1">
              <a:lnSpc>
                <a:spcPct val="100000"/>
              </a:lnSpc>
            </a:pPr>
            <a:r>
              <a:rPr lang="en-US" dirty="0">
                <a:solidFill>
                  <a:srgbClr val="000000"/>
                </a:solidFill>
                <a:latin typeface="Gill Sans MT" panose="020B0502020104020203" pitchFamily="34" charset="0"/>
                <a:ea typeface="宋体" charset="0"/>
                <a:cs typeface="宋体" charset="0"/>
              </a:rPr>
              <a:t>  group          Use Server-group</a:t>
            </a:r>
          </a:p>
          <a:p>
            <a:pPr eaLnBrk="1" hangingPunct="1">
              <a:lnSpc>
                <a:spcPct val="100000"/>
              </a:lnSpc>
            </a:pPr>
            <a:r>
              <a:rPr lang="en-US" dirty="0">
                <a:solidFill>
                  <a:srgbClr val="000000"/>
                </a:solidFill>
                <a:latin typeface="Gill Sans MT" panose="020B0502020104020203" pitchFamily="34" charset="0"/>
                <a:ea typeface="宋体" charset="0"/>
                <a:cs typeface="宋体" charset="0"/>
              </a:rPr>
              <a:t>  krb5           Use Kerberos 5 authentication.</a:t>
            </a:r>
          </a:p>
          <a:p>
            <a:pPr eaLnBrk="1" hangingPunct="1">
              <a:lnSpc>
                <a:spcPct val="100000"/>
              </a:lnSpc>
            </a:pPr>
            <a:r>
              <a:rPr lang="en-US" dirty="0">
                <a:solidFill>
                  <a:srgbClr val="000000"/>
                </a:solidFill>
                <a:latin typeface="Gill Sans MT" panose="020B0502020104020203" pitchFamily="34" charset="0"/>
                <a:ea typeface="宋体" charset="0"/>
                <a:cs typeface="宋体" charset="0"/>
              </a:rPr>
              <a:t>  krb5-telnet    Allow logins only if already authenticated via Kerberos V</a:t>
            </a:r>
          </a:p>
          <a:p>
            <a:pPr eaLnBrk="1" hangingPunct="1">
              <a:lnSpc>
                <a:spcPct val="100000"/>
              </a:lnSpc>
            </a:pPr>
            <a:r>
              <a:rPr lang="en-US" dirty="0">
                <a:solidFill>
                  <a:srgbClr val="000000"/>
                </a:solidFill>
                <a:latin typeface="Gill Sans MT" panose="020B0502020104020203" pitchFamily="34" charset="0"/>
                <a:ea typeface="宋体" charset="0"/>
                <a:cs typeface="宋体" charset="0"/>
              </a:rPr>
              <a:t>                 Telnet.</a:t>
            </a:r>
          </a:p>
          <a:p>
            <a:pPr eaLnBrk="1" hangingPunct="1">
              <a:lnSpc>
                <a:spcPct val="100000"/>
              </a:lnSpc>
            </a:pPr>
            <a:r>
              <a:rPr lang="en-US" dirty="0">
                <a:solidFill>
                  <a:srgbClr val="000000"/>
                </a:solidFill>
                <a:latin typeface="Gill Sans MT" panose="020B0502020104020203" pitchFamily="34" charset="0"/>
                <a:ea typeface="宋体" charset="0"/>
                <a:cs typeface="宋体" charset="0"/>
              </a:rPr>
              <a:t>  line           Use line password for authentication.</a:t>
            </a:r>
          </a:p>
          <a:p>
            <a:pPr eaLnBrk="1" hangingPunct="1">
              <a:lnSpc>
                <a:spcPct val="100000"/>
              </a:lnSpc>
            </a:pPr>
            <a:r>
              <a:rPr lang="en-US" dirty="0">
                <a:solidFill>
                  <a:srgbClr val="000000"/>
                </a:solidFill>
                <a:latin typeface="Gill Sans MT" panose="020B0502020104020203" pitchFamily="34" charset="0"/>
                <a:ea typeface="宋体" charset="0"/>
                <a:cs typeface="宋体" charset="0"/>
              </a:rPr>
              <a:t>  local          Use local username authentication.</a:t>
            </a:r>
          </a:p>
          <a:p>
            <a:pPr eaLnBrk="1" hangingPunct="1">
              <a:lnSpc>
                <a:spcPct val="100000"/>
              </a:lnSpc>
            </a:pPr>
            <a:r>
              <a:rPr lang="en-US" dirty="0">
                <a:solidFill>
                  <a:srgbClr val="000000"/>
                </a:solidFill>
                <a:latin typeface="Gill Sans MT" panose="020B0502020104020203" pitchFamily="34" charset="0"/>
                <a:ea typeface="宋体" charset="0"/>
                <a:cs typeface="宋体" charset="0"/>
              </a:rPr>
              <a:t>  local-case     Use case-sensitive local username authentication.</a:t>
            </a:r>
          </a:p>
          <a:p>
            <a:pPr eaLnBrk="1" hangingPunct="1">
              <a:lnSpc>
                <a:spcPct val="100000"/>
              </a:lnSpc>
            </a:pPr>
            <a:r>
              <a:rPr lang="en-US" dirty="0">
                <a:solidFill>
                  <a:srgbClr val="000000"/>
                </a:solidFill>
                <a:latin typeface="Gill Sans MT" panose="020B0502020104020203" pitchFamily="34" charset="0"/>
                <a:ea typeface="宋体" charset="0"/>
                <a:cs typeface="宋体" charset="0"/>
              </a:rPr>
              <a:t>  none           NO authentication.</a:t>
            </a:r>
          </a:p>
          <a:p>
            <a:pPr eaLnBrk="1" hangingPunct="1">
              <a:lnSpc>
                <a:spcPct val="100000"/>
              </a:lnSpc>
            </a:pPr>
            <a:r>
              <a:rPr lang="en-US" dirty="0">
                <a:solidFill>
                  <a:srgbClr val="000000"/>
                </a:solidFill>
                <a:latin typeface="Gill Sans MT" panose="020B0502020104020203" pitchFamily="34" charset="0"/>
                <a:ea typeface="宋体" charset="0"/>
                <a:cs typeface="宋体" charset="0"/>
              </a:rPr>
              <a:t>  </a:t>
            </a:r>
            <a:r>
              <a:rPr lang="en-US" dirty="0" err="1">
                <a:solidFill>
                  <a:srgbClr val="000000"/>
                </a:solidFill>
                <a:latin typeface="Gill Sans MT" panose="020B0502020104020203" pitchFamily="34" charset="0"/>
                <a:ea typeface="宋体" charset="0"/>
                <a:cs typeface="宋体" charset="0"/>
              </a:rPr>
              <a:t>passwd</a:t>
            </a:r>
            <a:r>
              <a:rPr lang="en-US" dirty="0">
                <a:solidFill>
                  <a:srgbClr val="000000"/>
                </a:solidFill>
                <a:latin typeface="Gill Sans MT" panose="020B0502020104020203" pitchFamily="34" charset="0"/>
                <a:ea typeface="宋体" charset="0"/>
                <a:cs typeface="宋体" charset="0"/>
              </a:rPr>
              <a:t>-expiry  enable the login list to provide password aging support</a:t>
            </a:r>
          </a:p>
          <a:p>
            <a:pPr eaLnBrk="1" hangingPunct="1">
              <a:lnSpc>
                <a:spcPct val="100000"/>
              </a:lnSpc>
            </a:pPr>
            <a:endParaRPr lang="en-US" dirty="0">
              <a:solidFill>
                <a:srgbClr val="000000"/>
              </a:solidFill>
              <a:latin typeface="Gill Sans MT" panose="020B0502020104020203" pitchFamily="34" charset="0"/>
              <a:ea typeface="宋体" charset="0"/>
              <a:cs typeface="宋体" charset="0"/>
            </a:endParaRPr>
          </a:p>
          <a:p>
            <a:pPr eaLnBrk="1" hangingPunct="1">
              <a:lnSpc>
                <a:spcPct val="100000"/>
              </a:lnSpc>
            </a:pPr>
            <a:r>
              <a:rPr lang="en-US" dirty="0">
                <a:solidFill>
                  <a:srgbClr val="000000"/>
                </a:solidFill>
                <a:latin typeface="Gill Sans MT" panose="020B0502020104020203" pitchFamily="34" charset="0"/>
                <a:ea typeface="宋体" charset="0"/>
                <a:cs typeface="宋体" charset="0"/>
              </a:rPr>
              <a:t>R1(</a:t>
            </a:r>
            <a:r>
              <a:rPr lang="en-US" dirty="0" err="1">
                <a:solidFill>
                  <a:srgbClr val="000000"/>
                </a:solidFill>
                <a:latin typeface="Gill Sans MT" panose="020B0502020104020203" pitchFamily="34" charset="0"/>
                <a:ea typeface="宋体" charset="0"/>
                <a:cs typeface="宋体" charset="0"/>
              </a:rPr>
              <a:t>config</a:t>
            </a:r>
            <a:r>
              <a:rPr lang="en-US" dirty="0">
                <a:solidFill>
                  <a:srgbClr val="000000"/>
                </a:solidFill>
                <a:latin typeface="Gill Sans MT" panose="020B0502020104020203" pitchFamily="34" charset="0"/>
                <a:ea typeface="宋体" charset="0"/>
                <a:cs typeface="宋体" charset="0"/>
              </a:rPr>
              <a:t>)# </a:t>
            </a:r>
            <a:r>
              <a:rPr lang="en-US" dirty="0" err="1">
                <a:solidFill>
                  <a:srgbClr val="000000"/>
                </a:solidFill>
                <a:latin typeface="Gill Sans MT" panose="020B0502020104020203" pitchFamily="34" charset="0"/>
                <a:ea typeface="宋体" charset="0"/>
                <a:cs typeface="宋体" charset="0"/>
              </a:rPr>
              <a:t>aaa</a:t>
            </a:r>
            <a:r>
              <a:rPr lang="en-US" dirty="0">
                <a:solidFill>
                  <a:srgbClr val="000000"/>
                </a:solidFill>
                <a:latin typeface="Gill Sans MT" panose="020B0502020104020203" pitchFamily="34" charset="0"/>
                <a:ea typeface="宋体" charset="0"/>
                <a:cs typeface="宋体" charset="0"/>
              </a:rPr>
              <a:t> authentication login default group ?</a:t>
            </a:r>
          </a:p>
          <a:p>
            <a:pPr eaLnBrk="1" hangingPunct="1">
              <a:lnSpc>
                <a:spcPct val="100000"/>
              </a:lnSpc>
            </a:pPr>
            <a:r>
              <a:rPr lang="en-US" dirty="0">
                <a:solidFill>
                  <a:srgbClr val="000000"/>
                </a:solidFill>
                <a:latin typeface="Gill Sans MT" panose="020B0502020104020203" pitchFamily="34" charset="0"/>
                <a:ea typeface="宋体" charset="0"/>
                <a:cs typeface="宋体" charset="0"/>
              </a:rPr>
              <a:t>  WORD     Server-group name</a:t>
            </a:r>
          </a:p>
          <a:p>
            <a:pPr eaLnBrk="1" hangingPunct="1">
              <a:lnSpc>
                <a:spcPct val="100000"/>
              </a:lnSpc>
            </a:pPr>
            <a:r>
              <a:rPr lang="en-US" dirty="0">
                <a:solidFill>
                  <a:srgbClr val="000000"/>
                </a:solidFill>
                <a:latin typeface="Gill Sans MT" panose="020B0502020104020203" pitchFamily="34" charset="0"/>
                <a:ea typeface="宋体" charset="0"/>
                <a:cs typeface="宋体" charset="0"/>
              </a:rPr>
              <a:t>  radius   Use list of all Radius hosts.</a:t>
            </a:r>
          </a:p>
          <a:p>
            <a:pPr eaLnBrk="1" hangingPunct="1">
              <a:lnSpc>
                <a:spcPct val="100000"/>
              </a:lnSpc>
            </a:pPr>
            <a:r>
              <a:rPr lang="en-US" dirty="0">
                <a:solidFill>
                  <a:srgbClr val="000000"/>
                </a:solidFill>
                <a:latin typeface="Gill Sans MT" panose="020B0502020104020203" pitchFamily="34" charset="0"/>
                <a:ea typeface="宋体" charset="0"/>
                <a:cs typeface="宋体" charset="0"/>
              </a:rPr>
              <a:t>  </a:t>
            </a:r>
            <a:r>
              <a:rPr lang="en-US" dirty="0" err="1">
                <a:solidFill>
                  <a:srgbClr val="000000"/>
                </a:solidFill>
                <a:latin typeface="Gill Sans MT" panose="020B0502020104020203" pitchFamily="34" charset="0"/>
                <a:ea typeface="宋体" charset="0"/>
                <a:cs typeface="宋体" charset="0"/>
              </a:rPr>
              <a:t>tacacs</a:t>
            </a:r>
            <a:r>
              <a:rPr lang="en-US" dirty="0">
                <a:solidFill>
                  <a:srgbClr val="000000"/>
                </a:solidFill>
                <a:latin typeface="Gill Sans MT" panose="020B0502020104020203" pitchFamily="34" charset="0"/>
                <a:ea typeface="宋体" charset="0"/>
                <a:cs typeface="宋体" charset="0"/>
              </a:rPr>
              <a:t>+  Use list of all </a:t>
            </a:r>
            <a:r>
              <a:rPr lang="en-US" dirty="0" err="1">
                <a:solidFill>
                  <a:srgbClr val="000000"/>
                </a:solidFill>
                <a:latin typeface="Gill Sans MT" panose="020B0502020104020203" pitchFamily="34" charset="0"/>
                <a:ea typeface="宋体" charset="0"/>
                <a:cs typeface="宋体" charset="0"/>
              </a:rPr>
              <a:t>Tacacs</a:t>
            </a:r>
            <a:r>
              <a:rPr lang="en-US" dirty="0">
                <a:solidFill>
                  <a:srgbClr val="000000"/>
                </a:solidFill>
                <a:latin typeface="Gill Sans MT" panose="020B0502020104020203" pitchFamily="34" charset="0"/>
                <a:ea typeface="宋体" charset="0"/>
                <a:cs typeface="宋体" charset="0"/>
              </a:rPr>
              <a:t>+ hosts.</a:t>
            </a:r>
          </a:p>
          <a:p>
            <a:pPr eaLnBrk="1" hangingPunct="1">
              <a:lnSpc>
                <a:spcPct val="100000"/>
              </a:lnSpc>
            </a:pPr>
            <a:endParaRPr lang="en-US" dirty="0">
              <a:solidFill>
                <a:srgbClr val="000000"/>
              </a:solidFill>
              <a:latin typeface="Gill Sans MT" panose="020B0502020104020203" pitchFamily="34" charset="0"/>
              <a:ea typeface="宋体" charset="0"/>
              <a:cs typeface="宋体" charset="0"/>
            </a:endParaRPr>
          </a:p>
          <a:p>
            <a:pPr eaLnBrk="1" hangingPunct="1">
              <a:lnSpc>
                <a:spcPct val="100000"/>
              </a:lnSpc>
            </a:pPr>
            <a:r>
              <a:rPr lang="en-US" dirty="0">
                <a:solidFill>
                  <a:srgbClr val="000000"/>
                </a:solidFill>
                <a:latin typeface="Gill Sans MT" panose="020B0502020104020203" pitchFamily="34" charset="0"/>
                <a:ea typeface="宋体" charset="0"/>
                <a:cs typeface="宋体" charset="0"/>
              </a:rPr>
              <a:t>R1(</a:t>
            </a:r>
            <a:r>
              <a:rPr lang="en-US" dirty="0" err="1">
                <a:solidFill>
                  <a:srgbClr val="000000"/>
                </a:solidFill>
                <a:latin typeface="Gill Sans MT" panose="020B0502020104020203" pitchFamily="34" charset="0"/>
                <a:ea typeface="宋体" charset="0"/>
                <a:cs typeface="宋体" charset="0"/>
              </a:rPr>
              <a:t>config</a:t>
            </a:r>
            <a:r>
              <a:rPr lang="en-US" dirty="0">
                <a:solidFill>
                  <a:srgbClr val="000000"/>
                </a:solidFill>
                <a:latin typeface="Gill Sans MT" panose="020B0502020104020203" pitchFamily="34" charset="0"/>
                <a:ea typeface="宋体" charset="0"/>
                <a:cs typeface="宋体" charset="0"/>
              </a:rPr>
              <a:t>)# </a:t>
            </a:r>
            <a:r>
              <a:rPr lang="en-US" dirty="0" err="1">
                <a:solidFill>
                  <a:srgbClr val="000000"/>
                </a:solidFill>
                <a:latin typeface="Gill Sans MT" panose="020B0502020104020203" pitchFamily="34" charset="0"/>
                <a:ea typeface="宋体" charset="0"/>
                <a:cs typeface="宋体" charset="0"/>
              </a:rPr>
              <a:t>aaa</a:t>
            </a:r>
            <a:r>
              <a:rPr lang="en-US" dirty="0">
                <a:solidFill>
                  <a:srgbClr val="000000"/>
                </a:solidFill>
                <a:latin typeface="Gill Sans MT" panose="020B0502020104020203" pitchFamily="34" charset="0"/>
                <a:ea typeface="宋体" charset="0"/>
                <a:cs typeface="宋体" charset="0"/>
              </a:rPr>
              <a:t> authentication login default group </a:t>
            </a:r>
          </a:p>
        </p:txBody>
      </p:sp>
    </p:spTree>
    <p:extLst>
      <p:ext uri="{BB962C8B-B14F-4D97-AF65-F5344CB8AC3E}">
        <p14:creationId xmlns:p14="http://schemas.microsoft.com/office/powerpoint/2010/main" val="20453751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normAutofit/>
          </a:bodyPr>
          <a:lstStyle/>
          <a:p>
            <a:pPr eaLnBrk="1" hangingPunct="1"/>
            <a:r>
              <a:rPr lang="en-US" dirty="0"/>
              <a:t>AAA Authentication Commands</a:t>
            </a:r>
            <a:r>
              <a:rPr lang="en-US" sz="2100" dirty="0"/>
              <a:t> </a:t>
            </a:r>
          </a:p>
        </p:txBody>
      </p:sp>
      <p:graphicFrame>
        <p:nvGraphicFramePr>
          <p:cNvPr id="113689" name="Group 25"/>
          <p:cNvGraphicFramePr>
            <a:graphicFrameLocks noGrp="1"/>
          </p:cNvGraphicFramePr>
          <p:nvPr>
            <p:ph sz="half" idx="4294967295"/>
            <p:extLst>
              <p:ext uri="{D42A27DB-BD31-4B8C-83A1-F6EECF244321}">
                <p14:modId xmlns:p14="http://schemas.microsoft.com/office/powerpoint/2010/main" val="1733688761"/>
              </p:ext>
            </p:extLst>
          </p:nvPr>
        </p:nvGraphicFramePr>
        <p:xfrm>
          <a:off x="838201" y="3429000"/>
          <a:ext cx="10515600" cy="3104059"/>
        </p:xfrm>
        <a:graphic>
          <a:graphicData uri="http://schemas.openxmlformats.org/drawingml/2006/table">
            <a:tbl>
              <a:tblPr firstRow="1" firstCol="1" bandRow="1">
                <a:tableStyleId>{3C2FFA5D-87B4-456A-9821-1D502468CF0F}</a:tableStyleId>
              </a:tblPr>
              <a:tblGrid>
                <a:gridCol w="3037840">
                  <a:extLst>
                    <a:ext uri="{9D8B030D-6E8A-4147-A177-3AD203B41FA5}">
                      <a16:colId xmlns:a16="http://schemas.microsoft.com/office/drawing/2014/main" val="20000"/>
                    </a:ext>
                  </a:extLst>
                </a:gridCol>
                <a:gridCol w="7477760">
                  <a:extLst>
                    <a:ext uri="{9D8B030D-6E8A-4147-A177-3AD203B41FA5}">
                      <a16:colId xmlns:a16="http://schemas.microsoft.com/office/drawing/2014/main" val="20001"/>
                    </a:ext>
                  </a:extLst>
                </a:gridCol>
              </a:tblGrid>
              <a:tr h="346738">
                <a:tc>
                  <a:txBody>
                    <a:bodyPr/>
                    <a:lstStyle/>
                    <a:p>
                      <a:pPr marL="0" marR="0" lvl="0" indent="0" algn="ctr" defTabSz="814388" rtl="0" eaLnBrk="0" fontAlgn="base" latinLnBrk="0" hangingPunct="0">
                        <a:lnSpc>
                          <a:spcPct val="100000"/>
                        </a:lnSpc>
                        <a:spcBef>
                          <a:spcPct val="0"/>
                        </a:spcBef>
                        <a:spcAft>
                          <a:spcPts val="300"/>
                        </a:spcAft>
                        <a:buClrTx/>
                        <a:buSzTx/>
                        <a:buFontTx/>
                        <a:buNone/>
                        <a:tabLst/>
                      </a:pPr>
                      <a:r>
                        <a:rPr kumimoji="0" lang="en-US" sz="2000" u="none" strike="noStrike" cap="none" normalizeH="0" baseline="0" dirty="0">
                          <a:ln>
                            <a:noFill/>
                          </a:ln>
                          <a:effectLst/>
                          <a:latin typeface="Gill Sans MT" panose="020B0502020104020203" pitchFamily="34" charset="0"/>
                        </a:rPr>
                        <a:t>Parameter</a:t>
                      </a:r>
                      <a:endParaRPr kumimoji="0" lang="en-US" sz="2000" b="1" i="0" u="none" strike="noStrike" cap="none" normalizeH="0" baseline="0" dirty="0">
                        <a:ln>
                          <a:noFill/>
                        </a:ln>
                        <a:solidFill>
                          <a:schemeClr val="tx1"/>
                        </a:solidFill>
                        <a:effectLst/>
                        <a:latin typeface="Gill Sans MT" panose="020B0502020104020203" pitchFamily="34" charset="0"/>
                      </a:endParaRPr>
                    </a:p>
                  </a:txBody>
                  <a:tcPr marL="82124" marR="82124" marT="41061" marB="41061" anchor="ctr" horzOverflow="overflow"/>
                </a:tc>
                <a:tc>
                  <a:txBody>
                    <a:bodyPr/>
                    <a:lstStyle/>
                    <a:p>
                      <a:pPr marL="0" marR="0" lvl="0" indent="0" algn="l" defTabSz="814388" rtl="0" eaLnBrk="0" fontAlgn="base" latinLnBrk="0" hangingPunct="0">
                        <a:lnSpc>
                          <a:spcPct val="100000"/>
                        </a:lnSpc>
                        <a:spcBef>
                          <a:spcPct val="0"/>
                        </a:spcBef>
                        <a:spcAft>
                          <a:spcPts val="300"/>
                        </a:spcAft>
                        <a:buClrTx/>
                        <a:buSzTx/>
                        <a:buFontTx/>
                        <a:buNone/>
                        <a:tabLst/>
                      </a:pPr>
                      <a:r>
                        <a:rPr kumimoji="0" lang="en-US" sz="2000" u="none" strike="noStrike" cap="none" normalizeH="0" baseline="0" dirty="0">
                          <a:ln>
                            <a:noFill/>
                          </a:ln>
                          <a:effectLst/>
                          <a:latin typeface="Gill Sans MT" panose="020B0502020104020203" pitchFamily="34" charset="0"/>
                        </a:rPr>
                        <a:t>Description</a:t>
                      </a:r>
                      <a:endParaRPr kumimoji="0" lang="en-US" sz="2000" b="1" i="0" u="none" strike="noStrike" cap="none" normalizeH="0" baseline="0" dirty="0">
                        <a:ln>
                          <a:noFill/>
                        </a:ln>
                        <a:solidFill>
                          <a:schemeClr val="tx1"/>
                        </a:solidFill>
                        <a:effectLst/>
                        <a:latin typeface="Gill Sans MT" panose="020B0502020104020203" pitchFamily="34" charset="0"/>
                        <a:ea typeface="Arial Unicode MS" pitchFamily="34" charset="-128"/>
                        <a:cs typeface="Arial Unicode MS" pitchFamily="34" charset="-128"/>
                      </a:endParaRPr>
                    </a:p>
                  </a:txBody>
                  <a:tcPr marL="82124" marR="82124" marT="41061" marB="41061" horzOverflow="overflow"/>
                </a:tc>
                <a:extLst>
                  <a:ext uri="{0D108BD9-81ED-4DB2-BD59-A6C34878D82A}">
                    <a16:rowId xmlns:a16="http://schemas.microsoft.com/office/drawing/2014/main" val="10000"/>
                  </a:ext>
                </a:extLst>
              </a:tr>
              <a:tr h="853037">
                <a:tc>
                  <a:txBody>
                    <a:bodyPr/>
                    <a:lstStyle/>
                    <a:p>
                      <a:pPr marL="0" marR="0" lvl="0" indent="0" algn="ctr" defTabSz="814388" rtl="0" eaLnBrk="0" fontAlgn="base" latinLnBrk="0" hangingPunct="0">
                        <a:lnSpc>
                          <a:spcPct val="100000"/>
                        </a:lnSpc>
                        <a:spcBef>
                          <a:spcPct val="0"/>
                        </a:spcBef>
                        <a:spcAft>
                          <a:spcPts val="300"/>
                        </a:spcAft>
                        <a:buClrTx/>
                        <a:buSzTx/>
                        <a:buFontTx/>
                        <a:buNone/>
                        <a:tabLst/>
                      </a:pPr>
                      <a:r>
                        <a:rPr kumimoji="0" lang="en-US" sz="1800" b="1" i="0" u="none" strike="noStrike" cap="none" normalizeH="0" baseline="0" dirty="0">
                          <a:ln>
                            <a:noFill/>
                          </a:ln>
                          <a:effectLst/>
                          <a:latin typeface="Gill Sans MT" panose="020B0502020104020203" pitchFamily="34" charset="0"/>
                          <a:cs typeface="Courier New"/>
                        </a:rPr>
                        <a:t>default</a:t>
                      </a:r>
                      <a:endParaRPr kumimoji="0" lang="en-US" sz="1800" b="1" i="0" u="none" strike="noStrike" cap="none" normalizeH="0" baseline="0" dirty="0">
                        <a:ln>
                          <a:noFill/>
                        </a:ln>
                        <a:solidFill>
                          <a:schemeClr val="tx1"/>
                        </a:solidFill>
                        <a:effectLst/>
                        <a:latin typeface="Gill Sans MT" panose="020B0502020104020203" pitchFamily="34" charset="0"/>
                        <a:ea typeface="Arial Unicode MS" pitchFamily="34" charset="-128"/>
                        <a:cs typeface="Courier New"/>
                      </a:endParaRPr>
                    </a:p>
                  </a:txBody>
                  <a:tcPr marL="82296" marR="82296" anchor="ctr" horzOverflow="overflow"/>
                </a:tc>
                <a:tc>
                  <a:txBody>
                    <a:bodyPr/>
                    <a:lstStyle/>
                    <a:p>
                      <a:pPr marL="174625" marR="0" lvl="0" indent="-174625" algn="l" defTabSz="814388" rtl="0" eaLnBrk="0" fontAlgn="base" latinLnBrk="0" hangingPunct="0">
                        <a:lnSpc>
                          <a:spcPct val="100000"/>
                        </a:lnSpc>
                        <a:spcBef>
                          <a:spcPct val="0"/>
                        </a:spcBef>
                        <a:spcAft>
                          <a:spcPts val="300"/>
                        </a:spcAft>
                        <a:buClrTx/>
                        <a:buSzTx/>
                        <a:buFont typeface="Arial" pitchFamily="34" charset="0"/>
                        <a:buChar char="•"/>
                        <a:tabLst/>
                      </a:pPr>
                      <a:r>
                        <a:rPr kumimoji="0" lang="en-US" sz="1800" u="none" strike="noStrike" cap="none" normalizeH="0" baseline="0" dirty="0">
                          <a:ln>
                            <a:noFill/>
                          </a:ln>
                          <a:effectLst/>
                          <a:latin typeface="Gill Sans MT" panose="020B0502020104020203" pitchFamily="34" charset="0"/>
                        </a:rPr>
                        <a:t>This command creates a default that is automatically applied to all lines and interfaces, specifying the method or sequence of methods for authentication.</a:t>
                      </a:r>
                      <a:endParaRPr kumimoji="0" lang="en-US" sz="1800" b="0" i="0" u="none" strike="noStrike" cap="none" normalizeH="0" baseline="0" dirty="0">
                        <a:ln>
                          <a:noFill/>
                        </a:ln>
                        <a:solidFill>
                          <a:schemeClr val="tx1"/>
                        </a:solidFill>
                        <a:effectLst/>
                        <a:latin typeface="Gill Sans MT" panose="020B0502020104020203" pitchFamily="34" charset="0"/>
                        <a:ea typeface="Arial Unicode MS" pitchFamily="34" charset="-128"/>
                        <a:cs typeface="Arial" pitchFamily="34" charset="0"/>
                      </a:endParaRPr>
                    </a:p>
                  </a:txBody>
                  <a:tcPr marL="82296" marR="82296" anchor="ctr" horzOverflow="overflow"/>
                </a:tc>
                <a:extLst>
                  <a:ext uri="{0D108BD9-81ED-4DB2-BD59-A6C34878D82A}">
                    <a16:rowId xmlns:a16="http://schemas.microsoft.com/office/drawing/2014/main" val="10001"/>
                  </a:ext>
                </a:extLst>
              </a:tr>
              <a:tr h="1864100">
                <a:tc>
                  <a:txBody>
                    <a:bodyPr/>
                    <a:lstStyle/>
                    <a:p>
                      <a:pPr marL="0" marR="0" lvl="0" indent="0" algn="ctr" defTabSz="814388" rtl="0" eaLnBrk="0" fontAlgn="base" latinLnBrk="0" hangingPunct="0">
                        <a:lnSpc>
                          <a:spcPct val="100000"/>
                        </a:lnSpc>
                        <a:spcBef>
                          <a:spcPct val="0"/>
                        </a:spcBef>
                        <a:spcAft>
                          <a:spcPts val="300"/>
                        </a:spcAft>
                        <a:buClrTx/>
                        <a:buSzTx/>
                        <a:buFontTx/>
                        <a:buNone/>
                        <a:tabLst/>
                      </a:pPr>
                      <a:r>
                        <a:rPr kumimoji="0" lang="en-US" sz="1800" b="1" i="0" u="none" strike="noStrike" cap="none" normalizeH="0" baseline="0" dirty="0">
                          <a:ln>
                            <a:noFill/>
                          </a:ln>
                          <a:effectLst/>
                          <a:latin typeface="Gill Sans MT" panose="020B0502020104020203" pitchFamily="34" charset="0"/>
                          <a:cs typeface="Courier New"/>
                        </a:rPr>
                        <a:t>group </a:t>
                      </a:r>
                      <a:r>
                        <a:rPr kumimoji="0" lang="en-US" sz="1800" b="0" i="1" u="none" strike="noStrike" cap="none" normalizeH="0" baseline="0" dirty="0">
                          <a:ln>
                            <a:noFill/>
                          </a:ln>
                          <a:effectLst/>
                          <a:latin typeface="Gill Sans MT" panose="020B0502020104020203" pitchFamily="34" charset="0"/>
                          <a:cs typeface="Courier New"/>
                        </a:rPr>
                        <a:t>group-name</a:t>
                      </a:r>
                    </a:p>
                    <a:p>
                      <a:pPr marL="0" marR="0" lvl="0" indent="0" algn="ctr" defTabSz="814388" rtl="0" eaLnBrk="0" fontAlgn="base" latinLnBrk="0" hangingPunct="0">
                        <a:lnSpc>
                          <a:spcPct val="100000"/>
                        </a:lnSpc>
                        <a:spcBef>
                          <a:spcPct val="0"/>
                        </a:spcBef>
                        <a:spcAft>
                          <a:spcPts val="300"/>
                        </a:spcAft>
                        <a:buClrTx/>
                        <a:buSzTx/>
                        <a:buFontTx/>
                        <a:buNone/>
                        <a:tabLst/>
                      </a:pPr>
                      <a:r>
                        <a:rPr kumimoji="0" lang="en-US" sz="1800" b="1" i="0" u="none" strike="noStrike" cap="none" normalizeH="0" baseline="0" dirty="0">
                          <a:ln>
                            <a:noFill/>
                          </a:ln>
                          <a:effectLst/>
                          <a:latin typeface="Gill Sans MT" panose="020B0502020104020203" pitchFamily="34" charset="0"/>
                          <a:cs typeface="Courier New"/>
                        </a:rPr>
                        <a:t>group radius</a:t>
                      </a:r>
                    </a:p>
                    <a:p>
                      <a:pPr marL="0" marR="0" lvl="0" indent="0" algn="ctr" defTabSz="814388" rtl="0" eaLnBrk="0" fontAlgn="base" latinLnBrk="0" hangingPunct="0">
                        <a:lnSpc>
                          <a:spcPct val="100000"/>
                        </a:lnSpc>
                        <a:spcBef>
                          <a:spcPct val="0"/>
                        </a:spcBef>
                        <a:spcAft>
                          <a:spcPts val="300"/>
                        </a:spcAft>
                        <a:buClrTx/>
                        <a:buSzTx/>
                        <a:buFontTx/>
                        <a:buNone/>
                        <a:tabLst/>
                      </a:pPr>
                      <a:r>
                        <a:rPr kumimoji="0" lang="en-US" sz="1800" b="1" i="0" u="none" strike="noStrike" cap="none" normalizeH="0" baseline="0" dirty="0">
                          <a:ln>
                            <a:noFill/>
                          </a:ln>
                          <a:effectLst/>
                          <a:latin typeface="Gill Sans MT" panose="020B0502020104020203" pitchFamily="34" charset="0"/>
                          <a:cs typeface="Courier New"/>
                        </a:rPr>
                        <a:t>group </a:t>
                      </a:r>
                      <a:r>
                        <a:rPr kumimoji="0" lang="en-US" sz="1800" b="1" i="0" u="none" strike="noStrike" cap="none" normalizeH="0" baseline="0" dirty="0" err="1">
                          <a:ln>
                            <a:noFill/>
                          </a:ln>
                          <a:effectLst/>
                          <a:latin typeface="Gill Sans MT" panose="020B0502020104020203" pitchFamily="34" charset="0"/>
                          <a:cs typeface="Courier New"/>
                        </a:rPr>
                        <a:t>tacacs</a:t>
                      </a:r>
                      <a:r>
                        <a:rPr kumimoji="0" lang="en-US" sz="1800" b="1" i="0" u="none" strike="noStrike" cap="none" normalizeH="0" baseline="0" dirty="0">
                          <a:ln>
                            <a:noFill/>
                          </a:ln>
                          <a:effectLst/>
                          <a:latin typeface="Gill Sans MT" panose="020B0502020104020203" pitchFamily="34" charset="0"/>
                          <a:cs typeface="Courier New"/>
                        </a:rPr>
                        <a:t>+</a:t>
                      </a:r>
                      <a:endParaRPr kumimoji="0" lang="en-US" sz="1800" b="1" i="0" u="none" strike="noStrike" cap="none" normalizeH="0" baseline="0" dirty="0">
                        <a:ln>
                          <a:noFill/>
                        </a:ln>
                        <a:solidFill>
                          <a:schemeClr val="tx1"/>
                        </a:solidFill>
                        <a:effectLst/>
                        <a:latin typeface="Gill Sans MT" panose="020B0502020104020203" pitchFamily="34" charset="0"/>
                        <a:cs typeface="Courier New"/>
                      </a:endParaRPr>
                    </a:p>
                  </a:txBody>
                  <a:tcPr marL="82296" marR="82296" anchor="ctr" horzOverflow="overflow"/>
                </a:tc>
                <a:tc>
                  <a:txBody>
                    <a:bodyPr/>
                    <a:lstStyle/>
                    <a:p>
                      <a:pPr marL="174625" marR="0" lvl="0" indent="-174625" algn="l" defTabSz="814388" rtl="0" eaLnBrk="0" fontAlgn="base" latinLnBrk="0" hangingPunct="0">
                        <a:lnSpc>
                          <a:spcPct val="100000"/>
                        </a:lnSpc>
                        <a:spcBef>
                          <a:spcPct val="0"/>
                        </a:spcBef>
                        <a:spcAft>
                          <a:spcPts val="300"/>
                        </a:spcAft>
                        <a:buClrTx/>
                        <a:buSzTx/>
                        <a:buFont typeface="Arial" pitchFamily="34" charset="0"/>
                        <a:buChar char="•"/>
                        <a:tabLst/>
                      </a:pPr>
                      <a:r>
                        <a:rPr kumimoji="0" lang="en-US" sz="1800" u="none" strike="noStrike" cap="none" normalizeH="0" baseline="0" dirty="0">
                          <a:ln>
                            <a:noFill/>
                          </a:ln>
                          <a:effectLst/>
                          <a:latin typeface="Gill Sans MT" panose="020B0502020104020203" pitchFamily="34" charset="0"/>
                        </a:rPr>
                        <a:t>These methods specify the use of an AAA server. </a:t>
                      </a:r>
                    </a:p>
                    <a:p>
                      <a:pPr marL="174625" marR="0" lvl="0" indent="-174625" algn="l" defTabSz="814388" rtl="0" eaLnBrk="0" fontAlgn="base" latinLnBrk="0" hangingPunct="0">
                        <a:lnSpc>
                          <a:spcPct val="100000"/>
                        </a:lnSpc>
                        <a:spcBef>
                          <a:spcPct val="0"/>
                        </a:spcBef>
                        <a:spcAft>
                          <a:spcPts val="300"/>
                        </a:spcAft>
                        <a:buClrTx/>
                        <a:buSzTx/>
                        <a:buFont typeface="Arial" pitchFamily="34" charset="0"/>
                        <a:buChar char="•"/>
                        <a:tabLst/>
                      </a:pPr>
                      <a:r>
                        <a:rPr kumimoji="0" lang="en-US" sz="1800" u="none" strike="noStrike" cap="none" normalizeH="0" baseline="0" dirty="0">
                          <a:ln>
                            <a:noFill/>
                          </a:ln>
                          <a:effectLst/>
                          <a:latin typeface="Gill Sans MT" panose="020B0502020104020203" pitchFamily="34" charset="0"/>
                        </a:rPr>
                        <a:t>The group radius and group tacacs+ methods refer to previously defined RADIUS or TACACS+ servers. </a:t>
                      </a:r>
                    </a:p>
                    <a:p>
                      <a:pPr marL="174625" marR="0" lvl="0" indent="-174625" algn="l" defTabSz="814388" rtl="0" eaLnBrk="0" fontAlgn="base" latinLnBrk="0" hangingPunct="0">
                        <a:lnSpc>
                          <a:spcPct val="100000"/>
                        </a:lnSpc>
                        <a:spcBef>
                          <a:spcPct val="0"/>
                        </a:spcBef>
                        <a:spcAft>
                          <a:spcPts val="300"/>
                        </a:spcAft>
                        <a:buClrTx/>
                        <a:buSzTx/>
                        <a:buFont typeface="Arial" pitchFamily="34" charset="0"/>
                        <a:buChar char="•"/>
                        <a:tabLst/>
                      </a:pPr>
                      <a:r>
                        <a:rPr kumimoji="0" lang="en-US" sz="1800" u="none" strike="noStrike" cap="none" normalizeH="0" baseline="0" dirty="0">
                          <a:ln>
                            <a:noFill/>
                          </a:ln>
                          <a:effectLst/>
                          <a:latin typeface="Gill Sans MT" panose="020B0502020104020203" pitchFamily="34" charset="0"/>
                        </a:rPr>
                        <a:t>The group-name string allows the use of a predefined group of RADIUS or TACACS+ servers for authentication (created with the </a:t>
                      </a:r>
                      <a:r>
                        <a:rPr kumimoji="0" lang="en-US" sz="1800" u="none" strike="noStrike" cap="none" normalizeH="0" baseline="0" dirty="0" err="1">
                          <a:ln>
                            <a:noFill/>
                          </a:ln>
                          <a:effectLst/>
                          <a:latin typeface="Gill Sans MT" panose="020B0502020104020203" pitchFamily="34" charset="0"/>
                        </a:rPr>
                        <a:t>aaa</a:t>
                      </a:r>
                      <a:r>
                        <a:rPr kumimoji="0" lang="en-US" sz="1800" u="none" strike="noStrike" cap="none" normalizeH="0" baseline="0" dirty="0">
                          <a:ln>
                            <a:noFill/>
                          </a:ln>
                          <a:effectLst/>
                          <a:latin typeface="Gill Sans MT" panose="020B0502020104020203" pitchFamily="34" charset="0"/>
                        </a:rPr>
                        <a:t> group server radius or </a:t>
                      </a:r>
                      <a:r>
                        <a:rPr kumimoji="0" lang="en-US" sz="1800" u="none" strike="noStrike" cap="none" normalizeH="0" baseline="0" dirty="0" err="1">
                          <a:ln>
                            <a:noFill/>
                          </a:ln>
                          <a:effectLst/>
                          <a:latin typeface="Gill Sans MT" panose="020B0502020104020203" pitchFamily="34" charset="0"/>
                        </a:rPr>
                        <a:t>aaa</a:t>
                      </a:r>
                      <a:r>
                        <a:rPr kumimoji="0" lang="en-US" sz="1800" u="none" strike="noStrike" cap="none" normalizeH="0" baseline="0" dirty="0">
                          <a:ln>
                            <a:noFill/>
                          </a:ln>
                          <a:effectLst/>
                          <a:latin typeface="Gill Sans MT" panose="020B0502020104020203" pitchFamily="34" charset="0"/>
                        </a:rPr>
                        <a:t> group server tacacs+ command).</a:t>
                      </a:r>
                      <a:endParaRPr kumimoji="0" lang="en-US" sz="1800" b="0" i="0" u="none" strike="noStrike" cap="none" normalizeH="0" baseline="0" dirty="0">
                        <a:ln>
                          <a:noFill/>
                        </a:ln>
                        <a:solidFill>
                          <a:schemeClr val="tx1"/>
                        </a:solidFill>
                        <a:effectLst/>
                        <a:latin typeface="Gill Sans MT" panose="020B0502020104020203" pitchFamily="34" charset="0"/>
                        <a:ea typeface="Arial Unicode MS" pitchFamily="34" charset="-128"/>
                        <a:cs typeface="Arial" pitchFamily="34" charset="0"/>
                      </a:endParaRPr>
                    </a:p>
                  </a:txBody>
                  <a:tcPr marL="82296" marR="82296" anchor="ctr" horzOverflow="overflow"/>
                </a:tc>
                <a:extLst>
                  <a:ext uri="{0D108BD9-81ED-4DB2-BD59-A6C34878D82A}">
                    <a16:rowId xmlns:a16="http://schemas.microsoft.com/office/drawing/2014/main" val="10002"/>
                  </a:ext>
                </a:extLst>
              </a:tr>
            </a:tbl>
          </a:graphicData>
        </a:graphic>
      </p:graphicFrame>
      <p:sp>
        <p:nvSpPr>
          <p:cNvPr id="74769" name="Rectangle 24"/>
          <p:cNvSpPr>
            <a:spLocks noChangeArrowheads="1"/>
          </p:cNvSpPr>
          <p:nvPr/>
        </p:nvSpPr>
        <p:spPr bwMode="auto">
          <a:xfrm>
            <a:off x="571499" y="2144345"/>
            <a:ext cx="10646229" cy="461665"/>
          </a:xfrm>
          <a:prstGeom prst="rect">
            <a:avLst/>
          </a:prstGeom>
          <a:solidFill>
            <a:srgbClr val="DDDDDD"/>
          </a:solidFill>
          <a:ln w="12700">
            <a:solidFill>
              <a:srgbClr val="000000"/>
            </a:solidFill>
            <a:miter lim="800000"/>
            <a:headEnd/>
            <a:tailEnd/>
          </a:ln>
          <a:extLst/>
        </p:spPr>
        <p:txBody>
          <a:bodyPr wrap="square">
            <a:spAutoFit/>
          </a:bodyPr>
          <a:lstStyle/>
          <a:p>
            <a:pPr eaLnBrk="1" hangingPunct="1">
              <a:lnSpc>
                <a:spcPct val="100000"/>
              </a:lnSpc>
            </a:pPr>
            <a:r>
              <a:rPr lang="en-US" sz="2400" dirty="0">
                <a:solidFill>
                  <a:srgbClr val="000000"/>
                </a:solidFill>
                <a:latin typeface="Gill Sans MT" panose="020B0502020104020203" pitchFamily="34" charset="0"/>
                <a:ea typeface="宋体" charset="0"/>
                <a:cs typeface="宋体" charset="0"/>
              </a:rPr>
              <a:t>R1(</a:t>
            </a:r>
            <a:r>
              <a:rPr lang="en-US" sz="2400" dirty="0" err="1">
                <a:solidFill>
                  <a:srgbClr val="000000"/>
                </a:solidFill>
                <a:latin typeface="Gill Sans MT" panose="020B0502020104020203" pitchFamily="34" charset="0"/>
                <a:ea typeface="宋体" charset="0"/>
                <a:cs typeface="宋体" charset="0"/>
              </a:rPr>
              <a:t>config</a:t>
            </a:r>
            <a:r>
              <a:rPr lang="en-US" sz="2400" dirty="0">
                <a:solidFill>
                  <a:srgbClr val="000000"/>
                </a:solidFill>
                <a:latin typeface="Gill Sans MT" panose="020B0502020104020203" pitchFamily="34" charset="0"/>
                <a:ea typeface="宋体" charset="0"/>
                <a:cs typeface="宋体" charset="0"/>
              </a:rPr>
              <a:t>)# </a:t>
            </a:r>
            <a:r>
              <a:rPr lang="en-US" sz="2400" dirty="0" err="1">
                <a:solidFill>
                  <a:srgbClr val="000000"/>
                </a:solidFill>
                <a:latin typeface="Gill Sans MT" panose="020B0502020104020203" pitchFamily="34" charset="0"/>
                <a:ea typeface="宋体" charset="0"/>
                <a:cs typeface="宋体" charset="0"/>
              </a:rPr>
              <a:t>aaa</a:t>
            </a:r>
            <a:r>
              <a:rPr lang="en-US" sz="2400" dirty="0">
                <a:solidFill>
                  <a:srgbClr val="000000"/>
                </a:solidFill>
                <a:latin typeface="Gill Sans MT" panose="020B0502020104020203" pitchFamily="34" charset="0"/>
                <a:ea typeface="宋体" charset="0"/>
                <a:cs typeface="宋体" charset="0"/>
              </a:rPr>
              <a:t> authentication login default group </a:t>
            </a:r>
            <a:r>
              <a:rPr lang="en-US" sz="2400" dirty="0" err="1">
                <a:solidFill>
                  <a:srgbClr val="000000"/>
                </a:solidFill>
                <a:latin typeface="Gill Sans MT" panose="020B0502020104020203" pitchFamily="34" charset="0"/>
                <a:ea typeface="宋体" charset="0"/>
                <a:cs typeface="宋体" charset="0"/>
              </a:rPr>
              <a:t>tacacs</a:t>
            </a:r>
            <a:r>
              <a:rPr lang="en-US" sz="2400" dirty="0">
                <a:solidFill>
                  <a:srgbClr val="000000"/>
                </a:solidFill>
                <a:latin typeface="Gill Sans MT" panose="020B0502020104020203" pitchFamily="34" charset="0"/>
                <a:ea typeface="宋体" charset="0"/>
                <a:cs typeface="宋体" charset="0"/>
              </a:rPr>
              <a:t>+ group radius local-case</a:t>
            </a:r>
          </a:p>
        </p:txBody>
      </p:sp>
      <p:cxnSp>
        <p:nvCxnSpPr>
          <p:cNvPr id="3" name="Straight Arrow Connector 2">
            <a:extLst>
              <a:ext uri="{FF2B5EF4-FFF2-40B4-BE49-F238E27FC236}">
                <a16:creationId xmlns:a16="http://schemas.microsoft.com/office/drawing/2014/main" id="{31D140E4-1BB9-4F12-A18E-4E7EF80981EC}"/>
              </a:ext>
            </a:extLst>
          </p:cNvPr>
          <p:cNvCxnSpPr/>
          <p:nvPr/>
        </p:nvCxnSpPr>
        <p:spPr>
          <a:xfrm flipH="1">
            <a:off x="4800600" y="2606010"/>
            <a:ext cx="408214" cy="70869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635398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en-US"/>
              <a:t>Configuring the AAA Server</a:t>
            </a:r>
          </a:p>
        </p:txBody>
      </p:sp>
      <p:sp>
        <p:nvSpPr>
          <p:cNvPr id="75796" name="Rectangle 28"/>
          <p:cNvSpPr>
            <a:spLocks noChangeArrowheads="1"/>
          </p:cNvSpPr>
          <p:nvPr/>
        </p:nvSpPr>
        <p:spPr bwMode="auto">
          <a:xfrm>
            <a:off x="8839201" y="3295651"/>
            <a:ext cx="1393825" cy="522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a:lnSpc>
                <a:spcPct val="100000"/>
              </a:lnSpc>
              <a:spcBef>
                <a:spcPct val="5000"/>
              </a:spcBef>
              <a:spcAft>
                <a:spcPct val="5000"/>
              </a:spcAft>
            </a:pPr>
            <a:r>
              <a:rPr lang="en-US" sz="900" dirty="0">
                <a:solidFill>
                  <a:schemeClr val="bg1"/>
                </a:solidFill>
              </a:rPr>
              <a:t>Cisco Secure ACS </a:t>
            </a:r>
            <a:br>
              <a:rPr lang="en-US" sz="900" dirty="0">
                <a:solidFill>
                  <a:schemeClr val="bg1"/>
                </a:solidFill>
              </a:rPr>
            </a:br>
            <a:r>
              <a:rPr lang="en-US" sz="900" dirty="0">
                <a:solidFill>
                  <a:schemeClr val="bg1"/>
                </a:solidFill>
              </a:rPr>
              <a:t>Solution Engine </a:t>
            </a:r>
          </a:p>
          <a:p>
            <a:pPr algn="ctr">
              <a:lnSpc>
                <a:spcPct val="100000"/>
              </a:lnSpc>
              <a:spcBef>
                <a:spcPct val="5000"/>
              </a:spcBef>
              <a:spcAft>
                <a:spcPct val="5000"/>
              </a:spcAft>
            </a:pPr>
            <a:r>
              <a:rPr lang="en-US" sz="900" dirty="0">
                <a:solidFill>
                  <a:schemeClr val="bg1"/>
                </a:solidFill>
              </a:rPr>
              <a:t>using TACACS+</a:t>
            </a:r>
          </a:p>
        </p:txBody>
      </p:sp>
      <p:sp>
        <p:nvSpPr>
          <p:cNvPr id="75800" name="Rectangle 34"/>
          <p:cNvSpPr>
            <a:spLocks noChangeArrowheads="1"/>
          </p:cNvSpPr>
          <p:nvPr/>
        </p:nvSpPr>
        <p:spPr bwMode="auto">
          <a:xfrm>
            <a:off x="1154909" y="3815219"/>
            <a:ext cx="10515598" cy="2677656"/>
          </a:xfrm>
          <a:prstGeom prst="rect">
            <a:avLst/>
          </a:prstGeom>
          <a:solidFill>
            <a:srgbClr val="DDDDDD"/>
          </a:solidFill>
          <a:ln w="12700">
            <a:solidFill>
              <a:srgbClr val="000000"/>
            </a:solidFill>
            <a:miter lim="800000"/>
            <a:headEnd/>
            <a:tailEnd/>
          </a:ln>
          <a:extLst/>
        </p:spPr>
        <p:txBody>
          <a:bodyPr wrap="square">
            <a:spAutoFit/>
          </a:bodyPr>
          <a:lstStyle/>
          <a:p>
            <a:pPr eaLnBrk="1" hangingPunct="1">
              <a:lnSpc>
                <a:spcPct val="100000"/>
              </a:lnSpc>
            </a:pPr>
            <a:r>
              <a:rPr lang="en-US" sz="2400" dirty="0" err="1">
                <a:solidFill>
                  <a:srgbClr val="000000"/>
                </a:solidFill>
                <a:latin typeface="Gill Sans MT" panose="020B0502020104020203" pitchFamily="34" charset="0"/>
                <a:ea typeface="宋体" charset="0"/>
                <a:cs typeface="宋体" charset="0"/>
              </a:rPr>
              <a:t>R1</a:t>
            </a:r>
            <a:r>
              <a:rPr lang="en-US" sz="2400" dirty="0">
                <a:solidFill>
                  <a:srgbClr val="000000"/>
                </a:solidFill>
                <a:latin typeface="Gill Sans MT" panose="020B0502020104020203" pitchFamily="34" charset="0"/>
                <a:ea typeface="宋体" charset="0"/>
                <a:cs typeface="宋体" charset="0"/>
              </a:rPr>
              <a:t>(</a:t>
            </a:r>
            <a:r>
              <a:rPr lang="en-US" sz="2400" dirty="0" err="1">
                <a:solidFill>
                  <a:srgbClr val="000000"/>
                </a:solidFill>
                <a:latin typeface="Gill Sans MT" panose="020B0502020104020203" pitchFamily="34" charset="0"/>
                <a:ea typeface="宋体" charset="0"/>
                <a:cs typeface="宋体" charset="0"/>
              </a:rPr>
              <a:t>config</a:t>
            </a:r>
            <a:r>
              <a:rPr lang="en-US" sz="2400" dirty="0">
                <a:solidFill>
                  <a:srgbClr val="000000"/>
                </a:solidFill>
                <a:latin typeface="Gill Sans MT" panose="020B0502020104020203" pitchFamily="34" charset="0"/>
                <a:ea typeface="宋体" charset="0"/>
                <a:cs typeface="宋体" charset="0"/>
              </a:rPr>
              <a:t>)# </a:t>
            </a:r>
            <a:r>
              <a:rPr lang="en-US" sz="2400" dirty="0" err="1">
                <a:solidFill>
                  <a:srgbClr val="000000"/>
                </a:solidFill>
                <a:latin typeface="Gill Sans MT" panose="020B0502020104020203" pitchFamily="34" charset="0"/>
                <a:ea typeface="宋体" charset="0"/>
                <a:cs typeface="宋体" charset="0"/>
              </a:rPr>
              <a:t>aaa</a:t>
            </a:r>
            <a:r>
              <a:rPr lang="en-US" sz="2400" dirty="0">
                <a:solidFill>
                  <a:srgbClr val="000000"/>
                </a:solidFill>
                <a:latin typeface="Gill Sans MT" panose="020B0502020104020203" pitchFamily="34" charset="0"/>
                <a:ea typeface="宋体" charset="0"/>
                <a:cs typeface="宋体" charset="0"/>
              </a:rPr>
              <a:t> new-model</a:t>
            </a:r>
          </a:p>
          <a:p>
            <a:pPr eaLnBrk="1" hangingPunct="1">
              <a:lnSpc>
                <a:spcPct val="100000"/>
              </a:lnSpc>
            </a:pPr>
            <a:r>
              <a:rPr lang="en-US" sz="2400" dirty="0">
                <a:solidFill>
                  <a:srgbClr val="000000"/>
                </a:solidFill>
                <a:latin typeface="Gill Sans MT" panose="020B0502020104020203" pitchFamily="34" charset="0"/>
                <a:ea typeface="宋体" charset="0"/>
                <a:cs typeface="宋体" charset="0"/>
              </a:rPr>
              <a:t>R1(config)# </a:t>
            </a:r>
            <a:r>
              <a:rPr lang="en-US" sz="2400" dirty="0" err="1">
                <a:solidFill>
                  <a:srgbClr val="000000"/>
                </a:solidFill>
                <a:latin typeface="Gill Sans MT" panose="020B0502020104020203" pitchFamily="34" charset="0"/>
                <a:ea typeface="宋体" charset="0"/>
                <a:cs typeface="宋体" charset="0"/>
              </a:rPr>
              <a:t>tacacs</a:t>
            </a:r>
            <a:r>
              <a:rPr lang="en-US" sz="2400" dirty="0">
                <a:solidFill>
                  <a:srgbClr val="000000"/>
                </a:solidFill>
                <a:latin typeface="Gill Sans MT" panose="020B0502020104020203" pitchFamily="34" charset="0"/>
                <a:ea typeface="宋体" charset="0"/>
                <a:cs typeface="宋体" charset="0"/>
              </a:rPr>
              <a:t>-server host 192.168.1.101 single-connection</a:t>
            </a:r>
          </a:p>
          <a:p>
            <a:pPr eaLnBrk="1" hangingPunct="1">
              <a:lnSpc>
                <a:spcPct val="100000"/>
              </a:lnSpc>
            </a:pPr>
            <a:r>
              <a:rPr lang="en-US" sz="2400" dirty="0" err="1">
                <a:solidFill>
                  <a:srgbClr val="000000"/>
                </a:solidFill>
                <a:latin typeface="Gill Sans MT" panose="020B0502020104020203" pitchFamily="34" charset="0"/>
                <a:ea typeface="宋体" charset="0"/>
                <a:cs typeface="宋体" charset="0"/>
              </a:rPr>
              <a:t>R1</a:t>
            </a:r>
            <a:r>
              <a:rPr lang="en-US" sz="2400" dirty="0">
                <a:solidFill>
                  <a:srgbClr val="000000"/>
                </a:solidFill>
                <a:latin typeface="Gill Sans MT" panose="020B0502020104020203" pitchFamily="34" charset="0"/>
                <a:ea typeface="宋体" charset="0"/>
                <a:cs typeface="宋体" charset="0"/>
              </a:rPr>
              <a:t>(</a:t>
            </a:r>
            <a:r>
              <a:rPr lang="en-US" sz="2400" dirty="0" err="1">
                <a:solidFill>
                  <a:srgbClr val="000000"/>
                </a:solidFill>
                <a:latin typeface="Gill Sans MT" panose="020B0502020104020203" pitchFamily="34" charset="0"/>
                <a:ea typeface="宋体" charset="0"/>
                <a:cs typeface="宋体" charset="0"/>
              </a:rPr>
              <a:t>config</a:t>
            </a:r>
            <a:r>
              <a:rPr lang="en-US" sz="2400" dirty="0">
                <a:solidFill>
                  <a:srgbClr val="000000"/>
                </a:solidFill>
                <a:latin typeface="Gill Sans MT" panose="020B0502020104020203" pitchFamily="34" charset="0"/>
                <a:ea typeface="宋体" charset="0"/>
                <a:cs typeface="宋体" charset="0"/>
              </a:rPr>
              <a:t>)# </a:t>
            </a:r>
            <a:r>
              <a:rPr lang="en-US" sz="2400" dirty="0" err="1">
                <a:solidFill>
                  <a:srgbClr val="000000"/>
                </a:solidFill>
                <a:latin typeface="Gill Sans MT" panose="020B0502020104020203" pitchFamily="34" charset="0"/>
                <a:ea typeface="宋体" charset="0"/>
                <a:cs typeface="宋体" charset="0"/>
              </a:rPr>
              <a:t>tacacs</a:t>
            </a:r>
            <a:r>
              <a:rPr lang="en-US" sz="2400" dirty="0">
                <a:solidFill>
                  <a:srgbClr val="000000"/>
                </a:solidFill>
                <a:latin typeface="Gill Sans MT" panose="020B0502020104020203" pitchFamily="34" charset="0"/>
                <a:ea typeface="宋体" charset="0"/>
                <a:cs typeface="宋体" charset="0"/>
              </a:rPr>
              <a:t>-server key </a:t>
            </a:r>
            <a:r>
              <a:rPr lang="en-US" sz="2400" dirty="0" err="1">
                <a:solidFill>
                  <a:srgbClr val="000000"/>
                </a:solidFill>
                <a:latin typeface="Gill Sans MT" panose="020B0502020104020203" pitchFamily="34" charset="0"/>
                <a:ea typeface="宋体" charset="0"/>
                <a:cs typeface="宋体" charset="0"/>
              </a:rPr>
              <a:t>TACACS+Pa55w0rd</a:t>
            </a:r>
            <a:r>
              <a:rPr lang="en-US" sz="2400" dirty="0">
                <a:solidFill>
                  <a:srgbClr val="000000"/>
                </a:solidFill>
                <a:latin typeface="Gill Sans MT" panose="020B0502020104020203" pitchFamily="34" charset="0"/>
                <a:ea typeface="宋体" charset="0"/>
                <a:cs typeface="宋体" charset="0"/>
              </a:rPr>
              <a:t> </a:t>
            </a:r>
          </a:p>
          <a:p>
            <a:pPr eaLnBrk="1" hangingPunct="1">
              <a:lnSpc>
                <a:spcPct val="100000"/>
              </a:lnSpc>
            </a:pPr>
            <a:r>
              <a:rPr lang="en-US" sz="2400" dirty="0">
                <a:solidFill>
                  <a:srgbClr val="000000"/>
                </a:solidFill>
                <a:latin typeface="Gill Sans MT" panose="020B0502020104020203" pitchFamily="34" charset="0"/>
                <a:ea typeface="宋体" charset="0"/>
                <a:cs typeface="宋体" charset="0"/>
              </a:rPr>
              <a:t>R1(config)# radius-server host 192.168.1.100</a:t>
            </a:r>
          </a:p>
          <a:p>
            <a:pPr eaLnBrk="1" hangingPunct="1">
              <a:lnSpc>
                <a:spcPct val="100000"/>
              </a:lnSpc>
            </a:pPr>
            <a:r>
              <a:rPr lang="en-US" sz="2400" dirty="0" err="1">
                <a:solidFill>
                  <a:srgbClr val="000000"/>
                </a:solidFill>
                <a:latin typeface="Gill Sans MT" panose="020B0502020104020203" pitchFamily="34" charset="0"/>
                <a:ea typeface="宋体" charset="0"/>
                <a:cs typeface="宋体" charset="0"/>
              </a:rPr>
              <a:t>R1</a:t>
            </a:r>
            <a:r>
              <a:rPr lang="en-US" sz="2400" dirty="0">
                <a:solidFill>
                  <a:srgbClr val="000000"/>
                </a:solidFill>
                <a:latin typeface="Gill Sans MT" panose="020B0502020104020203" pitchFamily="34" charset="0"/>
                <a:ea typeface="宋体" charset="0"/>
                <a:cs typeface="宋体" charset="0"/>
              </a:rPr>
              <a:t>(</a:t>
            </a:r>
            <a:r>
              <a:rPr lang="en-US" sz="2400" dirty="0" err="1">
                <a:solidFill>
                  <a:srgbClr val="000000"/>
                </a:solidFill>
                <a:latin typeface="Gill Sans MT" panose="020B0502020104020203" pitchFamily="34" charset="0"/>
                <a:ea typeface="宋体" charset="0"/>
                <a:cs typeface="宋体" charset="0"/>
              </a:rPr>
              <a:t>config</a:t>
            </a:r>
            <a:r>
              <a:rPr lang="en-US" sz="2400" dirty="0">
                <a:solidFill>
                  <a:srgbClr val="000000"/>
                </a:solidFill>
                <a:latin typeface="Gill Sans MT" panose="020B0502020104020203" pitchFamily="34" charset="0"/>
                <a:ea typeface="宋体" charset="0"/>
                <a:cs typeface="宋体" charset="0"/>
              </a:rPr>
              <a:t>)# radius-server key RADIUS-</a:t>
            </a:r>
            <a:r>
              <a:rPr lang="en-US" sz="2400" dirty="0" err="1">
                <a:solidFill>
                  <a:srgbClr val="000000"/>
                </a:solidFill>
                <a:latin typeface="Gill Sans MT" panose="020B0502020104020203" pitchFamily="34" charset="0"/>
                <a:ea typeface="宋体" charset="0"/>
                <a:cs typeface="宋体" charset="0"/>
              </a:rPr>
              <a:t>Pa55w0rd</a:t>
            </a:r>
            <a:endParaRPr lang="en-US" sz="2400" dirty="0">
              <a:solidFill>
                <a:srgbClr val="000000"/>
              </a:solidFill>
              <a:latin typeface="Gill Sans MT" panose="020B0502020104020203" pitchFamily="34" charset="0"/>
              <a:ea typeface="宋体" charset="0"/>
              <a:cs typeface="宋体" charset="0"/>
            </a:endParaRPr>
          </a:p>
          <a:p>
            <a:pPr eaLnBrk="1" hangingPunct="1">
              <a:lnSpc>
                <a:spcPct val="100000"/>
              </a:lnSpc>
            </a:pPr>
            <a:r>
              <a:rPr lang="en-US" sz="2400" dirty="0" err="1">
                <a:solidFill>
                  <a:srgbClr val="000000"/>
                </a:solidFill>
                <a:latin typeface="Gill Sans MT" panose="020B0502020104020203" pitchFamily="34" charset="0"/>
                <a:ea typeface="宋体" charset="0"/>
                <a:cs typeface="宋体" charset="0"/>
              </a:rPr>
              <a:t>R1</a:t>
            </a:r>
            <a:r>
              <a:rPr lang="en-US" sz="2400" dirty="0">
                <a:solidFill>
                  <a:srgbClr val="000000"/>
                </a:solidFill>
                <a:latin typeface="Gill Sans MT" panose="020B0502020104020203" pitchFamily="34" charset="0"/>
                <a:ea typeface="宋体" charset="0"/>
                <a:cs typeface="宋体" charset="0"/>
              </a:rPr>
              <a:t>(</a:t>
            </a:r>
            <a:r>
              <a:rPr lang="en-US" sz="2400" dirty="0" err="1">
                <a:solidFill>
                  <a:srgbClr val="000000"/>
                </a:solidFill>
                <a:latin typeface="Gill Sans MT" panose="020B0502020104020203" pitchFamily="34" charset="0"/>
                <a:ea typeface="宋体" charset="0"/>
                <a:cs typeface="宋体" charset="0"/>
              </a:rPr>
              <a:t>config</a:t>
            </a:r>
            <a:r>
              <a:rPr lang="en-US" sz="2400" dirty="0">
                <a:solidFill>
                  <a:srgbClr val="000000"/>
                </a:solidFill>
                <a:latin typeface="Gill Sans MT" panose="020B0502020104020203" pitchFamily="34" charset="0"/>
                <a:ea typeface="宋体" charset="0"/>
                <a:cs typeface="宋体" charset="0"/>
              </a:rPr>
              <a:t>)#</a:t>
            </a:r>
          </a:p>
          <a:p>
            <a:pPr eaLnBrk="1" hangingPunct="1">
              <a:lnSpc>
                <a:spcPct val="100000"/>
              </a:lnSpc>
            </a:pPr>
            <a:r>
              <a:rPr lang="en-US" sz="2400" dirty="0">
                <a:solidFill>
                  <a:srgbClr val="000000"/>
                </a:solidFill>
                <a:latin typeface="Gill Sans MT" panose="020B0502020104020203" pitchFamily="34" charset="0"/>
                <a:ea typeface="宋体" charset="0"/>
                <a:cs typeface="宋体" charset="0"/>
              </a:rPr>
              <a:t>R1(config)# </a:t>
            </a:r>
            <a:r>
              <a:rPr lang="en-US" sz="2400" dirty="0" err="1">
                <a:solidFill>
                  <a:srgbClr val="000000"/>
                </a:solidFill>
                <a:latin typeface="Gill Sans MT" panose="020B0502020104020203" pitchFamily="34" charset="0"/>
                <a:ea typeface="宋体" charset="0"/>
                <a:cs typeface="宋体" charset="0"/>
              </a:rPr>
              <a:t>aaa</a:t>
            </a:r>
            <a:r>
              <a:rPr lang="en-US" sz="2400" dirty="0">
                <a:solidFill>
                  <a:srgbClr val="000000"/>
                </a:solidFill>
                <a:latin typeface="Gill Sans MT" panose="020B0502020104020203" pitchFamily="34" charset="0"/>
                <a:ea typeface="宋体" charset="0"/>
                <a:cs typeface="宋体" charset="0"/>
              </a:rPr>
              <a:t> authentication login default group </a:t>
            </a:r>
            <a:r>
              <a:rPr lang="en-US" sz="2400" dirty="0" err="1">
                <a:solidFill>
                  <a:srgbClr val="000000"/>
                </a:solidFill>
                <a:latin typeface="Gill Sans MT" panose="020B0502020104020203" pitchFamily="34" charset="0"/>
                <a:ea typeface="宋体" charset="0"/>
                <a:cs typeface="宋体" charset="0"/>
              </a:rPr>
              <a:t>tacacs</a:t>
            </a:r>
            <a:r>
              <a:rPr lang="en-US" sz="2400" dirty="0">
                <a:solidFill>
                  <a:srgbClr val="000000"/>
                </a:solidFill>
                <a:latin typeface="Gill Sans MT" panose="020B0502020104020203" pitchFamily="34" charset="0"/>
                <a:ea typeface="宋体" charset="0"/>
                <a:cs typeface="宋体" charset="0"/>
              </a:rPr>
              <a:t>+ group radius local-case</a:t>
            </a:r>
          </a:p>
        </p:txBody>
      </p:sp>
      <p:sp>
        <p:nvSpPr>
          <p:cNvPr id="18" name="Rectangle 9">
            <a:extLst>
              <a:ext uri="{FF2B5EF4-FFF2-40B4-BE49-F238E27FC236}">
                <a16:creationId xmlns:a16="http://schemas.microsoft.com/office/drawing/2014/main" id="{EC13284F-0224-4D27-ADDD-8B9A297D5F2A}"/>
              </a:ext>
            </a:extLst>
          </p:cNvPr>
          <p:cNvSpPr>
            <a:spLocks noChangeArrowheads="1"/>
          </p:cNvSpPr>
          <p:nvPr/>
        </p:nvSpPr>
        <p:spPr bwMode="auto">
          <a:xfrm>
            <a:off x="6096002" y="1613169"/>
            <a:ext cx="633413" cy="3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188" tIns="52388" rIns="103188" bIns="52388">
            <a:spAutoFit/>
          </a:bodyPr>
          <a:lstStyle/>
          <a:p>
            <a:pPr algn="ctr" defTabSz="1157288">
              <a:lnSpc>
                <a:spcPct val="85000"/>
              </a:lnSpc>
            </a:pPr>
            <a:r>
              <a:rPr lang="en-US"/>
              <a:t>R1</a:t>
            </a:r>
          </a:p>
        </p:txBody>
      </p:sp>
      <p:sp>
        <p:nvSpPr>
          <p:cNvPr id="19" name="Line 10">
            <a:extLst>
              <a:ext uri="{FF2B5EF4-FFF2-40B4-BE49-F238E27FC236}">
                <a16:creationId xmlns:a16="http://schemas.microsoft.com/office/drawing/2014/main" id="{BB27C46A-4BF1-48E9-BD5D-F674DAD97575}"/>
              </a:ext>
            </a:extLst>
          </p:cNvPr>
          <p:cNvSpPr>
            <a:spLocks noChangeShapeType="1"/>
          </p:cNvSpPr>
          <p:nvPr/>
        </p:nvSpPr>
        <p:spPr bwMode="auto">
          <a:xfrm>
            <a:off x="6727826" y="2273569"/>
            <a:ext cx="1447800" cy="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20" name="Line 11">
            <a:extLst>
              <a:ext uri="{FF2B5EF4-FFF2-40B4-BE49-F238E27FC236}">
                <a16:creationId xmlns:a16="http://schemas.microsoft.com/office/drawing/2014/main" id="{5E48CF32-5DB1-4E42-9A94-C407CF1F8C69}"/>
              </a:ext>
            </a:extLst>
          </p:cNvPr>
          <p:cNvSpPr>
            <a:spLocks noChangeShapeType="1"/>
          </p:cNvSpPr>
          <p:nvPr/>
        </p:nvSpPr>
        <p:spPr bwMode="auto">
          <a:xfrm rot="-5400000">
            <a:off x="7108826" y="2451369"/>
            <a:ext cx="2133600" cy="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21" name="Line 12">
            <a:extLst>
              <a:ext uri="{FF2B5EF4-FFF2-40B4-BE49-F238E27FC236}">
                <a16:creationId xmlns:a16="http://schemas.microsoft.com/office/drawing/2014/main" id="{BFC7C6AF-CEA5-4310-932E-2D97169B440A}"/>
              </a:ext>
            </a:extLst>
          </p:cNvPr>
          <p:cNvSpPr>
            <a:spLocks noChangeShapeType="1"/>
          </p:cNvSpPr>
          <p:nvPr/>
        </p:nvSpPr>
        <p:spPr bwMode="auto">
          <a:xfrm>
            <a:off x="8153401" y="1384569"/>
            <a:ext cx="1066800" cy="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22" name="Line 13">
            <a:extLst>
              <a:ext uri="{FF2B5EF4-FFF2-40B4-BE49-F238E27FC236}">
                <a16:creationId xmlns:a16="http://schemas.microsoft.com/office/drawing/2014/main" id="{79F59883-2DAD-46DB-A427-463F9112A411}"/>
              </a:ext>
            </a:extLst>
          </p:cNvPr>
          <p:cNvSpPr>
            <a:spLocks noChangeShapeType="1"/>
          </p:cNvSpPr>
          <p:nvPr/>
        </p:nvSpPr>
        <p:spPr bwMode="auto">
          <a:xfrm flipH="1">
            <a:off x="8188327" y="2540269"/>
            <a:ext cx="728663" cy="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pic>
        <p:nvPicPr>
          <p:cNvPr id="23" name="Picture 15" descr="Secured_Server">
            <a:extLst>
              <a:ext uri="{FF2B5EF4-FFF2-40B4-BE49-F238E27FC236}">
                <a16:creationId xmlns:a16="http://schemas.microsoft.com/office/drawing/2014/main" id="{058B0811-D888-48E4-862F-099D4A2F7DED}"/>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839201" y="851169"/>
            <a:ext cx="793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Line 16">
            <a:extLst>
              <a:ext uri="{FF2B5EF4-FFF2-40B4-BE49-F238E27FC236}">
                <a16:creationId xmlns:a16="http://schemas.microsoft.com/office/drawing/2014/main" id="{FB895328-1896-415C-BAEB-F4968695B1E3}"/>
              </a:ext>
            </a:extLst>
          </p:cNvPr>
          <p:cNvSpPr>
            <a:spLocks noChangeShapeType="1"/>
          </p:cNvSpPr>
          <p:nvPr/>
        </p:nvSpPr>
        <p:spPr bwMode="auto">
          <a:xfrm flipH="1">
            <a:off x="8153402" y="3489594"/>
            <a:ext cx="728663" cy="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pic>
        <p:nvPicPr>
          <p:cNvPr id="25" name="Picture 17" descr="Box">
            <a:extLst>
              <a:ext uri="{FF2B5EF4-FFF2-40B4-BE49-F238E27FC236}">
                <a16:creationId xmlns:a16="http://schemas.microsoft.com/office/drawing/2014/main" id="{CA9668EE-B7DD-4CEE-B3E4-452FFB9ABA2E}"/>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686801" y="2146569"/>
            <a:ext cx="91440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8" descr="Box">
            <a:extLst>
              <a:ext uri="{FF2B5EF4-FFF2-40B4-BE49-F238E27FC236}">
                <a16:creationId xmlns:a16="http://schemas.microsoft.com/office/drawing/2014/main" id="{6BC8ACEC-2A25-4992-9D97-F480D0771755}"/>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686801" y="3007894"/>
            <a:ext cx="91440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20" descr="Router">
            <a:extLst>
              <a:ext uri="{FF2B5EF4-FFF2-40B4-BE49-F238E27FC236}">
                <a16:creationId xmlns:a16="http://schemas.microsoft.com/office/drawing/2014/main" id="{19A07DBE-C4E1-408E-B8C8-1D97309B2C49}"/>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5886451" y="1889395"/>
            <a:ext cx="9906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 Box 24">
            <a:extLst>
              <a:ext uri="{FF2B5EF4-FFF2-40B4-BE49-F238E27FC236}">
                <a16:creationId xmlns:a16="http://schemas.microsoft.com/office/drawing/2014/main" id="{252D1661-9586-4545-82E5-C3A69A037C1E}"/>
              </a:ext>
            </a:extLst>
          </p:cNvPr>
          <p:cNvSpPr txBox="1">
            <a:spLocks noChangeArrowheads="1"/>
          </p:cNvSpPr>
          <p:nvPr/>
        </p:nvSpPr>
        <p:spPr bwMode="auto">
          <a:xfrm>
            <a:off x="7772402" y="1155970"/>
            <a:ext cx="13276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718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4290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862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pPr eaLnBrk="1" hangingPunct="1">
              <a:lnSpc>
                <a:spcPct val="100000"/>
              </a:lnSpc>
            </a:pPr>
            <a:r>
              <a:rPr lang="en-US" sz="1400"/>
              <a:t>192.168.1.100</a:t>
            </a:r>
          </a:p>
        </p:txBody>
      </p:sp>
      <p:sp>
        <p:nvSpPr>
          <p:cNvPr id="29" name="Text Box 25">
            <a:extLst>
              <a:ext uri="{FF2B5EF4-FFF2-40B4-BE49-F238E27FC236}">
                <a16:creationId xmlns:a16="http://schemas.microsoft.com/office/drawing/2014/main" id="{EE74DC5D-6D35-40C2-948C-FCBFDA9DCC17}"/>
              </a:ext>
            </a:extLst>
          </p:cNvPr>
          <p:cNvSpPr txBox="1">
            <a:spLocks noChangeArrowheads="1"/>
          </p:cNvSpPr>
          <p:nvPr/>
        </p:nvSpPr>
        <p:spPr bwMode="auto">
          <a:xfrm>
            <a:off x="7638116" y="3143537"/>
            <a:ext cx="13276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6pPr>
            <a:lvl7pPr marL="29718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7pPr>
            <a:lvl8pPr marL="34290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8pPr>
            <a:lvl9pPr marL="3886200" indent="-228600" eaLnBrk="0" fontAlgn="base" hangingPunct="0">
              <a:lnSpc>
                <a:spcPct val="90000"/>
              </a:lnSpc>
              <a:spcBef>
                <a:spcPct val="0"/>
              </a:spcBef>
              <a:spcAft>
                <a:spcPct val="0"/>
              </a:spcAft>
              <a:defRPr sz="2400" b="1">
                <a:solidFill>
                  <a:schemeClr val="tx1"/>
                </a:solidFill>
                <a:latin typeface="Arial" charset="0"/>
                <a:ea typeface="ＭＳ Ｐゴシック" charset="0"/>
              </a:defRPr>
            </a:lvl9pPr>
          </a:lstStyle>
          <a:p>
            <a:pPr eaLnBrk="1" hangingPunct="1">
              <a:lnSpc>
                <a:spcPct val="100000"/>
              </a:lnSpc>
            </a:pPr>
            <a:r>
              <a:rPr lang="en-US" sz="1400" dirty="0"/>
              <a:t>192.168.1.101</a:t>
            </a:r>
          </a:p>
        </p:txBody>
      </p:sp>
      <p:sp>
        <p:nvSpPr>
          <p:cNvPr id="30" name="Rectangle 28">
            <a:extLst>
              <a:ext uri="{FF2B5EF4-FFF2-40B4-BE49-F238E27FC236}">
                <a16:creationId xmlns:a16="http://schemas.microsoft.com/office/drawing/2014/main" id="{886C8B20-B7DF-4B28-B5A5-188F61B93C23}"/>
              </a:ext>
            </a:extLst>
          </p:cNvPr>
          <p:cNvSpPr>
            <a:spLocks noChangeArrowheads="1"/>
          </p:cNvSpPr>
          <p:nvPr/>
        </p:nvSpPr>
        <p:spPr bwMode="auto">
          <a:xfrm>
            <a:off x="9322736" y="2779448"/>
            <a:ext cx="1393825"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a:lnSpc>
                <a:spcPct val="100000"/>
              </a:lnSpc>
              <a:spcBef>
                <a:spcPct val="5000"/>
              </a:spcBef>
              <a:spcAft>
                <a:spcPct val="5000"/>
              </a:spcAft>
            </a:pPr>
            <a:r>
              <a:rPr lang="en-US" sz="1600" dirty="0"/>
              <a:t>TACACS+ Server</a:t>
            </a:r>
          </a:p>
        </p:txBody>
      </p:sp>
      <p:sp>
        <p:nvSpPr>
          <p:cNvPr id="31" name="Rectangle 29">
            <a:extLst>
              <a:ext uri="{FF2B5EF4-FFF2-40B4-BE49-F238E27FC236}">
                <a16:creationId xmlns:a16="http://schemas.microsoft.com/office/drawing/2014/main" id="{C8677ADB-F6D5-4F17-86C4-B80921AC5214}"/>
              </a:ext>
            </a:extLst>
          </p:cNvPr>
          <p:cNvSpPr>
            <a:spLocks noChangeArrowheads="1"/>
          </p:cNvSpPr>
          <p:nvPr/>
        </p:nvSpPr>
        <p:spPr bwMode="auto">
          <a:xfrm>
            <a:off x="9484661" y="1239552"/>
            <a:ext cx="1231900" cy="526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3188" tIns="52388" rIns="103188" bIns="52388">
            <a:spAutoFit/>
          </a:bodyPr>
          <a:lstStyle/>
          <a:p>
            <a:pPr algn="ctr" defTabSz="1157288">
              <a:lnSpc>
                <a:spcPct val="85000"/>
              </a:lnSpc>
              <a:spcBef>
                <a:spcPct val="5000"/>
              </a:spcBef>
              <a:spcAft>
                <a:spcPct val="5000"/>
              </a:spcAft>
            </a:pPr>
            <a:r>
              <a:rPr lang="en-US" sz="1600" dirty="0"/>
              <a:t>RADIUS Server</a:t>
            </a:r>
          </a:p>
        </p:txBody>
      </p:sp>
    </p:spTree>
    <p:extLst>
      <p:ext uri="{BB962C8B-B14F-4D97-AF65-F5344CB8AC3E}">
        <p14:creationId xmlns:p14="http://schemas.microsoft.com/office/powerpoint/2010/main" val="6058060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Other statements</a:t>
            </a:r>
          </a:p>
        </p:txBody>
      </p:sp>
      <p:sp>
        <p:nvSpPr>
          <p:cNvPr id="3" name="Rectangle 2"/>
          <p:cNvSpPr/>
          <p:nvPr/>
        </p:nvSpPr>
        <p:spPr>
          <a:xfrm>
            <a:off x="1095693" y="1840076"/>
            <a:ext cx="9272949" cy="4524315"/>
          </a:xfrm>
          <a:prstGeom prst="rect">
            <a:avLst/>
          </a:prstGeom>
        </p:spPr>
        <p:txBody>
          <a:bodyPr wrap="square">
            <a:spAutoFit/>
          </a:bodyPr>
          <a:lstStyle/>
          <a:p>
            <a:r>
              <a:rPr lang="en-SG" sz="2400" dirty="0">
                <a:solidFill>
                  <a:srgbClr val="0070C0"/>
                </a:solidFill>
                <a:latin typeface="Gill Sans MT" panose="020B0502020104020203" pitchFamily="34" charset="0"/>
              </a:rPr>
              <a:t>(</a:t>
            </a:r>
            <a:r>
              <a:rPr lang="en-SG" sz="2400" dirty="0" err="1">
                <a:solidFill>
                  <a:srgbClr val="0070C0"/>
                </a:solidFill>
                <a:latin typeface="Gill Sans MT" panose="020B0502020104020203" pitchFamily="34" charset="0"/>
              </a:rPr>
              <a:t>conft</a:t>
            </a:r>
            <a:r>
              <a:rPr lang="en-SG" sz="2400" dirty="0">
                <a:solidFill>
                  <a:srgbClr val="0070C0"/>
                </a:solidFill>
                <a:latin typeface="Gill Sans MT" panose="020B0502020104020203" pitchFamily="34" charset="0"/>
              </a:rPr>
              <a:t>)#login block-for statement 600 attempts 5 within 30</a:t>
            </a:r>
          </a:p>
          <a:p>
            <a:endParaRPr lang="en-SG" sz="2400" dirty="0">
              <a:latin typeface="Gill Sans MT" panose="020B0502020104020203" pitchFamily="34" charset="0"/>
            </a:endParaRPr>
          </a:p>
          <a:p>
            <a:r>
              <a:rPr lang="en-SG" sz="2400" dirty="0">
                <a:latin typeface="Gill Sans MT" panose="020B0502020104020203" pitchFamily="34" charset="0"/>
              </a:rPr>
              <a:t>This command will block users from logging in for 600sec if there have been 5 failed login tries within 30sec span.</a:t>
            </a:r>
          </a:p>
          <a:p>
            <a:endParaRPr lang="en-SG" sz="2400" dirty="0">
              <a:latin typeface="Gill Sans MT" panose="020B0502020104020203" pitchFamily="34" charset="0"/>
            </a:endParaRPr>
          </a:p>
          <a:p>
            <a:r>
              <a:rPr lang="en-SG" sz="2400" dirty="0">
                <a:solidFill>
                  <a:srgbClr val="0070C0"/>
                </a:solidFill>
                <a:latin typeface="Gill Sans MT" panose="020B0502020104020203" pitchFamily="34" charset="0"/>
              </a:rPr>
              <a:t>(</a:t>
            </a:r>
            <a:r>
              <a:rPr lang="en-SG" sz="2400" dirty="0" err="1">
                <a:solidFill>
                  <a:srgbClr val="0070C0"/>
                </a:solidFill>
                <a:latin typeface="Gill Sans MT" panose="020B0502020104020203" pitchFamily="34" charset="0"/>
              </a:rPr>
              <a:t>config</a:t>
            </a:r>
            <a:r>
              <a:rPr lang="en-SG" sz="2400" dirty="0">
                <a:solidFill>
                  <a:srgbClr val="0070C0"/>
                </a:solidFill>
                <a:latin typeface="Gill Sans MT" panose="020B0502020104020203" pitchFamily="34" charset="0"/>
              </a:rPr>
              <a:t>-line)# transport input </a:t>
            </a:r>
            <a:r>
              <a:rPr lang="en-SG" sz="2400" dirty="0" err="1">
                <a:solidFill>
                  <a:srgbClr val="0070C0"/>
                </a:solidFill>
                <a:latin typeface="Gill Sans MT" panose="020B0502020104020203" pitchFamily="34" charset="0"/>
              </a:rPr>
              <a:t>ssh</a:t>
            </a:r>
            <a:r>
              <a:rPr lang="en-SG" sz="2400" dirty="0">
                <a:solidFill>
                  <a:srgbClr val="0070C0"/>
                </a:solidFill>
                <a:latin typeface="Gill Sans MT" panose="020B0502020104020203" pitchFamily="34" charset="0"/>
              </a:rPr>
              <a:t> </a:t>
            </a:r>
          </a:p>
          <a:p>
            <a:r>
              <a:rPr lang="en-SG" sz="2400" dirty="0">
                <a:solidFill>
                  <a:srgbClr val="0070C0"/>
                </a:solidFill>
                <a:latin typeface="Gill Sans MT" panose="020B0502020104020203" pitchFamily="34" charset="0"/>
              </a:rPr>
              <a:t>(</a:t>
            </a:r>
            <a:r>
              <a:rPr lang="en-SG" sz="2400" dirty="0" err="1">
                <a:solidFill>
                  <a:srgbClr val="0070C0"/>
                </a:solidFill>
                <a:latin typeface="Gill Sans MT" panose="020B0502020104020203" pitchFamily="34" charset="0"/>
              </a:rPr>
              <a:t>config</a:t>
            </a:r>
            <a:r>
              <a:rPr lang="en-SG" sz="2400" dirty="0">
                <a:solidFill>
                  <a:srgbClr val="0070C0"/>
                </a:solidFill>
                <a:latin typeface="Gill Sans MT" panose="020B0502020104020203" pitchFamily="34" charset="0"/>
              </a:rPr>
              <a:t>-line)# transport input telnet</a:t>
            </a:r>
            <a:r>
              <a:rPr lang="en-SG" sz="2400" dirty="0">
                <a:latin typeface="Gill Sans MT" panose="020B0502020104020203" pitchFamily="34" charset="0"/>
              </a:rPr>
              <a:t> </a:t>
            </a:r>
          </a:p>
          <a:p>
            <a:endParaRPr lang="en-SG" sz="2400" dirty="0">
              <a:latin typeface="Gill Sans MT" panose="020B0502020104020203" pitchFamily="34" charset="0"/>
            </a:endParaRPr>
          </a:p>
          <a:p>
            <a:endParaRPr lang="en-SG" sz="2400" dirty="0">
              <a:latin typeface="Gill Sans MT" panose="020B0502020104020203" pitchFamily="34" charset="0"/>
            </a:endParaRPr>
          </a:p>
          <a:p>
            <a:r>
              <a:rPr lang="en-SG" sz="2400" dirty="0">
                <a:latin typeface="Gill Sans MT" panose="020B0502020104020203" pitchFamily="34" charset="0"/>
              </a:rPr>
              <a:t>The first command </a:t>
            </a:r>
            <a:r>
              <a:rPr lang="en-SG" sz="2400" b="1" dirty="0">
                <a:latin typeface="Gill Sans MT" panose="020B0502020104020203" pitchFamily="34" charset="0"/>
              </a:rPr>
              <a:t>only</a:t>
            </a:r>
            <a:r>
              <a:rPr lang="en-SG" sz="2400" dirty="0">
                <a:latin typeface="Gill Sans MT" panose="020B0502020104020203" pitchFamily="34" charset="0"/>
              </a:rPr>
              <a:t> allows </a:t>
            </a:r>
            <a:r>
              <a:rPr lang="en-SG" sz="2400" dirty="0" err="1">
                <a:latin typeface="Gill Sans MT" panose="020B0502020104020203" pitchFamily="34" charset="0"/>
              </a:rPr>
              <a:t>ssh</a:t>
            </a:r>
            <a:r>
              <a:rPr lang="en-SG" sz="2400" dirty="0">
                <a:latin typeface="Gill Sans MT" panose="020B0502020104020203" pitchFamily="34" charset="0"/>
              </a:rPr>
              <a:t> as the remote login method into the router and blocks telnet. By default both telnet and </a:t>
            </a:r>
            <a:r>
              <a:rPr lang="en-SG" sz="2400" dirty="0" err="1">
                <a:latin typeface="Gill Sans MT" panose="020B0502020104020203" pitchFamily="34" charset="0"/>
              </a:rPr>
              <a:t>ssh</a:t>
            </a:r>
            <a:r>
              <a:rPr lang="en-SG" sz="2400" dirty="0">
                <a:latin typeface="Gill Sans MT" panose="020B0502020104020203" pitchFamily="34" charset="0"/>
              </a:rPr>
              <a:t> are allowed. You can also specify to allow only telnet as stated in the second command. </a:t>
            </a:r>
          </a:p>
        </p:txBody>
      </p:sp>
    </p:spTree>
    <p:extLst>
      <p:ext uri="{BB962C8B-B14F-4D97-AF65-F5344CB8AC3E}">
        <p14:creationId xmlns:p14="http://schemas.microsoft.com/office/powerpoint/2010/main" val="2254810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Secure Shell (SSH)</a:t>
            </a:r>
          </a:p>
        </p:txBody>
      </p:sp>
      <p:sp>
        <p:nvSpPr>
          <p:cNvPr id="3" name="Content Placeholder 2"/>
          <p:cNvSpPr>
            <a:spLocks noGrp="1"/>
          </p:cNvSpPr>
          <p:nvPr>
            <p:ph idx="1"/>
          </p:nvPr>
        </p:nvSpPr>
        <p:spPr>
          <a:xfrm>
            <a:off x="838200" y="1825625"/>
            <a:ext cx="10515600" cy="4351338"/>
          </a:xfrm>
        </p:spPr>
        <p:txBody>
          <a:bodyPr>
            <a:normAutofit/>
          </a:bodyPr>
          <a:lstStyle/>
          <a:p>
            <a:r>
              <a:rPr lang="en-SG" dirty="0"/>
              <a:t>Secure Shell (SSH) is a cryptographic network protocol for operating network services securely over an unsecured network</a:t>
            </a:r>
            <a:r>
              <a:rPr lang="en-SG" sz="2000" dirty="0"/>
              <a:t>.</a:t>
            </a:r>
          </a:p>
          <a:p>
            <a:r>
              <a:rPr lang="en-SG" dirty="0"/>
              <a:t>SSH was initially designed as a replacement for Telnet (the remote access protocol).</a:t>
            </a:r>
          </a:p>
          <a:p>
            <a:r>
              <a:rPr lang="en-SG" dirty="0"/>
              <a:t>But Telnet sends information (</a:t>
            </a:r>
            <a:r>
              <a:rPr lang="en-SG" dirty="0" err="1"/>
              <a:t>esp</a:t>
            </a:r>
            <a:r>
              <a:rPr lang="en-SG" dirty="0"/>
              <a:t> passwords) in </a:t>
            </a:r>
            <a:r>
              <a:rPr lang="en-SG" dirty="0" err="1"/>
              <a:t>cleartext</a:t>
            </a:r>
            <a:r>
              <a:rPr lang="en-SG" dirty="0"/>
              <a:t>, rendering them susceptible to piracy attacks.</a:t>
            </a:r>
          </a:p>
          <a:p>
            <a:pPr marL="0" indent="0">
              <a:buNone/>
            </a:pPr>
            <a:endParaRPr lang="en-SG" dirty="0"/>
          </a:p>
          <a:p>
            <a:endParaRPr lang="en-SG" dirty="0"/>
          </a:p>
          <a:p>
            <a:pPr marL="0" indent="0">
              <a:buNone/>
            </a:pPr>
            <a:r>
              <a:rPr lang="en-SG" sz="2000" dirty="0"/>
              <a:t>[source :Wikipedia]</a:t>
            </a:r>
          </a:p>
        </p:txBody>
      </p:sp>
    </p:spTree>
    <p:extLst>
      <p:ext uri="{BB962C8B-B14F-4D97-AF65-F5344CB8AC3E}">
        <p14:creationId xmlns:p14="http://schemas.microsoft.com/office/powerpoint/2010/main" val="24996391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SSH Authentication and Encryption</a:t>
            </a:r>
          </a:p>
        </p:txBody>
      </p:sp>
      <p:sp>
        <p:nvSpPr>
          <p:cNvPr id="3" name="Content Placeholder 2"/>
          <p:cNvSpPr>
            <a:spLocks noGrp="1"/>
          </p:cNvSpPr>
          <p:nvPr>
            <p:ph idx="1"/>
          </p:nvPr>
        </p:nvSpPr>
        <p:spPr/>
        <p:txBody>
          <a:bodyPr/>
          <a:lstStyle/>
          <a:p>
            <a:r>
              <a:rPr lang="en-SG" dirty="0"/>
              <a:t>Cisco routers and switches that use SSH, need a RSA public/private key pair to be created to perform </a:t>
            </a:r>
            <a:r>
              <a:rPr lang="en-SG" dirty="0">
                <a:solidFill>
                  <a:srgbClr val="00B050"/>
                </a:solidFill>
              </a:rPr>
              <a:t>authentication</a:t>
            </a:r>
            <a:r>
              <a:rPr lang="en-SG" dirty="0"/>
              <a:t> of users.</a:t>
            </a:r>
          </a:p>
          <a:p>
            <a:r>
              <a:rPr lang="en-SG" dirty="0"/>
              <a:t>By default, an RSA key name is composed of the device’s hostname and domain name specified in the configuration.</a:t>
            </a:r>
          </a:p>
          <a:p>
            <a:r>
              <a:rPr lang="en-SG" dirty="0"/>
              <a:t>There are ways to define your own RSA </a:t>
            </a:r>
            <a:r>
              <a:rPr lang="en-SG" dirty="0" err="1"/>
              <a:t>keypair</a:t>
            </a:r>
            <a:r>
              <a:rPr lang="en-SG" dirty="0"/>
              <a:t> name if the default way is not favourable.</a:t>
            </a:r>
          </a:p>
          <a:p>
            <a:pPr marL="0" indent="0">
              <a:buNone/>
            </a:pPr>
            <a:r>
              <a:rPr lang="en-SG" sz="2000" dirty="0"/>
              <a:t>https://learningnetwork.cisco.com/thread/70783</a:t>
            </a:r>
          </a:p>
          <a:p>
            <a:endParaRPr lang="en-SG" dirty="0"/>
          </a:p>
          <a:p>
            <a:r>
              <a:rPr lang="en-SG" dirty="0"/>
              <a:t>DES or 3DES is used for </a:t>
            </a:r>
            <a:r>
              <a:rPr lang="en-SG" dirty="0">
                <a:solidFill>
                  <a:srgbClr val="00B050"/>
                </a:solidFill>
              </a:rPr>
              <a:t>encryption</a:t>
            </a:r>
            <a:r>
              <a:rPr lang="en-SG" dirty="0"/>
              <a:t> of payload (data traffic) in SSHv2.</a:t>
            </a:r>
          </a:p>
        </p:txBody>
      </p:sp>
    </p:spTree>
    <p:extLst>
      <p:ext uri="{BB962C8B-B14F-4D97-AF65-F5344CB8AC3E}">
        <p14:creationId xmlns:p14="http://schemas.microsoft.com/office/powerpoint/2010/main" val="36627136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8"/>
          <p:cNvSpPr>
            <a:spLocks noGrp="1"/>
          </p:cNvSpPr>
          <p:nvPr>
            <p:ph type="title"/>
          </p:nvPr>
        </p:nvSpPr>
        <p:spPr>
          <a:xfrm>
            <a:off x="543733" y="251618"/>
            <a:ext cx="10515600" cy="1325563"/>
          </a:xfrm>
        </p:spPr>
        <p:txBody>
          <a:bodyPr/>
          <a:lstStyle/>
          <a:p>
            <a:r>
              <a:rPr lang="en-US" dirty="0"/>
              <a:t>Configuring SSH</a:t>
            </a:r>
          </a:p>
        </p:txBody>
      </p:sp>
      <p:sp>
        <p:nvSpPr>
          <p:cNvPr id="5" name="Content Placeholder 4"/>
          <p:cNvSpPr>
            <a:spLocks noGrp="1"/>
          </p:cNvSpPr>
          <p:nvPr>
            <p:ph sz="half" idx="2"/>
          </p:nvPr>
        </p:nvSpPr>
        <p:spPr>
          <a:xfrm>
            <a:off x="4241639" y="1250966"/>
            <a:ext cx="6817694" cy="2041978"/>
          </a:xfrm>
        </p:spPr>
        <p:txBody>
          <a:bodyPr>
            <a:normAutofit/>
          </a:bodyPr>
          <a:lstStyle/>
          <a:p>
            <a:r>
              <a:rPr lang="en-US" sz="2400" dirty="0"/>
              <a:t>Step 1: Configure the IP domain name &amp; host name</a:t>
            </a:r>
          </a:p>
          <a:p>
            <a:r>
              <a:rPr lang="en-US" sz="2400" dirty="0"/>
              <a:t>Step 2: Generate one-way secret RSA keys.</a:t>
            </a:r>
          </a:p>
          <a:p>
            <a:r>
              <a:rPr lang="en-US" sz="2400" dirty="0"/>
              <a:t>Step 3: Create a local database username entry.</a:t>
            </a:r>
          </a:p>
          <a:p>
            <a:r>
              <a:rPr lang="en-US" sz="2400" dirty="0"/>
              <a:t>Step 4: Enable VTY inbound SSH sessions.</a:t>
            </a:r>
          </a:p>
        </p:txBody>
      </p:sp>
      <p:pic>
        <p:nvPicPr>
          <p:cNvPr id="6144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482" y="1394078"/>
            <a:ext cx="2536825"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36133" name="Text Box 5"/>
          <p:cNvSpPr txBox="1">
            <a:spLocks noChangeArrowheads="1"/>
          </p:cNvSpPr>
          <p:nvPr/>
        </p:nvSpPr>
        <p:spPr bwMode="auto">
          <a:xfrm>
            <a:off x="2295526" y="3432428"/>
            <a:ext cx="8067675" cy="3108543"/>
          </a:xfrm>
          <a:prstGeom prst="rect">
            <a:avLst/>
          </a:prstGeom>
          <a:solidFill>
            <a:schemeClr val="bg1"/>
          </a:solidFill>
          <a:ln w="12700" cmpd="sng">
            <a:solidFill>
              <a:srgbClr val="000000"/>
            </a:solidFill>
            <a:miter lim="800000"/>
            <a:headEnd type="none" w="sm" len="sm"/>
            <a:tailEnd type="none" w="sm" len="sm"/>
          </a:ln>
        </p:spPr>
        <p:txBody>
          <a:bodyPr bIns="45720">
            <a:spAutoFit/>
          </a:bodyPr>
          <a:lstStyle>
            <a:defPPr>
              <a:defRPr lang="en-US"/>
            </a:defPPr>
            <a:lvl1pPr marL="0" indent="0">
              <a:lnSpc>
                <a:spcPct val="100000"/>
              </a:lnSpc>
              <a:spcBef>
                <a:spcPts val="0"/>
              </a:spcBef>
              <a:defRPr sz="1200" b="0">
                <a:solidFill>
                  <a:srgbClr val="000000"/>
                </a:solidFill>
                <a:latin typeface="Courier New" charset="0"/>
              </a:defRPr>
            </a:lvl1pPr>
            <a:lvl2pPr marL="742950" indent="-285750"/>
            <a:lvl3pPr marL="1143000" indent="-228600"/>
            <a:lvl4pPr marL="1600200" indent="-228600"/>
            <a:lvl5pPr marL="2057400" indent="-228600"/>
            <a:lvl6pPr marL="2514600" indent="-228600" eaLnBrk="0" fontAlgn="base" hangingPunct="0">
              <a:lnSpc>
                <a:spcPct val="90000"/>
              </a:lnSpc>
              <a:spcBef>
                <a:spcPct val="0"/>
              </a:spcBef>
              <a:spcAft>
                <a:spcPct val="0"/>
              </a:spcAft>
            </a:lvl6pPr>
            <a:lvl7pPr marL="2971800" indent="-228600" eaLnBrk="0" fontAlgn="base" hangingPunct="0">
              <a:lnSpc>
                <a:spcPct val="90000"/>
              </a:lnSpc>
              <a:spcBef>
                <a:spcPct val="0"/>
              </a:spcBef>
              <a:spcAft>
                <a:spcPct val="0"/>
              </a:spcAft>
            </a:lvl7pPr>
            <a:lvl8pPr marL="3429000" indent="-228600" eaLnBrk="0" fontAlgn="base" hangingPunct="0">
              <a:lnSpc>
                <a:spcPct val="90000"/>
              </a:lnSpc>
              <a:spcBef>
                <a:spcPct val="0"/>
              </a:spcBef>
              <a:spcAft>
                <a:spcPct val="0"/>
              </a:spcAft>
            </a:lvl8pPr>
            <a:lvl9pPr marL="3886200" indent="-228600" eaLnBrk="0" fontAlgn="base" hangingPunct="0">
              <a:lnSpc>
                <a:spcPct val="90000"/>
              </a:lnSpc>
              <a:spcBef>
                <a:spcPct val="0"/>
              </a:spcBef>
              <a:spcAft>
                <a:spcPct val="0"/>
              </a:spcAft>
            </a:lvl9pPr>
          </a:lstStyle>
          <a:p>
            <a:r>
              <a:rPr lang="pt-BR" sz="1400" dirty="0">
                <a:solidFill>
                  <a:schemeClr val="tx1"/>
                </a:solidFill>
              </a:rPr>
              <a:t>R1# </a:t>
            </a:r>
            <a:r>
              <a:rPr lang="pt-BR" sz="1400" b="1" dirty="0" err="1">
                <a:solidFill>
                  <a:schemeClr val="tx1"/>
                </a:solidFill>
              </a:rPr>
              <a:t>conf</a:t>
            </a:r>
            <a:r>
              <a:rPr lang="pt-BR" sz="1400" b="1" dirty="0">
                <a:solidFill>
                  <a:schemeClr val="tx1"/>
                </a:solidFill>
              </a:rPr>
              <a:t> </a:t>
            </a:r>
            <a:r>
              <a:rPr lang="pt-BR" sz="1400" b="1" dirty="0" err="1">
                <a:solidFill>
                  <a:schemeClr val="tx1"/>
                </a:solidFill>
              </a:rPr>
              <a:t>t</a:t>
            </a:r>
            <a:endParaRPr lang="pt-BR" sz="1400" b="1" dirty="0">
              <a:solidFill>
                <a:schemeClr val="tx1"/>
              </a:solidFill>
            </a:endParaRPr>
          </a:p>
          <a:p>
            <a:r>
              <a:rPr lang="pt-BR" sz="1400" dirty="0">
                <a:solidFill>
                  <a:schemeClr val="tx1"/>
                </a:solidFill>
              </a:rPr>
              <a:t>R1(config)# </a:t>
            </a:r>
            <a:r>
              <a:rPr lang="pt-BR" sz="1400" b="1" dirty="0">
                <a:solidFill>
                  <a:schemeClr val="tx1"/>
                </a:solidFill>
              </a:rPr>
              <a:t>hostname R1</a:t>
            </a:r>
          </a:p>
          <a:p>
            <a:r>
              <a:rPr lang="pt-BR" sz="1400" dirty="0">
                <a:solidFill>
                  <a:schemeClr val="tx1"/>
                </a:solidFill>
              </a:rPr>
              <a:t>R1(config)# </a:t>
            </a:r>
            <a:r>
              <a:rPr lang="pt-BR" sz="1400" b="1" dirty="0">
                <a:solidFill>
                  <a:schemeClr val="tx1"/>
                </a:solidFill>
              </a:rPr>
              <a:t>ip domain-name span.com</a:t>
            </a:r>
          </a:p>
          <a:p>
            <a:r>
              <a:rPr lang="pt-BR" sz="1400" dirty="0">
                <a:solidFill>
                  <a:schemeClr val="tx1"/>
                </a:solidFill>
              </a:rPr>
              <a:t>R1(</a:t>
            </a:r>
            <a:r>
              <a:rPr lang="pt-BR" sz="1400" dirty="0" err="1">
                <a:solidFill>
                  <a:schemeClr val="tx1"/>
                </a:solidFill>
              </a:rPr>
              <a:t>config</a:t>
            </a:r>
            <a:r>
              <a:rPr lang="pt-BR" sz="1400" dirty="0">
                <a:solidFill>
                  <a:schemeClr val="tx1"/>
                </a:solidFill>
              </a:rPr>
              <a:t>)# </a:t>
            </a:r>
            <a:r>
              <a:rPr lang="pt-BR" sz="1400" b="1" dirty="0" err="1">
                <a:solidFill>
                  <a:schemeClr val="tx1"/>
                </a:solidFill>
              </a:rPr>
              <a:t>crypto</a:t>
            </a:r>
            <a:r>
              <a:rPr lang="pt-BR" sz="1400" b="1" dirty="0">
                <a:solidFill>
                  <a:schemeClr val="tx1"/>
                </a:solidFill>
              </a:rPr>
              <a:t> </a:t>
            </a:r>
            <a:r>
              <a:rPr lang="pt-BR" sz="1400" b="1" dirty="0" err="1">
                <a:solidFill>
                  <a:schemeClr val="tx1"/>
                </a:solidFill>
              </a:rPr>
              <a:t>key</a:t>
            </a:r>
            <a:r>
              <a:rPr lang="pt-BR" sz="1400" b="1" dirty="0">
                <a:solidFill>
                  <a:schemeClr val="tx1"/>
                </a:solidFill>
              </a:rPr>
              <a:t> </a:t>
            </a:r>
            <a:r>
              <a:rPr lang="pt-BR" sz="1400" b="1" dirty="0" err="1">
                <a:solidFill>
                  <a:schemeClr val="tx1"/>
                </a:solidFill>
              </a:rPr>
              <a:t>generate</a:t>
            </a:r>
            <a:r>
              <a:rPr lang="pt-BR" sz="1400" b="1" dirty="0">
                <a:solidFill>
                  <a:schemeClr val="tx1"/>
                </a:solidFill>
              </a:rPr>
              <a:t> </a:t>
            </a:r>
            <a:r>
              <a:rPr lang="pt-BR" sz="1400" b="1" dirty="0" err="1">
                <a:solidFill>
                  <a:schemeClr val="tx1"/>
                </a:solidFill>
              </a:rPr>
              <a:t>rsa</a:t>
            </a:r>
            <a:r>
              <a:rPr lang="pt-BR" sz="1400" b="1" dirty="0">
                <a:solidFill>
                  <a:schemeClr val="tx1"/>
                </a:solidFill>
              </a:rPr>
              <a:t> general-</a:t>
            </a:r>
            <a:r>
              <a:rPr lang="pt-BR" sz="1400" b="1" dirty="0" err="1">
                <a:solidFill>
                  <a:schemeClr val="tx1"/>
                </a:solidFill>
              </a:rPr>
              <a:t>keys</a:t>
            </a:r>
            <a:r>
              <a:rPr lang="pt-BR" sz="1400" b="1" dirty="0">
                <a:solidFill>
                  <a:schemeClr val="tx1"/>
                </a:solidFill>
              </a:rPr>
              <a:t> </a:t>
            </a:r>
            <a:r>
              <a:rPr lang="pt-BR" sz="1400" b="1" dirty="0" err="1">
                <a:solidFill>
                  <a:schemeClr val="tx1"/>
                </a:solidFill>
              </a:rPr>
              <a:t>modulus</a:t>
            </a:r>
            <a:r>
              <a:rPr lang="pt-BR" sz="1400" b="1" dirty="0">
                <a:solidFill>
                  <a:schemeClr val="tx1"/>
                </a:solidFill>
              </a:rPr>
              <a:t> 1024</a:t>
            </a:r>
          </a:p>
          <a:p>
            <a:r>
              <a:rPr lang="pt-BR" sz="1400" dirty="0">
                <a:solidFill>
                  <a:schemeClr val="tx1"/>
                </a:solidFill>
              </a:rPr>
              <a:t>The </a:t>
            </a:r>
            <a:r>
              <a:rPr lang="pt-BR" sz="1400" dirty="0" err="1">
                <a:solidFill>
                  <a:schemeClr val="tx1"/>
                </a:solidFill>
              </a:rPr>
              <a:t>name</a:t>
            </a:r>
            <a:r>
              <a:rPr lang="pt-BR" sz="1400" dirty="0">
                <a:solidFill>
                  <a:schemeClr val="tx1"/>
                </a:solidFill>
              </a:rPr>
              <a:t> for </a:t>
            </a:r>
            <a:r>
              <a:rPr lang="pt-BR" sz="1400" dirty="0" err="1">
                <a:solidFill>
                  <a:schemeClr val="tx1"/>
                </a:solidFill>
              </a:rPr>
              <a:t>the</a:t>
            </a:r>
            <a:r>
              <a:rPr lang="pt-BR" sz="1400" dirty="0">
                <a:solidFill>
                  <a:schemeClr val="tx1"/>
                </a:solidFill>
              </a:rPr>
              <a:t> </a:t>
            </a:r>
            <a:r>
              <a:rPr lang="pt-BR" sz="1400" dirty="0" err="1">
                <a:solidFill>
                  <a:schemeClr val="tx1"/>
                </a:solidFill>
              </a:rPr>
              <a:t>keys</a:t>
            </a:r>
            <a:r>
              <a:rPr lang="pt-BR" sz="1400" dirty="0">
                <a:solidFill>
                  <a:schemeClr val="tx1"/>
                </a:solidFill>
              </a:rPr>
              <a:t> </a:t>
            </a:r>
            <a:r>
              <a:rPr lang="pt-BR" sz="1400" dirty="0" err="1">
                <a:solidFill>
                  <a:schemeClr val="tx1"/>
                </a:solidFill>
              </a:rPr>
              <a:t>will</a:t>
            </a:r>
            <a:r>
              <a:rPr lang="pt-BR" sz="1400" dirty="0">
                <a:solidFill>
                  <a:schemeClr val="tx1"/>
                </a:solidFill>
              </a:rPr>
              <a:t> </a:t>
            </a:r>
            <a:r>
              <a:rPr lang="pt-BR" sz="1400" dirty="0" err="1">
                <a:solidFill>
                  <a:schemeClr val="tx1"/>
                </a:solidFill>
              </a:rPr>
              <a:t>be</a:t>
            </a:r>
            <a:r>
              <a:rPr lang="pt-BR" sz="1400" dirty="0">
                <a:solidFill>
                  <a:schemeClr val="tx1"/>
                </a:solidFill>
              </a:rPr>
              <a:t>: R1.span.com</a:t>
            </a:r>
          </a:p>
          <a:p>
            <a:endParaRPr lang="pt-BR" sz="1400" dirty="0">
              <a:solidFill>
                <a:schemeClr val="tx1"/>
              </a:solidFill>
            </a:endParaRPr>
          </a:p>
          <a:p>
            <a:r>
              <a:rPr lang="pt-BR" sz="1400" dirty="0">
                <a:solidFill>
                  <a:schemeClr val="tx1"/>
                </a:solidFill>
              </a:rPr>
              <a:t>% The </a:t>
            </a:r>
            <a:r>
              <a:rPr lang="pt-BR" sz="1400" dirty="0" err="1">
                <a:solidFill>
                  <a:schemeClr val="tx1"/>
                </a:solidFill>
              </a:rPr>
              <a:t>key</a:t>
            </a:r>
            <a:r>
              <a:rPr lang="pt-BR" sz="1400" dirty="0">
                <a:solidFill>
                  <a:schemeClr val="tx1"/>
                </a:solidFill>
              </a:rPr>
              <a:t> </a:t>
            </a:r>
            <a:r>
              <a:rPr lang="pt-BR" sz="1400" dirty="0" err="1">
                <a:solidFill>
                  <a:schemeClr val="tx1"/>
                </a:solidFill>
              </a:rPr>
              <a:t>modulus</a:t>
            </a:r>
            <a:r>
              <a:rPr lang="pt-BR" sz="1400" dirty="0">
                <a:solidFill>
                  <a:schemeClr val="tx1"/>
                </a:solidFill>
              </a:rPr>
              <a:t> </a:t>
            </a:r>
            <a:r>
              <a:rPr lang="pt-BR" sz="1400" dirty="0" err="1">
                <a:solidFill>
                  <a:schemeClr val="tx1"/>
                </a:solidFill>
              </a:rPr>
              <a:t>size</a:t>
            </a:r>
            <a:r>
              <a:rPr lang="pt-BR" sz="1400" dirty="0">
                <a:solidFill>
                  <a:schemeClr val="tx1"/>
                </a:solidFill>
              </a:rPr>
              <a:t> </a:t>
            </a:r>
            <a:r>
              <a:rPr lang="pt-BR" sz="1400" dirty="0" err="1">
                <a:solidFill>
                  <a:schemeClr val="tx1"/>
                </a:solidFill>
              </a:rPr>
              <a:t>is</a:t>
            </a:r>
            <a:r>
              <a:rPr lang="pt-BR" sz="1400" dirty="0">
                <a:solidFill>
                  <a:schemeClr val="tx1"/>
                </a:solidFill>
              </a:rPr>
              <a:t> 1024 bits</a:t>
            </a:r>
          </a:p>
          <a:p>
            <a:r>
              <a:rPr lang="pt-BR" sz="1400" dirty="0">
                <a:solidFill>
                  <a:schemeClr val="tx1"/>
                </a:solidFill>
              </a:rPr>
              <a:t>% </a:t>
            </a:r>
            <a:r>
              <a:rPr lang="pt-BR" sz="1400" dirty="0" err="1">
                <a:solidFill>
                  <a:schemeClr val="tx1"/>
                </a:solidFill>
              </a:rPr>
              <a:t>Generating</a:t>
            </a:r>
            <a:r>
              <a:rPr lang="pt-BR" sz="1400" dirty="0">
                <a:solidFill>
                  <a:schemeClr val="tx1"/>
                </a:solidFill>
              </a:rPr>
              <a:t> 1024 bit RSA </a:t>
            </a:r>
            <a:r>
              <a:rPr lang="pt-BR" sz="1400" dirty="0" err="1">
                <a:solidFill>
                  <a:schemeClr val="tx1"/>
                </a:solidFill>
              </a:rPr>
              <a:t>keys</a:t>
            </a:r>
            <a:r>
              <a:rPr lang="pt-BR" sz="1400" dirty="0">
                <a:solidFill>
                  <a:schemeClr val="tx1"/>
                </a:solidFill>
              </a:rPr>
              <a:t>, </a:t>
            </a:r>
            <a:r>
              <a:rPr lang="pt-BR" sz="1400" dirty="0" err="1">
                <a:solidFill>
                  <a:schemeClr val="tx1"/>
                </a:solidFill>
              </a:rPr>
              <a:t>keys</a:t>
            </a:r>
            <a:r>
              <a:rPr lang="pt-BR" sz="1400" dirty="0">
                <a:solidFill>
                  <a:schemeClr val="tx1"/>
                </a:solidFill>
              </a:rPr>
              <a:t> </a:t>
            </a:r>
            <a:r>
              <a:rPr lang="pt-BR" sz="1400" dirty="0" err="1">
                <a:solidFill>
                  <a:schemeClr val="tx1"/>
                </a:solidFill>
              </a:rPr>
              <a:t>will</a:t>
            </a:r>
            <a:r>
              <a:rPr lang="pt-BR" sz="1400" dirty="0">
                <a:solidFill>
                  <a:schemeClr val="tx1"/>
                </a:solidFill>
              </a:rPr>
              <a:t> </a:t>
            </a:r>
            <a:r>
              <a:rPr lang="pt-BR" sz="1400" dirty="0" err="1">
                <a:solidFill>
                  <a:schemeClr val="tx1"/>
                </a:solidFill>
              </a:rPr>
              <a:t>be</a:t>
            </a:r>
            <a:r>
              <a:rPr lang="pt-BR" sz="1400" dirty="0">
                <a:solidFill>
                  <a:schemeClr val="tx1"/>
                </a:solidFill>
              </a:rPr>
              <a:t> non-</a:t>
            </a:r>
            <a:r>
              <a:rPr lang="pt-BR" sz="1400" dirty="0" err="1">
                <a:solidFill>
                  <a:schemeClr val="tx1"/>
                </a:solidFill>
              </a:rPr>
              <a:t>exportable</a:t>
            </a:r>
            <a:r>
              <a:rPr lang="pt-BR" sz="1400" dirty="0">
                <a:solidFill>
                  <a:schemeClr val="tx1"/>
                </a:solidFill>
              </a:rPr>
              <a:t>...[OK]</a:t>
            </a:r>
          </a:p>
          <a:p>
            <a:endParaRPr lang="pt-BR" sz="1400" dirty="0">
              <a:solidFill>
                <a:schemeClr val="tx1"/>
              </a:solidFill>
            </a:endParaRPr>
          </a:p>
          <a:p>
            <a:r>
              <a:rPr lang="pt-BR" sz="1400" dirty="0">
                <a:solidFill>
                  <a:schemeClr val="tx1"/>
                </a:solidFill>
              </a:rPr>
              <a:t>R1(config)# </a:t>
            </a:r>
            <a:r>
              <a:rPr lang="pt-BR" sz="1400" b="1" dirty="0">
                <a:solidFill>
                  <a:schemeClr val="tx1"/>
                </a:solidFill>
              </a:rPr>
              <a:t>username Bob secret cisco</a:t>
            </a:r>
          </a:p>
          <a:p>
            <a:r>
              <a:rPr lang="pt-BR" sz="1400" dirty="0">
                <a:solidFill>
                  <a:schemeClr val="tx1"/>
                </a:solidFill>
              </a:rPr>
              <a:t>R1(</a:t>
            </a:r>
            <a:r>
              <a:rPr lang="pt-BR" sz="1400" dirty="0" err="1">
                <a:solidFill>
                  <a:schemeClr val="tx1"/>
                </a:solidFill>
              </a:rPr>
              <a:t>config</a:t>
            </a:r>
            <a:r>
              <a:rPr lang="pt-BR" sz="1400" dirty="0">
                <a:solidFill>
                  <a:schemeClr val="tx1"/>
                </a:solidFill>
              </a:rPr>
              <a:t>)# </a:t>
            </a:r>
            <a:r>
              <a:rPr lang="pt-BR" sz="1400" b="1" dirty="0" err="1">
                <a:solidFill>
                  <a:schemeClr val="tx1"/>
                </a:solidFill>
              </a:rPr>
              <a:t>line</a:t>
            </a:r>
            <a:r>
              <a:rPr lang="pt-BR" sz="1400" b="1" dirty="0">
                <a:solidFill>
                  <a:schemeClr val="tx1"/>
                </a:solidFill>
              </a:rPr>
              <a:t> </a:t>
            </a:r>
            <a:r>
              <a:rPr lang="pt-BR" sz="1400" b="1" dirty="0" err="1">
                <a:solidFill>
                  <a:schemeClr val="tx1"/>
                </a:solidFill>
              </a:rPr>
              <a:t>vty</a:t>
            </a:r>
            <a:r>
              <a:rPr lang="pt-BR" sz="1400" b="1" dirty="0">
                <a:solidFill>
                  <a:schemeClr val="tx1"/>
                </a:solidFill>
              </a:rPr>
              <a:t> 0 4</a:t>
            </a:r>
          </a:p>
          <a:p>
            <a:r>
              <a:rPr lang="pt-BR" sz="1400" dirty="0">
                <a:solidFill>
                  <a:schemeClr val="tx1"/>
                </a:solidFill>
              </a:rPr>
              <a:t>R1(</a:t>
            </a:r>
            <a:r>
              <a:rPr lang="pt-BR" sz="1400" dirty="0" err="1">
                <a:solidFill>
                  <a:schemeClr val="tx1"/>
                </a:solidFill>
              </a:rPr>
              <a:t>config-line</a:t>
            </a:r>
            <a:r>
              <a:rPr lang="pt-BR" sz="1400" dirty="0">
                <a:solidFill>
                  <a:schemeClr val="tx1"/>
                </a:solidFill>
              </a:rPr>
              <a:t>)# </a:t>
            </a:r>
            <a:r>
              <a:rPr lang="pt-BR" sz="1400" b="1" dirty="0" err="1">
                <a:solidFill>
                  <a:schemeClr val="tx1"/>
                </a:solidFill>
              </a:rPr>
              <a:t>login</a:t>
            </a:r>
            <a:r>
              <a:rPr lang="pt-BR" sz="1400" b="1" dirty="0">
                <a:solidFill>
                  <a:schemeClr val="tx1"/>
                </a:solidFill>
              </a:rPr>
              <a:t> local</a:t>
            </a:r>
          </a:p>
          <a:p>
            <a:r>
              <a:rPr lang="pt-BR" sz="1400" dirty="0">
                <a:solidFill>
                  <a:schemeClr val="tx1"/>
                </a:solidFill>
              </a:rPr>
              <a:t>R1(</a:t>
            </a:r>
            <a:r>
              <a:rPr lang="pt-BR" sz="1400" dirty="0" err="1">
                <a:solidFill>
                  <a:schemeClr val="tx1"/>
                </a:solidFill>
              </a:rPr>
              <a:t>config-line</a:t>
            </a:r>
            <a:r>
              <a:rPr lang="pt-BR" sz="1400" dirty="0">
                <a:solidFill>
                  <a:schemeClr val="tx1"/>
                </a:solidFill>
              </a:rPr>
              <a:t>)# </a:t>
            </a:r>
            <a:r>
              <a:rPr lang="pt-BR" sz="1400" b="1" dirty="0" err="1">
                <a:solidFill>
                  <a:schemeClr val="tx1"/>
                </a:solidFill>
              </a:rPr>
              <a:t>transport</a:t>
            </a:r>
            <a:r>
              <a:rPr lang="pt-BR" sz="1400" b="1" dirty="0">
                <a:solidFill>
                  <a:schemeClr val="tx1"/>
                </a:solidFill>
              </a:rPr>
              <a:t> input </a:t>
            </a:r>
            <a:r>
              <a:rPr lang="pt-BR" sz="1400" b="1" dirty="0" err="1">
                <a:solidFill>
                  <a:schemeClr val="tx1"/>
                </a:solidFill>
              </a:rPr>
              <a:t>ssh</a:t>
            </a:r>
            <a:endParaRPr lang="pt-BR" sz="1400" b="1" dirty="0">
              <a:solidFill>
                <a:schemeClr val="tx1"/>
              </a:solidFill>
            </a:endParaRPr>
          </a:p>
          <a:p>
            <a:r>
              <a:rPr lang="pt-BR" sz="1400" dirty="0">
                <a:solidFill>
                  <a:schemeClr val="tx1"/>
                </a:solidFill>
              </a:rPr>
              <a:t>R1(</a:t>
            </a:r>
            <a:r>
              <a:rPr lang="pt-BR" sz="1400" dirty="0" err="1">
                <a:solidFill>
                  <a:schemeClr val="tx1"/>
                </a:solidFill>
              </a:rPr>
              <a:t>config-line</a:t>
            </a:r>
            <a:r>
              <a:rPr lang="pt-BR" sz="1400" dirty="0">
                <a:solidFill>
                  <a:schemeClr val="tx1"/>
                </a:solidFill>
              </a:rPr>
              <a:t>)# </a:t>
            </a:r>
            <a:r>
              <a:rPr lang="pt-BR" sz="1400" b="1" dirty="0" err="1">
                <a:solidFill>
                  <a:schemeClr val="tx1"/>
                </a:solidFill>
              </a:rPr>
              <a:t>exit</a:t>
            </a:r>
            <a:endParaRPr lang="pt-BR" sz="1400" b="1" dirty="0">
              <a:solidFill>
                <a:schemeClr val="tx1"/>
              </a:solidFill>
            </a:endParaRPr>
          </a:p>
        </p:txBody>
      </p:sp>
      <p:cxnSp>
        <p:nvCxnSpPr>
          <p:cNvPr id="6" name="Straight Arrow Connector 5"/>
          <p:cNvCxnSpPr/>
          <p:nvPr/>
        </p:nvCxnSpPr>
        <p:spPr>
          <a:xfrm flipV="1">
            <a:off x="6329363" y="5777345"/>
            <a:ext cx="4290146" cy="357624"/>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8" name="TextBox 7"/>
          <p:cNvSpPr txBox="1"/>
          <p:nvPr/>
        </p:nvSpPr>
        <p:spPr>
          <a:xfrm>
            <a:off x="10363201" y="5085845"/>
            <a:ext cx="1828798" cy="954107"/>
          </a:xfrm>
          <a:prstGeom prst="rect">
            <a:avLst/>
          </a:prstGeom>
          <a:noFill/>
        </p:spPr>
        <p:txBody>
          <a:bodyPr wrap="square" rtlCol="0">
            <a:spAutoFit/>
          </a:bodyPr>
          <a:lstStyle/>
          <a:p>
            <a:r>
              <a:rPr lang="en-SG" sz="1400" dirty="0"/>
              <a:t>Only allow SSH way to login via </a:t>
            </a:r>
            <a:r>
              <a:rPr lang="en-SG" sz="1400" dirty="0" err="1"/>
              <a:t>vty</a:t>
            </a:r>
            <a:r>
              <a:rPr lang="en-SG" sz="1400" dirty="0"/>
              <a:t>. No Telnet allowed</a:t>
            </a:r>
          </a:p>
          <a:p>
            <a:endParaRPr lang="en-SG" sz="1400" dirty="0"/>
          </a:p>
        </p:txBody>
      </p:sp>
    </p:spTree>
    <p:extLst>
      <p:ext uri="{BB962C8B-B14F-4D97-AF65-F5344CB8AC3E}">
        <p14:creationId xmlns:p14="http://schemas.microsoft.com/office/powerpoint/2010/main" val="36069801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8"/>
          <p:cNvSpPr>
            <a:spLocks noGrp="1"/>
          </p:cNvSpPr>
          <p:nvPr>
            <p:ph type="title"/>
          </p:nvPr>
        </p:nvSpPr>
        <p:spPr>
          <a:xfrm>
            <a:off x="838200" y="677041"/>
            <a:ext cx="10515600" cy="701731"/>
          </a:xfrm>
        </p:spPr>
        <p:txBody>
          <a:bodyPr vert="horz" lIns="91440" tIns="45720" rIns="91440" bIns="45720" rtlCol="0" anchor="ctr">
            <a:spAutoFit/>
          </a:bodyPr>
          <a:lstStyle/>
          <a:p>
            <a:pPr eaLnBrk="1" hangingPunct="1"/>
            <a:r>
              <a:rPr lang="en-US" dirty="0">
                <a:latin typeface="Arial" charset="0"/>
              </a:rPr>
              <a:t>Optional SSH Commands</a:t>
            </a:r>
          </a:p>
        </p:txBody>
      </p:sp>
      <p:sp>
        <p:nvSpPr>
          <p:cNvPr id="64516" name="Text Box 5"/>
          <p:cNvSpPr txBox="1">
            <a:spLocks noChangeArrowheads="1"/>
          </p:cNvSpPr>
          <p:nvPr/>
        </p:nvSpPr>
        <p:spPr bwMode="auto">
          <a:xfrm>
            <a:off x="1208869" y="1720313"/>
            <a:ext cx="6912243" cy="4278094"/>
          </a:xfrm>
          <a:prstGeom prst="rect">
            <a:avLst/>
          </a:prstGeom>
          <a:solidFill>
            <a:schemeClr val="bg1"/>
          </a:solidFill>
          <a:ln w="12700" cmpd="sng">
            <a:solidFill>
              <a:srgbClr val="000000"/>
            </a:solidFill>
            <a:miter lim="800000"/>
            <a:headEnd type="none" w="sm" len="sm"/>
            <a:tailEnd type="none" w="sm" len="sm"/>
          </a:ln>
        </p:spPr>
        <p:txBody>
          <a:bodyPr wrap="square" bIns="45720">
            <a:spAutoFit/>
          </a:bodyPr>
          <a:lstStyle>
            <a:defPPr>
              <a:defRPr lang="en-US"/>
            </a:defPPr>
            <a:lvl1pPr marL="0" indent="0">
              <a:lnSpc>
                <a:spcPct val="100000"/>
              </a:lnSpc>
              <a:spcBef>
                <a:spcPts val="0"/>
              </a:spcBef>
              <a:defRPr sz="1200" b="0">
                <a:solidFill>
                  <a:srgbClr val="000000"/>
                </a:solidFill>
                <a:latin typeface="Courier New" charset="0"/>
              </a:defRPr>
            </a:lvl1pPr>
            <a:lvl2pPr marL="742950" indent="-285750"/>
            <a:lvl3pPr marL="1143000" indent="-228600"/>
            <a:lvl4pPr marL="1600200" indent="-228600"/>
            <a:lvl5pPr marL="2057400" indent="-228600"/>
            <a:lvl6pPr marL="2514600" indent="-228600" eaLnBrk="0" fontAlgn="base" hangingPunct="0">
              <a:lnSpc>
                <a:spcPct val="90000"/>
              </a:lnSpc>
              <a:spcBef>
                <a:spcPct val="0"/>
              </a:spcBef>
              <a:spcAft>
                <a:spcPct val="0"/>
              </a:spcAft>
            </a:lvl6pPr>
            <a:lvl7pPr marL="2971800" indent="-228600" eaLnBrk="0" fontAlgn="base" hangingPunct="0">
              <a:lnSpc>
                <a:spcPct val="90000"/>
              </a:lnSpc>
              <a:spcBef>
                <a:spcPct val="0"/>
              </a:spcBef>
              <a:spcAft>
                <a:spcPct val="0"/>
              </a:spcAft>
            </a:lvl7pPr>
            <a:lvl8pPr marL="3429000" indent="-228600" eaLnBrk="0" fontAlgn="base" hangingPunct="0">
              <a:lnSpc>
                <a:spcPct val="90000"/>
              </a:lnSpc>
              <a:spcBef>
                <a:spcPct val="0"/>
              </a:spcBef>
              <a:spcAft>
                <a:spcPct val="0"/>
              </a:spcAft>
            </a:lvl8pPr>
            <a:lvl9pPr marL="3886200" indent="-228600" eaLnBrk="0" fontAlgn="base" hangingPunct="0">
              <a:lnSpc>
                <a:spcPct val="90000"/>
              </a:lnSpc>
              <a:spcBef>
                <a:spcPct val="0"/>
              </a:spcBef>
              <a:spcAft>
                <a:spcPct val="0"/>
              </a:spcAft>
            </a:lvl9pPr>
          </a:lstStyle>
          <a:p>
            <a:r>
              <a:rPr lang="pt-BR" sz="1600" dirty="0">
                <a:solidFill>
                  <a:schemeClr val="tx1"/>
                </a:solidFill>
              </a:rPr>
              <a:t>R1# </a:t>
            </a:r>
            <a:r>
              <a:rPr lang="pt-BR" sz="1600" b="1" dirty="0">
                <a:solidFill>
                  <a:schemeClr val="tx1"/>
                </a:solidFill>
              </a:rPr>
              <a:t>show </a:t>
            </a:r>
            <a:r>
              <a:rPr lang="pt-BR" sz="1600" b="1" dirty="0" err="1">
                <a:solidFill>
                  <a:schemeClr val="tx1"/>
                </a:solidFill>
              </a:rPr>
              <a:t>ip</a:t>
            </a:r>
            <a:r>
              <a:rPr lang="pt-BR" sz="1600" b="1" dirty="0">
                <a:solidFill>
                  <a:schemeClr val="tx1"/>
                </a:solidFill>
              </a:rPr>
              <a:t> </a:t>
            </a:r>
            <a:r>
              <a:rPr lang="pt-BR" sz="1600" b="1" dirty="0" err="1">
                <a:solidFill>
                  <a:schemeClr val="tx1"/>
                </a:solidFill>
              </a:rPr>
              <a:t>ssh</a:t>
            </a:r>
            <a:endParaRPr lang="pt-BR" sz="1600" b="1" dirty="0">
              <a:solidFill>
                <a:schemeClr val="tx1"/>
              </a:solidFill>
            </a:endParaRPr>
          </a:p>
          <a:p>
            <a:r>
              <a:rPr lang="pt-BR" sz="1600" dirty="0">
                <a:solidFill>
                  <a:schemeClr val="tx1"/>
                </a:solidFill>
              </a:rPr>
              <a:t>SSH </a:t>
            </a:r>
            <a:r>
              <a:rPr lang="pt-BR" sz="1600" dirty="0" err="1">
                <a:solidFill>
                  <a:schemeClr val="tx1"/>
                </a:solidFill>
              </a:rPr>
              <a:t>Enabled</a:t>
            </a:r>
            <a:r>
              <a:rPr lang="pt-BR" sz="1600" dirty="0">
                <a:solidFill>
                  <a:schemeClr val="tx1"/>
                </a:solidFill>
              </a:rPr>
              <a:t> - </a:t>
            </a:r>
            <a:r>
              <a:rPr lang="pt-BR" sz="1600" dirty="0" err="1">
                <a:solidFill>
                  <a:schemeClr val="tx1"/>
                </a:solidFill>
              </a:rPr>
              <a:t>version</a:t>
            </a:r>
            <a:r>
              <a:rPr lang="pt-BR" sz="1600" dirty="0">
                <a:solidFill>
                  <a:schemeClr val="tx1"/>
                </a:solidFill>
              </a:rPr>
              <a:t> 1.99</a:t>
            </a:r>
          </a:p>
          <a:p>
            <a:r>
              <a:rPr lang="pt-BR" sz="1600" dirty="0" err="1">
                <a:solidFill>
                  <a:schemeClr val="tx1"/>
                </a:solidFill>
              </a:rPr>
              <a:t>Authentication</a:t>
            </a:r>
            <a:r>
              <a:rPr lang="pt-BR" sz="1600" dirty="0">
                <a:solidFill>
                  <a:schemeClr val="tx1"/>
                </a:solidFill>
              </a:rPr>
              <a:t> timeout: 120 </a:t>
            </a:r>
            <a:r>
              <a:rPr lang="pt-BR" sz="1600" dirty="0" err="1">
                <a:solidFill>
                  <a:schemeClr val="tx1"/>
                </a:solidFill>
              </a:rPr>
              <a:t>secs</a:t>
            </a:r>
            <a:r>
              <a:rPr lang="pt-BR" sz="1600" dirty="0">
                <a:solidFill>
                  <a:schemeClr val="tx1"/>
                </a:solidFill>
              </a:rPr>
              <a:t>; </a:t>
            </a:r>
            <a:r>
              <a:rPr lang="pt-BR" sz="1600" dirty="0" err="1">
                <a:solidFill>
                  <a:schemeClr val="tx1"/>
                </a:solidFill>
              </a:rPr>
              <a:t>Authentication</a:t>
            </a:r>
            <a:r>
              <a:rPr lang="pt-BR" sz="1600" dirty="0">
                <a:solidFill>
                  <a:schemeClr val="tx1"/>
                </a:solidFill>
              </a:rPr>
              <a:t> </a:t>
            </a:r>
            <a:r>
              <a:rPr lang="pt-BR" sz="1600" dirty="0" err="1">
                <a:solidFill>
                  <a:schemeClr val="tx1"/>
                </a:solidFill>
              </a:rPr>
              <a:t>retries</a:t>
            </a:r>
            <a:r>
              <a:rPr lang="pt-BR" sz="1600" dirty="0">
                <a:solidFill>
                  <a:schemeClr val="tx1"/>
                </a:solidFill>
              </a:rPr>
              <a:t>: 3</a:t>
            </a:r>
          </a:p>
          <a:p>
            <a:r>
              <a:rPr lang="pt-BR" sz="1600" dirty="0">
                <a:solidFill>
                  <a:schemeClr val="tx1"/>
                </a:solidFill>
              </a:rPr>
              <a:t>R1#</a:t>
            </a:r>
          </a:p>
          <a:p>
            <a:r>
              <a:rPr lang="pt-BR" sz="1600" dirty="0">
                <a:solidFill>
                  <a:schemeClr val="tx1"/>
                </a:solidFill>
              </a:rPr>
              <a:t>R1# </a:t>
            </a:r>
            <a:r>
              <a:rPr lang="pt-BR" sz="1600" b="1" dirty="0" err="1">
                <a:solidFill>
                  <a:schemeClr val="tx1"/>
                </a:solidFill>
              </a:rPr>
              <a:t>conf</a:t>
            </a:r>
            <a:r>
              <a:rPr lang="pt-BR" sz="1600" b="1" dirty="0">
                <a:solidFill>
                  <a:schemeClr val="tx1"/>
                </a:solidFill>
              </a:rPr>
              <a:t> </a:t>
            </a:r>
            <a:r>
              <a:rPr lang="pt-BR" sz="1600" b="1" dirty="0" err="1">
                <a:solidFill>
                  <a:schemeClr val="tx1"/>
                </a:solidFill>
              </a:rPr>
              <a:t>t</a:t>
            </a:r>
            <a:endParaRPr lang="pt-BR" sz="1600" b="1" dirty="0">
              <a:solidFill>
                <a:schemeClr val="tx1"/>
              </a:solidFill>
            </a:endParaRPr>
          </a:p>
          <a:p>
            <a:r>
              <a:rPr lang="pt-BR" sz="1600" dirty="0" err="1">
                <a:solidFill>
                  <a:schemeClr val="tx1"/>
                </a:solidFill>
              </a:rPr>
              <a:t>Enter</a:t>
            </a:r>
            <a:r>
              <a:rPr lang="pt-BR" sz="1600" dirty="0">
                <a:solidFill>
                  <a:schemeClr val="tx1"/>
                </a:solidFill>
              </a:rPr>
              <a:t> </a:t>
            </a:r>
            <a:r>
              <a:rPr lang="pt-BR" sz="1600" dirty="0" err="1">
                <a:solidFill>
                  <a:schemeClr val="tx1"/>
                </a:solidFill>
              </a:rPr>
              <a:t>configuration</a:t>
            </a:r>
            <a:r>
              <a:rPr lang="pt-BR" sz="1600" dirty="0">
                <a:solidFill>
                  <a:schemeClr val="tx1"/>
                </a:solidFill>
              </a:rPr>
              <a:t> </a:t>
            </a:r>
            <a:r>
              <a:rPr lang="pt-BR" sz="1600" dirty="0" err="1">
                <a:solidFill>
                  <a:schemeClr val="tx1"/>
                </a:solidFill>
              </a:rPr>
              <a:t>commands</a:t>
            </a:r>
            <a:r>
              <a:rPr lang="pt-BR" sz="1600" dirty="0">
                <a:solidFill>
                  <a:schemeClr val="tx1"/>
                </a:solidFill>
              </a:rPr>
              <a:t>, </a:t>
            </a:r>
            <a:r>
              <a:rPr lang="pt-BR" sz="1600" dirty="0" err="1">
                <a:solidFill>
                  <a:schemeClr val="tx1"/>
                </a:solidFill>
              </a:rPr>
              <a:t>one</a:t>
            </a:r>
            <a:r>
              <a:rPr lang="pt-BR" sz="1600" dirty="0">
                <a:solidFill>
                  <a:schemeClr val="tx1"/>
                </a:solidFill>
              </a:rPr>
              <a:t> per </a:t>
            </a:r>
            <a:r>
              <a:rPr lang="pt-BR" sz="1600" dirty="0" err="1">
                <a:solidFill>
                  <a:schemeClr val="tx1"/>
                </a:solidFill>
              </a:rPr>
              <a:t>line</a:t>
            </a:r>
            <a:r>
              <a:rPr lang="pt-BR" sz="1600" dirty="0">
                <a:solidFill>
                  <a:schemeClr val="tx1"/>
                </a:solidFill>
              </a:rPr>
              <a:t>.  </a:t>
            </a:r>
            <a:r>
              <a:rPr lang="pt-BR" sz="1600" dirty="0" err="1">
                <a:solidFill>
                  <a:schemeClr val="tx1"/>
                </a:solidFill>
              </a:rPr>
              <a:t>End</a:t>
            </a:r>
            <a:r>
              <a:rPr lang="pt-BR" sz="1600" dirty="0">
                <a:solidFill>
                  <a:schemeClr val="tx1"/>
                </a:solidFill>
              </a:rPr>
              <a:t> </a:t>
            </a:r>
            <a:r>
              <a:rPr lang="pt-BR" sz="1600" dirty="0" err="1">
                <a:solidFill>
                  <a:schemeClr val="tx1"/>
                </a:solidFill>
              </a:rPr>
              <a:t>with</a:t>
            </a:r>
            <a:r>
              <a:rPr lang="pt-BR" sz="1600" dirty="0">
                <a:solidFill>
                  <a:schemeClr val="tx1"/>
                </a:solidFill>
              </a:rPr>
              <a:t> CNTL/</a:t>
            </a:r>
            <a:r>
              <a:rPr lang="pt-BR" sz="1600" dirty="0" err="1">
                <a:solidFill>
                  <a:schemeClr val="tx1"/>
                </a:solidFill>
              </a:rPr>
              <a:t>Z</a:t>
            </a:r>
            <a:r>
              <a:rPr lang="pt-BR" sz="1600" dirty="0">
                <a:solidFill>
                  <a:schemeClr val="tx1"/>
                </a:solidFill>
              </a:rPr>
              <a:t>.</a:t>
            </a:r>
          </a:p>
          <a:p>
            <a:r>
              <a:rPr lang="pt-BR" sz="1600" dirty="0">
                <a:solidFill>
                  <a:schemeClr val="tx1"/>
                </a:solidFill>
              </a:rPr>
              <a:t>R1(</a:t>
            </a:r>
            <a:r>
              <a:rPr lang="pt-BR" sz="1600" dirty="0" err="1">
                <a:solidFill>
                  <a:schemeClr val="tx1"/>
                </a:solidFill>
              </a:rPr>
              <a:t>config</a:t>
            </a:r>
            <a:r>
              <a:rPr lang="pt-BR" sz="1600" dirty="0">
                <a:solidFill>
                  <a:schemeClr val="tx1"/>
                </a:solidFill>
              </a:rPr>
              <a:t>)# </a:t>
            </a:r>
            <a:r>
              <a:rPr lang="pt-BR" sz="1600" b="1" dirty="0" err="1">
                <a:solidFill>
                  <a:schemeClr val="tx1"/>
                </a:solidFill>
              </a:rPr>
              <a:t>ip</a:t>
            </a:r>
            <a:r>
              <a:rPr lang="pt-BR" sz="1600" b="1" dirty="0">
                <a:solidFill>
                  <a:schemeClr val="tx1"/>
                </a:solidFill>
              </a:rPr>
              <a:t> </a:t>
            </a:r>
            <a:r>
              <a:rPr lang="pt-BR" sz="1600" b="1" dirty="0" err="1">
                <a:solidFill>
                  <a:schemeClr val="tx1"/>
                </a:solidFill>
              </a:rPr>
              <a:t>ssh</a:t>
            </a:r>
            <a:r>
              <a:rPr lang="pt-BR" sz="1600" b="1" dirty="0">
                <a:solidFill>
                  <a:schemeClr val="tx1"/>
                </a:solidFill>
              </a:rPr>
              <a:t> </a:t>
            </a:r>
            <a:r>
              <a:rPr lang="pt-BR" sz="1600" b="1" dirty="0" err="1">
                <a:solidFill>
                  <a:schemeClr val="tx1"/>
                </a:solidFill>
              </a:rPr>
              <a:t>version</a:t>
            </a:r>
            <a:r>
              <a:rPr lang="pt-BR" sz="1600" b="1" dirty="0">
                <a:solidFill>
                  <a:schemeClr val="tx1"/>
                </a:solidFill>
              </a:rPr>
              <a:t> 2</a:t>
            </a:r>
          </a:p>
          <a:p>
            <a:r>
              <a:rPr lang="pt-BR" sz="1600" dirty="0">
                <a:solidFill>
                  <a:schemeClr val="tx1"/>
                </a:solidFill>
              </a:rPr>
              <a:t>R1(</a:t>
            </a:r>
            <a:r>
              <a:rPr lang="pt-BR" sz="1600" dirty="0" err="1">
                <a:solidFill>
                  <a:schemeClr val="tx1"/>
                </a:solidFill>
              </a:rPr>
              <a:t>config</a:t>
            </a:r>
            <a:r>
              <a:rPr lang="pt-BR" sz="1600" dirty="0">
                <a:solidFill>
                  <a:schemeClr val="tx1"/>
                </a:solidFill>
              </a:rPr>
              <a:t>)# </a:t>
            </a:r>
            <a:r>
              <a:rPr lang="pt-BR" sz="1600" b="1" dirty="0" err="1">
                <a:solidFill>
                  <a:schemeClr val="tx1"/>
                </a:solidFill>
              </a:rPr>
              <a:t>ip</a:t>
            </a:r>
            <a:r>
              <a:rPr lang="pt-BR" sz="1600" b="1" dirty="0">
                <a:solidFill>
                  <a:schemeClr val="tx1"/>
                </a:solidFill>
              </a:rPr>
              <a:t> </a:t>
            </a:r>
            <a:r>
              <a:rPr lang="pt-BR" sz="1600" b="1" dirty="0" err="1">
                <a:solidFill>
                  <a:schemeClr val="tx1"/>
                </a:solidFill>
              </a:rPr>
              <a:t>ssh</a:t>
            </a:r>
            <a:r>
              <a:rPr lang="pt-BR" sz="1600" b="1" dirty="0">
                <a:solidFill>
                  <a:schemeClr val="tx1"/>
                </a:solidFill>
              </a:rPr>
              <a:t> </a:t>
            </a:r>
            <a:r>
              <a:rPr lang="pt-BR" sz="1600" b="1" dirty="0" err="1">
                <a:solidFill>
                  <a:schemeClr val="tx1"/>
                </a:solidFill>
              </a:rPr>
              <a:t>authentication-retries</a:t>
            </a:r>
            <a:r>
              <a:rPr lang="pt-BR" sz="1600" b="1" dirty="0">
                <a:solidFill>
                  <a:schemeClr val="tx1"/>
                </a:solidFill>
              </a:rPr>
              <a:t> 2</a:t>
            </a:r>
          </a:p>
          <a:p>
            <a:r>
              <a:rPr lang="pt-BR" sz="1600" dirty="0">
                <a:solidFill>
                  <a:schemeClr val="tx1"/>
                </a:solidFill>
              </a:rPr>
              <a:t>R1(</a:t>
            </a:r>
            <a:r>
              <a:rPr lang="pt-BR" sz="1600" dirty="0" err="1">
                <a:solidFill>
                  <a:schemeClr val="tx1"/>
                </a:solidFill>
              </a:rPr>
              <a:t>config</a:t>
            </a:r>
            <a:r>
              <a:rPr lang="pt-BR" sz="1600" dirty="0">
                <a:solidFill>
                  <a:schemeClr val="tx1"/>
                </a:solidFill>
              </a:rPr>
              <a:t>)# </a:t>
            </a:r>
            <a:r>
              <a:rPr lang="pt-BR" sz="1600" b="1" dirty="0" err="1">
                <a:solidFill>
                  <a:schemeClr val="tx1"/>
                </a:solidFill>
              </a:rPr>
              <a:t>ip</a:t>
            </a:r>
            <a:r>
              <a:rPr lang="pt-BR" sz="1600" b="1" dirty="0">
                <a:solidFill>
                  <a:schemeClr val="tx1"/>
                </a:solidFill>
              </a:rPr>
              <a:t> </a:t>
            </a:r>
            <a:r>
              <a:rPr lang="pt-BR" sz="1600" b="1" dirty="0" err="1">
                <a:solidFill>
                  <a:schemeClr val="tx1"/>
                </a:solidFill>
              </a:rPr>
              <a:t>ssh</a:t>
            </a:r>
            <a:r>
              <a:rPr lang="pt-BR" sz="1600" b="1" dirty="0">
                <a:solidFill>
                  <a:schemeClr val="tx1"/>
                </a:solidFill>
              </a:rPr>
              <a:t> </a:t>
            </a:r>
            <a:r>
              <a:rPr lang="pt-BR" sz="1600" b="1" dirty="0" err="1">
                <a:solidFill>
                  <a:schemeClr val="tx1"/>
                </a:solidFill>
              </a:rPr>
              <a:t>time-out</a:t>
            </a:r>
            <a:r>
              <a:rPr lang="pt-BR" sz="1600" b="1" dirty="0">
                <a:solidFill>
                  <a:schemeClr val="tx1"/>
                </a:solidFill>
              </a:rPr>
              <a:t> 60</a:t>
            </a:r>
          </a:p>
          <a:p>
            <a:r>
              <a:rPr lang="pt-BR" sz="1600" dirty="0">
                <a:solidFill>
                  <a:schemeClr val="tx1"/>
                </a:solidFill>
              </a:rPr>
              <a:t>R1#</a:t>
            </a:r>
          </a:p>
          <a:p>
            <a:r>
              <a:rPr lang="pt-BR" sz="1600" dirty="0">
                <a:solidFill>
                  <a:schemeClr val="tx1"/>
                </a:solidFill>
              </a:rPr>
              <a:t>R1# </a:t>
            </a:r>
            <a:r>
              <a:rPr lang="pt-BR" sz="1600" b="1" dirty="0">
                <a:solidFill>
                  <a:schemeClr val="tx1"/>
                </a:solidFill>
              </a:rPr>
              <a:t>show </a:t>
            </a:r>
            <a:r>
              <a:rPr lang="pt-BR" sz="1600" b="1" dirty="0" err="1">
                <a:solidFill>
                  <a:schemeClr val="tx1"/>
                </a:solidFill>
              </a:rPr>
              <a:t>ip</a:t>
            </a:r>
            <a:r>
              <a:rPr lang="pt-BR" sz="1600" b="1" dirty="0">
                <a:solidFill>
                  <a:schemeClr val="tx1"/>
                </a:solidFill>
              </a:rPr>
              <a:t> </a:t>
            </a:r>
            <a:r>
              <a:rPr lang="pt-BR" sz="1600" b="1" dirty="0" err="1">
                <a:solidFill>
                  <a:schemeClr val="tx1"/>
                </a:solidFill>
              </a:rPr>
              <a:t>ssh</a:t>
            </a:r>
            <a:endParaRPr lang="pt-BR" sz="1600" b="1" dirty="0">
              <a:solidFill>
                <a:schemeClr val="tx1"/>
              </a:solidFill>
            </a:endParaRPr>
          </a:p>
          <a:p>
            <a:r>
              <a:rPr lang="pt-BR" sz="1600" dirty="0">
                <a:solidFill>
                  <a:schemeClr val="tx1"/>
                </a:solidFill>
              </a:rPr>
              <a:t>SSH </a:t>
            </a:r>
            <a:r>
              <a:rPr lang="pt-BR" sz="1600" dirty="0" err="1">
                <a:solidFill>
                  <a:schemeClr val="tx1"/>
                </a:solidFill>
              </a:rPr>
              <a:t>Enabled</a:t>
            </a:r>
            <a:r>
              <a:rPr lang="pt-BR" sz="1600" dirty="0">
                <a:solidFill>
                  <a:schemeClr val="tx1"/>
                </a:solidFill>
              </a:rPr>
              <a:t> - </a:t>
            </a:r>
            <a:r>
              <a:rPr lang="pt-BR" sz="1600" dirty="0" err="1">
                <a:solidFill>
                  <a:schemeClr val="tx1"/>
                </a:solidFill>
              </a:rPr>
              <a:t>version</a:t>
            </a:r>
            <a:r>
              <a:rPr lang="pt-BR" sz="1600" dirty="0">
                <a:solidFill>
                  <a:schemeClr val="tx1"/>
                </a:solidFill>
              </a:rPr>
              <a:t> 2.0</a:t>
            </a:r>
          </a:p>
          <a:p>
            <a:r>
              <a:rPr lang="pt-BR" sz="1600" dirty="0" err="1">
                <a:solidFill>
                  <a:schemeClr val="tx1"/>
                </a:solidFill>
              </a:rPr>
              <a:t>Authentication</a:t>
            </a:r>
            <a:r>
              <a:rPr lang="pt-BR" sz="1600" dirty="0">
                <a:solidFill>
                  <a:schemeClr val="tx1"/>
                </a:solidFill>
              </a:rPr>
              <a:t> timeout: 60 </a:t>
            </a:r>
            <a:r>
              <a:rPr lang="pt-BR" sz="1600" dirty="0" err="1">
                <a:solidFill>
                  <a:schemeClr val="tx1"/>
                </a:solidFill>
              </a:rPr>
              <a:t>secs</a:t>
            </a:r>
            <a:r>
              <a:rPr lang="pt-BR" sz="1600" dirty="0">
                <a:solidFill>
                  <a:schemeClr val="tx1"/>
                </a:solidFill>
              </a:rPr>
              <a:t>; </a:t>
            </a:r>
            <a:r>
              <a:rPr lang="pt-BR" sz="1600" dirty="0" err="1">
                <a:solidFill>
                  <a:schemeClr val="tx1"/>
                </a:solidFill>
              </a:rPr>
              <a:t>Authentication</a:t>
            </a:r>
            <a:r>
              <a:rPr lang="pt-BR" sz="1600" dirty="0">
                <a:solidFill>
                  <a:schemeClr val="tx1"/>
                </a:solidFill>
              </a:rPr>
              <a:t> </a:t>
            </a:r>
            <a:r>
              <a:rPr lang="pt-BR" sz="1600" dirty="0" err="1">
                <a:solidFill>
                  <a:schemeClr val="tx1"/>
                </a:solidFill>
              </a:rPr>
              <a:t>retries</a:t>
            </a:r>
            <a:r>
              <a:rPr lang="pt-BR" sz="1600" dirty="0">
                <a:solidFill>
                  <a:schemeClr val="tx1"/>
                </a:solidFill>
              </a:rPr>
              <a:t>: 2</a:t>
            </a:r>
          </a:p>
          <a:p>
            <a:r>
              <a:rPr lang="pt-BR" sz="1600" dirty="0">
                <a:solidFill>
                  <a:schemeClr val="tx1"/>
                </a:solidFill>
              </a:rPr>
              <a:t>R1#</a:t>
            </a:r>
          </a:p>
        </p:txBody>
      </p:sp>
      <p:sp>
        <p:nvSpPr>
          <p:cNvPr id="2" name="TextBox 1"/>
          <p:cNvSpPr txBox="1"/>
          <p:nvPr/>
        </p:nvSpPr>
        <p:spPr>
          <a:xfrm>
            <a:off x="8255431" y="3119601"/>
            <a:ext cx="3936569" cy="1200329"/>
          </a:xfrm>
          <a:prstGeom prst="rect">
            <a:avLst/>
          </a:prstGeom>
          <a:noFill/>
        </p:spPr>
        <p:txBody>
          <a:bodyPr wrap="square" rtlCol="0">
            <a:spAutoFit/>
          </a:bodyPr>
          <a:lstStyle/>
          <a:p>
            <a:r>
              <a:rPr lang="en-SG" dirty="0"/>
              <a:t>SSHv2 has better encryption ciphers like 3DES and AES. They also support public key certificates.</a:t>
            </a:r>
          </a:p>
          <a:p>
            <a:endParaRPr lang="en-SG" dirty="0"/>
          </a:p>
        </p:txBody>
      </p:sp>
      <p:cxnSp>
        <p:nvCxnSpPr>
          <p:cNvPr id="6" name="Straight Arrow Connector 5"/>
          <p:cNvCxnSpPr/>
          <p:nvPr/>
        </p:nvCxnSpPr>
        <p:spPr>
          <a:xfrm flipV="1">
            <a:off x="4788976" y="3533614"/>
            <a:ext cx="3466455" cy="325746"/>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9" name="Straight Arrow Connector 8"/>
          <p:cNvCxnSpPr/>
          <p:nvPr/>
        </p:nvCxnSpPr>
        <p:spPr>
          <a:xfrm>
            <a:off x="5600054" y="4319930"/>
            <a:ext cx="2970509" cy="414013"/>
          </a:xfrm>
          <a:prstGeom prst="straightConnector1">
            <a:avLst/>
          </a:prstGeom>
          <a:ln w="38100">
            <a:solidFill>
              <a:srgbClr val="0070C0"/>
            </a:solidFill>
            <a:tailEnd type="triangle"/>
          </a:ln>
        </p:spPr>
        <p:style>
          <a:lnRef idx="3">
            <a:schemeClr val="accent2"/>
          </a:lnRef>
          <a:fillRef idx="0">
            <a:schemeClr val="accent2"/>
          </a:fillRef>
          <a:effectRef idx="2">
            <a:schemeClr val="accent2"/>
          </a:effectRef>
          <a:fontRef idx="minor">
            <a:schemeClr val="tx1"/>
          </a:fontRef>
        </p:style>
      </p:cxnSp>
      <p:sp>
        <p:nvSpPr>
          <p:cNvPr id="12" name="TextBox 11"/>
          <p:cNvSpPr txBox="1"/>
          <p:nvPr/>
        </p:nvSpPr>
        <p:spPr>
          <a:xfrm>
            <a:off x="8255430" y="4733943"/>
            <a:ext cx="3936569" cy="1200329"/>
          </a:xfrm>
          <a:prstGeom prst="rect">
            <a:avLst/>
          </a:prstGeom>
          <a:noFill/>
        </p:spPr>
        <p:txBody>
          <a:bodyPr wrap="square" rtlCol="0">
            <a:spAutoFit/>
          </a:bodyPr>
          <a:lstStyle/>
          <a:p>
            <a:r>
              <a:rPr lang="en-SG" dirty="0"/>
              <a:t>After 2 wrong username/password tries, the equipment will time out all login sessions for 60 sec.</a:t>
            </a:r>
          </a:p>
          <a:p>
            <a:endParaRPr lang="en-SG" dirty="0"/>
          </a:p>
        </p:txBody>
      </p:sp>
    </p:spTree>
    <p:extLst>
      <p:ext uri="{BB962C8B-B14F-4D97-AF65-F5344CB8AC3E}">
        <p14:creationId xmlns:p14="http://schemas.microsoft.com/office/powerpoint/2010/main" val="846663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SG"/>
              <a:t>THE END</a:t>
            </a:r>
          </a:p>
        </p:txBody>
      </p:sp>
      <p:sp>
        <p:nvSpPr>
          <p:cNvPr id="4" name="Subtitle 3"/>
          <p:cNvSpPr>
            <a:spLocks noGrp="1"/>
          </p:cNvSpPr>
          <p:nvPr>
            <p:ph type="subTitle" idx="1"/>
          </p:nvPr>
        </p:nvSpPr>
        <p:spPr/>
        <p:txBody>
          <a:bodyPr/>
          <a:lstStyle/>
          <a:p>
            <a:endParaRPr lang="en-SG"/>
          </a:p>
        </p:txBody>
      </p:sp>
    </p:spTree>
    <p:extLst>
      <p:ext uri="{BB962C8B-B14F-4D97-AF65-F5344CB8AC3E}">
        <p14:creationId xmlns:p14="http://schemas.microsoft.com/office/powerpoint/2010/main" val="707076636"/>
      </p:ext>
    </p:extLst>
  </p:cSld>
  <p:clrMapOvr>
    <a:masterClrMapping/>
  </p:clrMapOvr>
</p:sld>
</file>

<file path=ppt/theme/theme1.xml><?xml version="1.0" encoding="utf-8"?>
<a:theme xmlns:a="http://schemas.openxmlformats.org/drawingml/2006/main" name="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 id="{C1C5D1BB-B8B3-449E-ABE3-BD1ADC446175}" vid="{8783730B-F0DD-45C7-9301-B01A4242EB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Template>
  <TotalTime>1509</TotalTime>
  <Words>2686</Words>
  <Application>Microsoft Office PowerPoint</Application>
  <PresentationFormat>Widescreen</PresentationFormat>
  <Paragraphs>348</Paragraphs>
  <Slides>34</Slides>
  <Notes>11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34</vt:i4>
      </vt:variant>
    </vt:vector>
  </HeadingPairs>
  <TitlesOfParts>
    <vt:vector size="45" baseType="lpstr">
      <vt:lpstr>Arial Unicode MS</vt:lpstr>
      <vt:lpstr>ＭＳ Ｐゴシック</vt:lpstr>
      <vt:lpstr>宋体</vt:lpstr>
      <vt:lpstr>宋体</vt:lpstr>
      <vt:lpstr>Arial</vt:lpstr>
      <vt:lpstr>Calibri</vt:lpstr>
      <vt:lpstr>Calibri Light</vt:lpstr>
      <vt:lpstr>Courier New</vt:lpstr>
      <vt:lpstr>Gill Sans MT</vt:lpstr>
      <vt:lpstr>Wingdings</vt:lpstr>
      <vt:lpstr>Theme</vt:lpstr>
      <vt:lpstr>Network Monitoring Tools and Basic Security</vt:lpstr>
      <vt:lpstr>Learning Outcomes</vt:lpstr>
      <vt:lpstr>Why Monitor Network Devices?</vt:lpstr>
      <vt:lpstr>Syslog Service  </vt:lpstr>
      <vt:lpstr>Syslog System Message Format</vt:lpstr>
      <vt:lpstr>System Message Severity Levels</vt:lpstr>
      <vt:lpstr>Configuring and Verifying Syslog Client</vt:lpstr>
      <vt:lpstr>Timestamping using NTP</vt:lpstr>
      <vt:lpstr>Network Time Protocol (NTP)</vt:lpstr>
      <vt:lpstr>NTP Security</vt:lpstr>
      <vt:lpstr>Configuring NTP</vt:lpstr>
      <vt:lpstr>Securing NTP</vt:lpstr>
      <vt:lpstr>Securing NTP Continued…</vt:lpstr>
      <vt:lpstr>Authentication, Authorization, Accounting</vt:lpstr>
      <vt:lpstr>AAA security</vt:lpstr>
      <vt:lpstr>AAA Authentication – Line Passwords</vt:lpstr>
      <vt:lpstr>AAA Authentication: Line &amp; Enable pwds</vt:lpstr>
      <vt:lpstr>AAA Authentication- Self-Contained/Local</vt:lpstr>
      <vt:lpstr>Server-Based AAA Authentication</vt:lpstr>
      <vt:lpstr>Configuring AAA</vt:lpstr>
      <vt:lpstr>AAA Examples (local default)</vt:lpstr>
      <vt:lpstr>AAA Example (local named-list)</vt:lpstr>
      <vt:lpstr>Server-Based AAA Authentication</vt:lpstr>
      <vt:lpstr>AAA Configuration Commands </vt:lpstr>
      <vt:lpstr>Configuring the AAA Server Parameters</vt:lpstr>
      <vt:lpstr>Define Method Lists</vt:lpstr>
      <vt:lpstr>AAA Authentication Commands </vt:lpstr>
      <vt:lpstr>Configuring the AAA Server</vt:lpstr>
      <vt:lpstr>Other statements</vt:lpstr>
      <vt:lpstr>Secure Shell (SSH)</vt:lpstr>
      <vt:lpstr>SSH Authentication and Encryption</vt:lpstr>
      <vt:lpstr>Configuring SSH</vt:lpstr>
      <vt:lpstr>Optional SSH Commands</vt:lpstr>
      <vt:lpstr>THE END</vt:lpstr>
    </vt:vector>
  </TitlesOfParts>
  <Company>Nanyang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Monitoring Tools and Basic Security</dc:title>
  <dc:creator>ARTHI CHANDRASEKARAN</dc:creator>
  <cp:lastModifiedBy>ARTHI CHANDRASEKARAN</cp:lastModifiedBy>
  <cp:revision>111</cp:revision>
  <dcterms:created xsi:type="dcterms:W3CDTF">2017-07-27T03:22:29Z</dcterms:created>
  <dcterms:modified xsi:type="dcterms:W3CDTF">2018-10-24T03:31:44Z</dcterms:modified>
</cp:coreProperties>
</file>